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主工作台｜正常作业
normal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CAM0离线｜暂停新入场
offline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结果待核对｜禁止重复供包
unknown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WCS拒绝｜错波次
rejected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无码｜受控重扫
noread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 多码｜不自动选码
multi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 存储失败｜停止新入场
storage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 拆包模式未批准
splitBlocked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 拆包候选｜保留件计数
split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少货确认｜保留原箱
shortage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作业记录｜查询导出
records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记录详情｜作业与尝试
recordDetail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设备与连接｜只读
settings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操作员登录
login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重启恢复核对
recovering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组件与视觉规范
components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等待扫箱
waiting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报警与处置
alarms
原生文本、形状和SVG图标可编辑；像素基线以同版HTML和PNG为准。字体替代可能改变文本宽度。无真实设备或WCS连接；D-03/04/05/06待确认。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image" Target="../media/image-8-25.png"/><Relationship Id="rId26" Type="http://schemas.openxmlformats.org/officeDocument/2006/relationships/image" Target="../media/image-8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sv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sv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sv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sv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sv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sv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sv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sv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sv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sv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sv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sv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sv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sv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sv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sv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sv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sv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sv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sv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sv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sv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sv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svg"/><Relationship Id="rId33" Type="http://schemas.openxmlformats.org/officeDocument/2006/relationships/image" Target="../media/image-15-33.png"/><Relationship Id="rId34" Type="http://schemas.openxmlformats.org/officeDocument/2006/relationships/image" Target="../media/image-15-34.svg"/><Relationship Id="rId35" Type="http://schemas.openxmlformats.org/officeDocument/2006/relationships/image" Target="../media/image-15-35.png"/><Relationship Id="rId36" Type="http://schemas.openxmlformats.org/officeDocument/2006/relationships/image" Target="../media/image-15-36.svg"/><Relationship Id="rId37" Type="http://schemas.openxmlformats.org/officeDocument/2006/relationships/image" Target="../media/image-15-37.png"/><Relationship Id="rId38" Type="http://schemas.openxmlformats.org/officeDocument/2006/relationships/image" Target="../media/image-15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sv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sv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sv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sv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svg"/><Relationship Id="rId29" Type="http://schemas.openxmlformats.org/officeDocument/2006/relationships/image" Target="../media/image-16-29.png"/><Relationship Id="rId30" Type="http://schemas.openxmlformats.org/officeDocument/2006/relationships/image" Target="../media/image-16-30.svg"/><Relationship Id="rId31" Type="http://schemas.openxmlformats.org/officeDocument/2006/relationships/image" Target="../media/image-16-31.png"/><Relationship Id="rId32" Type="http://schemas.openxmlformats.org/officeDocument/2006/relationships/image" Target="../media/image-16-32.svg"/><Relationship Id="rId33" Type="http://schemas.openxmlformats.org/officeDocument/2006/relationships/image" Target="../media/image-16-33.png"/><Relationship Id="rId34" Type="http://schemas.openxmlformats.org/officeDocument/2006/relationships/image" Target="../media/image-16-34.svg"/><Relationship Id="rId35" Type="http://schemas.openxmlformats.org/officeDocument/2006/relationships/image" Target="../media/image-16-35.png"/><Relationship Id="rId36" Type="http://schemas.openxmlformats.org/officeDocument/2006/relationships/image" Target="../media/image-16-36.svg"/><Relationship Id="rId37" Type="http://schemas.openxmlformats.org/officeDocument/2006/relationships/image" Target="../media/image-16-37.png"/><Relationship Id="rId38" Type="http://schemas.openxmlformats.org/officeDocument/2006/relationships/image" Target="../media/image-16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sv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sv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sv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sv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sv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sv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svg"/><Relationship Id="rId23" Type="http://schemas.openxmlformats.org/officeDocument/2006/relationships/image" Target="../media/image-18-23.png"/><Relationship Id="rId24" Type="http://schemas.openxmlformats.org/officeDocument/2006/relationships/image" Target="../media/image-18-24.svg"/><Relationship Id="rId25" Type="http://schemas.openxmlformats.org/officeDocument/2006/relationships/image" Target="../media/image-18-25.png"/><Relationship Id="rId26" Type="http://schemas.openxmlformats.org/officeDocument/2006/relationships/image" Target="../media/image-18-26.svg"/><Relationship Id="rId27" Type="http://schemas.openxmlformats.org/officeDocument/2006/relationships/image" Target="../media/image-18-27.png"/><Relationship Id="rId28" Type="http://schemas.openxmlformats.org/officeDocument/2006/relationships/image" Target="../media/image-18-28.svg"/><Relationship Id="rId29" Type="http://schemas.openxmlformats.org/officeDocument/2006/relationships/image" Target="../media/image-18-29.png"/><Relationship Id="rId30" Type="http://schemas.openxmlformats.org/officeDocument/2006/relationships/image" Target="../media/image-18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作业进行中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590824" y="2252472"/>
            <a:ext cx="25882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按通道提示处理Item；右通道需人工确认。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待人工发车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请核对当前Item、数量及允许动作条件。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1824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本次供给12件 · 目标格口031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93919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不足量人工分支为评审候选（D-03）。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18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516350" y="7262813"/>
            <a:ext cx="190500" cy="190500"/>
          </a:xfrm>
          <a:prstGeom prst="rect">
            <a:avLst/>
          </a:prstGeom>
        </p:spPr>
      </p:pic>
      <p:sp>
        <p:nvSpPr>
          <p:cNvPr id="188" name="Text 172"/>
          <p:cNvSpPr/>
          <p:nvPr/>
        </p:nvSpPr>
        <p:spPr>
          <a:xfrm>
            <a:off x="16783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89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6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8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9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0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1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2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3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4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5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6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7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8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9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0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1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2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3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4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5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6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7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8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9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20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2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4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6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0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8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Text 212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30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1" name="Shape 214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2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3" name="Text 216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4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6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8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40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2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4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Text 228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6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7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8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9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50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1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2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3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4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5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6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7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8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9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0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4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正常作业 · 人工确认</a:t>
            </a:r>
            <a:endParaRPr lang="en-US" sz="900" dirty="0"/>
          </a:p>
        </p:txBody>
      </p:sp>
      <p:sp>
        <p:nvSpPr>
          <p:cNvPr id="265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6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0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1" name="Shape 254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2" name="Shape 255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6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Shape 258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6" name="Text 259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7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2768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59468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1968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8668" y="204597"/>
            <a:ext cx="5759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 · 1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5320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连接中断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53010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67297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208850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60300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87922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02210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36589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4229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10899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071503" y="757047"/>
            <a:ext cx="20054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旧状态已失效 · 最后确认 14:31:12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235219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5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CAM0连接中断 · 整台暂停新入场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3144292" y="2252472"/>
            <a:ext cx="29882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请勿继续放货；恢复前核对当前Item与设备状态。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7040076" y="2245328"/>
            <a:ext cx="9035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单侧降级待确认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8048476" y="2885885"/>
            <a:ext cx="8368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设备状态未就绪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相机未就绪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836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最后业务结果保留，但不能视为当前设备就绪。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4" name="Text 72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6" name="Shape 74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5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88" name="Shape 76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2" name="Text 79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3" name="Text 80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4" name="Text 81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98" name="Text 85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99" name="Text 86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0" name="Shape 87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1" name="Shape 88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2" name="Shape 89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Text 93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7" name="Text 94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08" name="Text 95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09" name="Shape 96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0" name="Text 97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1" name="Text 98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2" name="Text 99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3" name="Shape 100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4" name="Text 101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5" name="Text 102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6" name="Text 103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7" name="Shape 104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18" name="Shape 105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9" name="Text 106"/>
          <p:cNvSpPr/>
          <p:nvPr/>
        </p:nvSpPr>
        <p:spPr>
          <a:xfrm>
            <a:off x="428625" y="7179725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设备未就绪</a:t>
            </a:r>
            <a:endParaRPr lang="en-US" sz="1050" dirty="0"/>
          </a:p>
        </p:txBody>
      </p:sp>
      <p:sp>
        <p:nvSpPr>
          <p:cNvPr id="120" name="Text 107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不开放新入场；单侧降级尚未批准。</a:t>
            </a:r>
            <a:endParaRPr lang="en-US" sz="900" dirty="0"/>
          </a:p>
        </p:txBody>
      </p:sp>
      <p:sp>
        <p:nvSpPr>
          <p:cNvPr id="121" name="Shape 108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09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3" name="Shape 110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Text 113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查看连接诊断</a:t>
            </a:r>
            <a:endParaRPr lang="en-US" sz="1275" dirty="0"/>
          </a:p>
        </p:txBody>
      </p:sp>
      <p:sp>
        <p:nvSpPr>
          <p:cNvPr id="127" name="Shape 114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15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9" name="Shape 116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4" name="Text 121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5" name="Text 122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6" name="Text 123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7" name="Shape 124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38" name="Shape 125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0" name="Text 126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待人工发车</a:t>
            </a:r>
            <a:endParaRPr lang="en-US" sz="2175" dirty="0"/>
          </a:p>
        </p:txBody>
      </p:sp>
      <p:sp>
        <p:nvSpPr>
          <p:cNvPr id="141" name="Text 127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请核对当前Item、数量及允许动作条件。</a:t>
            </a:r>
            <a:endParaRPr lang="en-US" sz="1050" dirty="0"/>
          </a:p>
        </p:txBody>
      </p:sp>
      <p:sp>
        <p:nvSpPr>
          <p:cNvPr id="142" name="Text 128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3" name="Text 129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4" name="Text 130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5" name="Shape 131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32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7" name="Shape 133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1" name="Text 136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2" name="Text 137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3" name="Text 138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7" name="Text 142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58" name="Text 143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59" name="Shape 144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0" name="Shape 145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1" name="Shape 146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Text 150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6" name="Text 151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7" name="Text 152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68" name="Shape 153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9" name="Text 154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0" name="Text 155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1" name="Text 156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2" name="Shape 157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3" name="Text 158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4" name="Text 159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5" name="Text 160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6" name="Shape 161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7" name="Shape 162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8" name="Text 163"/>
          <p:cNvSpPr/>
          <p:nvPr/>
        </p:nvSpPr>
        <p:spPr>
          <a:xfrm>
            <a:off x="9439275" y="7179725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新入场已暂停</a:t>
            </a:r>
            <a:endParaRPr lang="en-US" sz="1050" dirty="0"/>
          </a:p>
        </p:txBody>
      </p:sp>
      <p:sp>
        <p:nvSpPr>
          <p:cNvPr id="179" name="Text 164"/>
          <p:cNvSpPr/>
          <p:nvPr/>
        </p:nvSpPr>
        <p:spPr>
          <a:xfrm>
            <a:off x="9439275" y="7383470"/>
            <a:ext cx="19798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请先解除阻塞，不覆盖当前业务结果。</a:t>
            </a:r>
            <a:endParaRPr lang="en-US" sz="900" dirty="0"/>
          </a:p>
        </p:txBody>
      </p:sp>
      <p:sp>
        <p:nvSpPr>
          <p:cNvPr id="180" name="Shape 165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0E7F0"/>
          </a:solidFill>
          <a:ln w="12700">
            <a:solidFill>
              <a:srgbClr val="E0E7F0">
                <a:alpha val="0"/>
              </a:srgbClr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8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516350" y="7262813"/>
            <a:ext cx="190500" cy="190500"/>
          </a:xfrm>
          <a:prstGeom prst="rect">
            <a:avLst/>
          </a:prstGeom>
        </p:spPr>
      </p:pic>
      <p:sp>
        <p:nvSpPr>
          <p:cNvPr id="186" name="Text 170"/>
          <p:cNvSpPr/>
          <p:nvPr/>
        </p:nvSpPr>
        <p:spPr>
          <a:xfrm>
            <a:off x="16783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181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87" name="Shape 171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72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9" name="Shape 173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0" name="Shape 174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6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Text 177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4" name="Text 178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6" name="Text 179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7" name="Shape 180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98" name="Shape 181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9" name="Text 182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0" name="Shape 183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1" name="Shape 184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2" name="Text 185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3" name="Shape 186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4" name="Shape 187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5" name="Text 188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6" name="Shape 189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7" name="Shape 190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8" name="Text 191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09" name="Shape 192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0" name="Shape 193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1" name="Text 194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2" name="Shape 195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3" name="Shape 196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4" name="Text 197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5" name="Shape 198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6" name="Shape 199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7" name="Text 200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18" name="Shape 201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19" name="Text 202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0" name="Shape 203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4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2" name="Shape 205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6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4" name="Shape 207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8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6" name="Shape 209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0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28" name="Shape 211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Shape 212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0" name="Shape 213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1" name="Text 214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2" name="Shape 215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3" name="Text 216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4" name="Shape 217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8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6" name="Shape 219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0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38" name="Shape 221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2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0" name="Shape 223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4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2" name="Shape 225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6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4" name="Shape 227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Shape 228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6" name="Shape 229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7" name="Text 230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48" name="Shape 231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9" name="Text 232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0" name="Text 233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1" name="Text 234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2" name="Text 235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3" name="Text 236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4" name="Shape 237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5" name="Text 238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6" name="Text 239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7" name="Shape 240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58" name="Shape 241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59" name="Shape 242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0" name="Shape 243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4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Text 245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CAM0离线 · 暂停入场</a:t>
            </a:r>
            <a:endParaRPr lang="en-US" sz="900" dirty="0"/>
          </a:p>
        </p:txBody>
      </p:sp>
      <p:sp>
        <p:nvSpPr>
          <p:cNvPr id="263" name="Shape 246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4" name="Shape 247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5" name="Shape 248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6" name="Shape 249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0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Text 251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69" name="Shape 252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0" name="Shape 253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1" name="Shape 254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2" name="Shape 255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6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Text 257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5" name="Text 258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2768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59468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1968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8668" y="204597"/>
            <a:ext cx="5759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 · 1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9345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结果待核对 · 请勿重复放货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2726680" y="2252472"/>
            <a:ext cx="298069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WCS可能已处理当前请求；本箱新入场暂不开放。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7040076" y="2245328"/>
            <a:ext cx="9035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不等于业务失败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结果待核对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98069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请求等待超时，WCS可能已处理；请勿重复放货。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禁止重复发车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只读核对；真实查询能力尚未确认。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7" name="Text 172"/>
          <p:cNvSpPr/>
          <p:nvPr/>
        </p:nvSpPr>
        <p:spPr>
          <a:xfrm>
            <a:off x="16568738" y="7241191"/>
            <a:ext cx="846201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查看待核对</a:t>
            </a:r>
            <a:endParaRPr lang="en-US" sz="1275" dirty="0"/>
          </a:p>
        </p:txBody>
      </p:sp>
      <p:sp>
        <p:nvSpPr>
          <p:cNvPr id="188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5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7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5 条</a:t>
            </a:r>
            <a:endParaRPr lang="en-US" sz="975" dirty="0"/>
          </a:p>
        </p:txBody>
      </p:sp>
      <p:sp>
        <p:nvSpPr>
          <p:cNvPr id="198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99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0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1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2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3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4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5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6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7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8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9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0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1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2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3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4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5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6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7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8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19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0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14:32:08</a:t>
            </a:r>
            <a:endParaRPr lang="en-US" sz="975" dirty="0"/>
          </a:p>
        </p:txBody>
      </p:sp>
      <p:sp>
        <p:nvSpPr>
          <p:cNvPr id="221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2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23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4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975" dirty="0"/>
          </a:p>
        </p:txBody>
      </p:sp>
      <p:sp>
        <p:nvSpPr>
          <p:cNvPr id="225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6" name="Text 210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031</a:t>
            </a:r>
            <a:endParaRPr lang="en-US" sz="975" dirty="0"/>
          </a:p>
        </p:txBody>
      </p:sp>
      <p:sp>
        <p:nvSpPr>
          <p:cNvPr id="227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8" name="Text 212"/>
          <p:cNvSpPr/>
          <p:nvPr/>
        </p:nvSpPr>
        <p:spPr>
          <a:xfrm>
            <a:off x="12600831" y="8808053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75" dirty="0"/>
          </a:p>
        </p:txBody>
      </p:sp>
      <p:sp>
        <p:nvSpPr>
          <p:cNvPr id="229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0" name="Shape 214"/>
          <p:cNvSpPr/>
          <p:nvPr/>
        </p:nvSpPr>
        <p:spPr>
          <a:xfrm>
            <a:off x="12942094" y="8774906"/>
            <a:ext cx="609749" cy="209550"/>
          </a:xfrm>
          <a:prstGeom prst="roundRect">
            <a:avLst>
              <a:gd name="adj" fmla="val 22727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231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232" name="Text 216"/>
          <p:cNvSpPr/>
          <p:nvPr/>
        </p:nvSpPr>
        <p:spPr>
          <a:xfrm>
            <a:off x="13142119" y="8798528"/>
            <a:ext cx="3796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待核对</a:t>
            </a:r>
            <a:endParaRPr lang="en-US" sz="900" dirty="0"/>
          </a:p>
        </p:txBody>
      </p:sp>
      <p:sp>
        <p:nvSpPr>
          <p:cNvPr id="233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4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5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6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37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8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39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0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1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2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3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4" name="Text 228"/>
          <p:cNvSpPr/>
          <p:nvPr/>
        </p:nvSpPr>
        <p:spPr>
          <a:xfrm>
            <a:off x="12526268" y="9236678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45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6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7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8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49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0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1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2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3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当前未决：1 项</a:t>
            </a:r>
            <a:endParaRPr lang="en-US" sz="825" dirty="0"/>
          </a:p>
        </p:txBody>
      </p:sp>
      <p:sp>
        <p:nvSpPr>
          <p:cNvPr id="254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5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6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7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8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59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0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 · 结果待核对</a:t>
            </a:r>
            <a:endParaRPr lang="en-US" sz="900" dirty="0"/>
          </a:p>
        </p:txBody>
      </p:sp>
      <p:sp>
        <p:nvSpPr>
          <p:cNvPr id="264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5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6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0" name="Shape 254"/>
          <p:cNvSpPr/>
          <p:nvPr/>
        </p:nvSpPr>
        <p:spPr>
          <a:xfrm>
            <a:off x="4731693" y="9925050"/>
            <a:ext cx="11240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1" name="Shape 255"/>
          <p:cNvSpPr/>
          <p:nvPr/>
        </p:nvSpPr>
        <p:spPr>
          <a:xfrm>
            <a:off x="4731693" y="9925050"/>
            <a:ext cx="11240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2" name="Shape 256"/>
          <p:cNvSpPr/>
          <p:nvPr/>
        </p:nvSpPr>
        <p:spPr>
          <a:xfrm>
            <a:off x="4731693" y="10220325"/>
            <a:ext cx="11240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8"/>
          <p:cNvSpPr/>
          <p:nvPr/>
        </p:nvSpPr>
        <p:spPr>
          <a:xfrm>
            <a:off x="58462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Text 259"/>
          <p:cNvSpPr/>
          <p:nvPr/>
        </p:nvSpPr>
        <p:spPr>
          <a:xfrm>
            <a:off x="4836468" y="9996297"/>
            <a:ext cx="9511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注入核对：已接受</a:t>
            </a:r>
            <a:endParaRPr lang="en-US" sz="900" dirty="0"/>
          </a:p>
        </p:txBody>
      </p:sp>
      <p:sp>
        <p:nvSpPr>
          <p:cNvPr id="276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2768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59468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1968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8668" y="204597"/>
            <a:ext cx="5759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 · 1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0637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CAM1业务拦截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855887" y="2252472"/>
            <a:ext cx="33883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按右通道原因处理当前Item；不得跳过校验或反复发车。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WCS已拒绝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非本波次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2840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18570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CNESP182301123401</a:t>
            </a:r>
            <a:endParaRPr lang="en-US" sz="900" dirty="0"/>
          </a:p>
        </p:txBody>
      </p:sp>
      <p:sp>
        <p:nvSpPr>
          <p:cNvPr id="161" name="Text 146"/>
          <p:cNvSpPr/>
          <p:nvPr/>
        </p:nvSpPr>
        <p:spPr>
          <a:xfrm>
            <a:off x="11539091" y="5657660"/>
            <a:ext cx="8368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与当前箱不一致</a:t>
            </a:r>
            <a:endParaRPr lang="en-US" sz="900" dirty="0"/>
          </a:p>
        </p:txBody>
      </p:sp>
      <p:sp>
        <p:nvSpPr>
          <p:cNvPr id="162" name="Shape 147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Shape 152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8" name="Text 153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9" name="Text 154"/>
          <p:cNvSpPr/>
          <p:nvPr/>
        </p:nvSpPr>
        <p:spPr>
          <a:xfrm>
            <a:off x="9601200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70" name="Text 155"/>
          <p:cNvSpPr/>
          <p:nvPr/>
        </p:nvSpPr>
        <p:spPr>
          <a:xfrm>
            <a:off x="98457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1" name="Shape 156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2" name="Text 157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3" name="Text 158"/>
          <p:cNvSpPr/>
          <p:nvPr/>
        </p:nvSpPr>
        <p:spPr>
          <a:xfrm>
            <a:off x="12353925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74" name="Text 159"/>
          <p:cNvSpPr/>
          <p:nvPr/>
        </p:nvSpPr>
        <p:spPr>
          <a:xfrm>
            <a:off x="125984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3511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13700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按原因纠正后重新识别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636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不提供强制放行或无条件重试。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7" name="Text 172"/>
          <p:cNvSpPr/>
          <p:nvPr/>
        </p:nvSpPr>
        <p:spPr>
          <a:xfrm>
            <a:off x="1648777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查看拒绝详情</a:t>
            </a:r>
            <a:endParaRPr lang="en-US" sz="1275" dirty="0"/>
          </a:p>
        </p:txBody>
      </p:sp>
      <p:sp>
        <p:nvSpPr>
          <p:cNvPr id="188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5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7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5 条</a:t>
            </a:r>
            <a:endParaRPr lang="en-US" sz="975" dirty="0"/>
          </a:p>
        </p:txBody>
      </p:sp>
      <p:sp>
        <p:nvSpPr>
          <p:cNvPr id="198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99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0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1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2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3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4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5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6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7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8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9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0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1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2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3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4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5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6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7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8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19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0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14:32:08</a:t>
            </a:r>
            <a:endParaRPr lang="en-US" sz="975" dirty="0"/>
          </a:p>
        </p:txBody>
      </p:sp>
      <p:sp>
        <p:nvSpPr>
          <p:cNvPr id="221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2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23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4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975" dirty="0"/>
          </a:p>
        </p:txBody>
      </p:sp>
      <p:sp>
        <p:nvSpPr>
          <p:cNvPr id="225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6" name="Text 210"/>
          <p:cNvSpPr/>
          <p:nvPr/>
        </p:nvSpPr>
        <p:spPr>
          <a:xfrm>
            <a:off x="8212336" y="8789003"/>
            <a:ext cx="1473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75" dirty="0"/>
          </a:p>
        </p:txBody>
      </p:sp>
      <p:sp>
        <p:nvSpPr>
          <p:cNvPr id="227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8" name="Text 212"/>
          <p:cNvSpPr/>
          <p:nvPr/>
        </p:nvSpPr>
        <p:spPr>
          <a:xfrm>
            <a:off x="12600831" y="8808053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75" dirty="0"/>
          </a:p>
        </p:txBody>
      </p:sp>
      <p:sp>
        <p:nvSpPr>
          <p:cNvPr id="229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0" name="Shape 214"/>
          <p:cNvSpPr/>
          <p:nvPr/>
        </p:nvSpPr>
        <p:spPr>
          <a:xfrm>
            <a:off x="12942094" y="8774906"/>
            <a:ext cx="609749" cy="209550"/>
          </a:xfrm>
          <a:prstGeom prst="roundRect">
            <a:avLst>
              <a:gd name="adj" fmla="val 22727"/>
            </a:avLst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231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232" name="Text 216"/>
          <p:cNvSpPr/>
          <p:nvPr/>
        </p:nvSpPr>
        <p:spPr>
          <a:xfrm>
            <a:off x="13142119" y="8798528"/>
            <a:ext cx="3796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已拒绝</a:t>
            </a:r>
            <a:endParaRPr lang="en-US" sz="900" dirty="0"/>
          </a:p>
        </p:txBody>
      </p:sp>
      <p:sp>
        <p:nvSpPr>
          <p:cNvPr id="233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4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5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6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37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8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39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0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1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2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3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4" name="Text 228"/>
          <p:cNvSpPr/>
          <p:nvPr/>
        </p:nvSpPr>
        <p:spPr>
          <a:xfrm>
            <a:off x="12526268" y="9236678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45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6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7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8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49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0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1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2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3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4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5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6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7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8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59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0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WCS业务拒绝 · 错波次</a:t>
            </a:r>
            <a:endParaRPr lang="en-US" sz="900" dirty="0"/>
          </a:p>
        </p:txBody>
      </p:sp>
      <p:sp>
        <p:nvSpPr>
          <p:cNvPr id="264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5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6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0" name="Shape 254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1" name="Shape 255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2" name="Shape 256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8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Text 259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6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2768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59468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1968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8668" y="204597"/>
            <a:ext cx="5759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 · 1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0637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CAM1识别异常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855887" y="2252472"/>
            <a:ext cx="31036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调整条码与摆放后受控重扫，不允许人工改码放行。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694075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未识别到条码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9882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本次没有可执行任务；处理现场Item后受控重扫。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196269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12840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2840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18570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0548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98457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5984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Text 159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5" name="Text 160"/>
          <p:cNvSpPr/>
          <p:nvPr/>
        </p:nvSpPr>
        <p:spPr>
          <a:xfrm>
            <a:off x="15106650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76" name="Text 161"/>
          <p:cNvSpPr/>
          <p:nvPr/>
        </p:nvSpPr>
        <p:spPr>
          <a:xfrm>
            <a:off x="153511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7" name="Shape 162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8" name="Shape 163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9" name="Text 164"/>
          <p:cNvSpPr/>
          <p:nvPr/>
        </p:nvSpPr>
        <p:spPr>
          <a:xfrm>
            <a:off x="9439275" y="7179725"/>
            <a:ext cx="11033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本次无可执行任务</a:t>
            </a:r>
            <a:endParaRPr lang="en-US" sz="1050" dirty="0"/>
          </a:p>
        </p:txBody>
      </p:sp>
      <p:sp>
        <p:nvSpPr>
          <p:cNvPr id="180" name="Text 165"/>
          <p:cNvSpPr/>
          <p:nvPr/>
        </p:nvSpPr>
        <p:spPr>
          <a:xfrm>
            <a:off x="9439275" y="7383470"/>
            <a:ext cx="1636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只影响当前草稿，不删除历史。</a:t>
            </a:r>
            <a:endParaRPr lang="en-US" sz="900" dirty="0"/>
          </a:p>
        </p:txBody>
      </p:sp>
      <p:sp>
        <p:nvSpPr>
          <p:cNvPr id="181" name="Shape 166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6" name="Text 171"/>
          <p:cNvSpPr/>
          <p:nvPr/>
        </p:nvSpPr>
        <p:spPr>
          <a:xfrm>
            <a:off x="1664970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清空重扫</a:t>
            </a:r>
            <a:endParaRPr lang="en-US" sz="1275" dirty="0"/>
          </a:p>
        </p:txBody>
      </p:sp>
      <p:sp>
        <p:nvSpPr>
          <p:cNvPr id="187" name="Shape 172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73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7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Text 178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4" name="Text 179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6" name="Text 180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7" name="Shape 181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98" name="Shape 182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9" name="Text 183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0" name="Shape 184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1" name="Shape 185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2" name="Text 186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3" name="Shape 187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4" name="Shape 188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5" name="Text 189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6" name="Shape 190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7" name="Shape 191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8" name="Text 192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09" name="Shape 193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0" name="Shape 194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1" name="Text 195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2" name="Shape 196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3" name="Shape 197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4" name="Text 198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5" name="Shape 199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6" name="Shape 200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7" name="Text 201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18" name="Shape 202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19" name="Text 203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0" name="Shape 204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5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2" name="Shape 206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7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4" name="Shape 208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9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6" name="Shape 210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1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28" name="Shape 212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Shape 213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0" name="Shape 214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1" name="Text 215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2" name="Shape 216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3" name="Text 217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4" name="Shape 218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9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6" name="Shape 220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1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38" name="Shape 222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3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0" name="Shape 224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5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2" name="Shape 226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7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4" name="Shape 228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Shape 229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6" name="Shape 230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7" name="Text 231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48" name="Shape 232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9" name="Text 233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0" name="Text 234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1" name="Text 235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2" name="Text 236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3" name="Text 237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4" name="Shape 238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5" name="Text 239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6" name="Text 240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7" name="Shape 241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58" name="Shape 242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59" name="Shape 243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0" name="Shape 244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5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Text 246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识别异常 · 无码</a:t>
            </a:r>
            <a:endParaRPr lang="en-US" sz="900" dirty="0"/>
          </a:p>
        </p:txBody>
      </p:sp>
      <p:sp>
        <p:nvSpPr>
          <p:cNvPr id="263" name="Shape 247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4" name="Shape 248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5" name="Shape 249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6" name="Shape 250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1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Text 252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69" name="Shape 253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0" name="Shape 254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1" name="Shape 255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2" name="Shape 256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7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Text 258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5" name="Text 259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2768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59468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1968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8668" y="204597"/>
            <a:ext cx="5759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 · 1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0637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CAM1识别异常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855887" y="2252472"/>
            <a:ext cx="31036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调整条码与摆放后受控重扫，不允许人工改码放行。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97030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检测到多个条码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9882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本次没有可执行任务；处理现场Item后受控重扫。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Shape 138"/>
          <p:cNvSpPr/>
          <p:nvPr/>
        </p:nvSpPr>
        <p:spPr>
          <a:xfrm>
            <a:off x="9439275" y="5072063"/>
            <a:ext cx="8277225" cy="683716"/>
          </a:xfrm>
          <a:prstGeom prst="roundRect">
            <a:avLst>
              <a:gd name="adj" fmla="val 9752"/>
            </a:avLst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154" name="Shape 139"/>
          <p:cNvSpPr/>
          <p:nvPr/>
        </p:nvSpPr>
        <p:spPr>
          <a:xfrm>
            <a:off x="9439275" y="5072063"/>
            <a:ext cx="8277225" cy="9525"/>
          </a:xfrm>
          <a:prstGeom prst="rect">
            <a:avLst/>
          </a:prstGeom>
          <a:solidFill>
            <a:srgbClr val="E4BFC2"/>
          </a:solidFill>
          <a:ln w="12700">
            <a:solidFill>
              <a:srgbClr val="E4BFC2">
                <a:alpha val="0"/>
              </a:srgbClr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9439275" y="5746254"/>
            <a:ext cx="8277225" cy="9525"/>
          </a:xfrm>
          <a:prstGeom prst="rect">
            <a:avLst/>
          </a:prstGeom>
          <a:solidFill>
            <a:srgbClr val="E4BFC2"/>
          </a:solidFill>
          <a:ln w="12700">
            <a:solidFill>
              <a:srgbClr val="E4BFC2">
                <a:alpha val="0"/>
              </a:srgbClr>
            </a:solidFill>
            <a:prstDash val="solid"/>
          </a:ln>
        </p:spPr>
      </p:sp>
      <p:sp>
        <p:nvSpPr>
          <p:cNvPr id="156" name="Shape 141"/>
          <p:cNvSpPr/>
          <p:nvPr/>
        </p:nvSpPr>
        <p:spPr>
          <a:xfrm>
            <a:off x="9439275" y="5072063"/>
            <a:ext cx="9525" cy="683716"/>
          </a:xfrm>
          <a:prstGeom prst="rect">
            <a:avLst/>
          </a:prstGeom>
          <a:solidFill>
            <a:srgbClr val="E4BFC2"/>
          </a:solidFill>
          <a:ln w="12700">
            <a:solidFill>
              <a:srgbClr val="E4BFC2">
                <a:alpha val="0"/>
              </a:srgbClr>
            </a:solidFill>
            <a:prstDash val="solid"/>
          </a:ln>
        </p:spPr>
      </p:sp>
      <p:sp>
        <p:nvSpPr>
          <p:cNvPr id="157" name="Shape 142"/>
          <p:cNvSpPr/>
          <p:nvPr/>
        </p:nvSpPr>
        <p:spPr>
          <a:xfrm>
            <a:off x="17706975" y="5072063"/>
            <a:ext cx="9525" cy="683716"/>
          </a:xfrm>
          <a:prstGeom prst="rect">
            <a:avLst/>
          </a:prstGeom>
          <a:solidFill>
            <a:srgbClr val="E4BFC2"/>
          </a:solidFill>
          <a:ln w="12700">
            <a:solidFill>
              <a:srgbClr val="E4BFC2">
                <a:alpha val="0"/>
              </a:srgbClr>
            </a:solidFill>
            <a:prstDash val="solid"/>
          </a:ln>
        </p:spPr>
      </p:sp>
      <p:sp>
        <p:nvSpPr>
          <p:cNvPr id="158" name="Text 143"/>
          <p:cNvSpPr/>
          <p:nvPr/>
        </p:nvSpPr>
        <p:spPr>
          <a:xfrm>
            <a:off x="9582150" y="520998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E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另一个候选码：</a:t>
            </a:r>
            <a:endParaRPr lang="en-US" sz="1050" dirty="0"/>
          </a:p>
        </p:txBody>
      </p:sp>
      <p:sp>
        <p:nvSpPr>
          <p:cNvPr id="159" name="Text 144"/>
          <p:cNvSpPr/>
          <p:nvPr/>
        </p:nvSpPr>
        <p:spPr>
          <a:xfrm>
            <a:off x="10515600" y="5238560"/>
            <a:ext cx="116067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E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06902827041372</a:t>
            </a:r>
            <a:endParaRPr lang="en-US" sz="1050" dirty="0"/>
          </a:p>
        </p:txBody>
      </p:sp>
      <p:sp>
        <p:nvSpPr>
          <p:cNvPr id="160" name="Text 145"/>
          <p:cNvSpPr/>
          <p:nvPr/>
        </p:nvSpPr>
        <p:spPr>
          <a:xfrm>
            <a:off x="9582150" y="5432780"/>
            <a:ext cx="20368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E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未选择任何码，不创建发车请求。</a:t>
            </a:r>
            <a:endParaRPr lang="en-US" sz="1050" dirty="0"/>
          </a:p>
        </p:txBody>
      </p:sp>
      <p:sp>
        <p:nvSpPr>
          <p:cNvPr id="161" name="Text 146"/>
          <p:cNvSpPr/>
          <p:nvPr/>
        </p:nvSpPr>
        <p:spPr>
          <a:xfrm>
            <a:off x="9439275" y="5855601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62" name="Text 147"/>
          <p:cNvSpPr/>
          <p:nvPr/>
        </p:nvSpPr>
        <p:spPr>
          <a:xfrm>
            <a:off x="9439275" y="6122301"/>
            <a:ext cx="12840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63" name="Text 148"/>
          <p:cNvSpPr/>
          <p:nvPr/>
        </p:nvSpPr>
        <p:spPr>
          <a:xfrm>
            <a:off x="12611100" y="5855601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64" name="Text 149"/>
          <p:cNvSpPr/>
          <p:nvPr/>
        </p:nvSpPr>
        <p:spPr>
          <a:xfrm>
            <a:off x="12611100" y="6122301"/>
            <a:ext cx="12840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65" name="Text 150"/>
          <p:cNvSpPr/>
          <p:nvPr/>
        </p:nvSpPr>
        <p:spPr>
          <a:xfrm>
            <a:off x="15782925" y="5855601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66" name="Text 151"/>
          <p:cNvSpPr/>
          <p:nvPr/>
        </p:nvSpPr>
        <p:spPr>
          <a:xfrm>
            <a:off x="15782925" y="6055626"/>
            <a:ext cx="18570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50" dirty="0"/>
          </a:p>
        </p:txBody>
      </p:sp>
      <p:sp>
        <p:nvSpPr>
          <p:cNvPr id="167" name="Text 152"/>
          <p:cNvSpPr/>
          <p:nvPr/>
        </p:nvSpPr>
        <p:spPr>
          <a:xfrm>
            <a:off x="9439275" y="6436626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8" name="Text 153"/>
          <p:cNvSpPr/>
          <p:nvPr/>
        </p:nvSpPr>
        <p:spPr>
          <a:xfrm>
            <a:off x="10254853" y="6455676"/>
            <a:ext cx="10548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69" name="Shape 154"/>
          <p:cNvSpPr/>
          <p:nvPr/>
        </p:nvSpPr>
        <p:spPr>
          <a:xfrm>
            <a:off x="9439275" y="6698754"/>
            <a:ext cx="8277225" cy="225921"/>
          </a:xfrm>
          <a:prstGeom prst="roundRect">
            <a:avLst>
              <a:gd name="adj" fmla="val 33729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70" name="Shape 155"/>
          <p:cNvSpPr/>
          <p:nvPr/>
        </p:nvSpPr>
        <p:spPr>
          <a:xfrm>
            <a:off x="9439275" y="6698754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Shape 156"/>
          <p:cNvSpPr/>
          <p:nvPr/>
        </p:nvSpPr>
        <p:spPr>
          <a:xfrm>
            <a:off x="9439275" y="7481590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2" name="Shape 157"/>
          <p:cNvSpPr/>
          <p:nvPr/>
        </p:nvSpPr>
        <p:spPr>
          <a:xfrm>
            <a:off x="9439275" y="6698754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3" name="Shape 158"/>
          <p:cNvSpPr/>
          <p:nvPr/>
        </p:nvSpPr>
        <p:spPr>
          <a:xfrm>
            <a:off x="17706975" y="6698754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4" name="Shape 159"/>
          <p:cNvSpPr/>
          <p:nvPr/>
        </p:nvSpPr>
        <p:spPr>
          <a:xfrm>
            <a:off x="12192000" y="6708279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5" name="Shape 160"/>
          <p:cNvSpPr/>
          <p:nvPr/>
        </p:nvSpPr>
        <p:spPr>
          <a:xfrm>
            <a:off x="14944725" y="6708279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6" name="Shape 161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7" name="Shape 162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8" name="Text 163"/>
          <p:cNvSpPr/>
          <p:nvPr/>
        </p:nvSpPr>
        <p:spPr>
          <a:xfrm>
            <a:off x="9439275" y="7179725"/>
            <a:ext cx="11033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本次无可执行任务</a:t>
            </a:r>
            <a:endParaRPr lang="en-US" sz="1050" dirty="0"/>
          </a:p>
        </p:txBody>
      </p:sp>
      <p:sp>
        <p:nvSpPr>
          <p:cNvPr id="179" name="Text 164"/>
          <p:cNvSpPr/>
          <p:nvPr/>
        </p:nvSpPr>
        <p:spPr>
          <a:xfrm>
            <a:off x="9439275" y="7383470"/>
            <a:ext cx="1636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只影响当前草稿，不删除历史。</a:t>
            </a:r>
            <a:endParaRPr lang="en-US" sz="900" dirty="0"/>
          </a:p>
        </p:txBody>
      </p:sp>
      <p:sp>
        <p:nvSpPr>
          <p:cNvPr id="180" name="Shape 165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5" name="Text 170"/>
          <p:cNvSpPr/>
          <p:nvPr/>
        </p:nvSpPr>
        <p:spPr>
          <a:xfrm>
            <a:off x="1664970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清空重扫</a:t>
            </a:r>
            <a:endParaRPr lang="en-US" sz="1275" dirty="0"/>
          </a:p>
        </p:txBody>
      </p:sp>
      <p:sp>
        <p:nvSpPr>
          <p:cNvPr id="186" name="Shape 171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72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8" name="Shape 173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Text 177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3" name="Text 178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5" name="Text 179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6" name="Shape 180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97" name="Shape 181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8" name="Text 182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199" name="Shape 183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0" name="Shape 184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1" name="Text 185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2" name="Shape 186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3" name="Shape 187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4" name="Text 188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5" name="Shape 189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6" name="Shape 190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7" name="Text 191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08" name="Shape 192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9" name="Shape 193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0" name="Text 194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1" name="Shape 195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2" name="Shape 196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3" name="Text 197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4" name="Shape 198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5" name="Shape 199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6" name="Text 200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17" name="Shape 201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18" name="Text 202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19" name="Shape 203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0" name="Text 204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1" name="Shape 205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2" name="Text 206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3" name="Shape 207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4" name="Text 208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5" name="Shape 209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6" name="Text 210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27" name="Shape 211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8" name="Shape 212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29" name="Shape 213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0" name="Text 214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1" name="Shape 215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2" name="Text 216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3" name="Shape 217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4" name="Text 218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5" name="Shape 219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6" name="Text 220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37" name="Shape 221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8" name="Text 222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39" name="Shape 223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0" name="Text 224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1" name="Shape 225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2" name="Text 226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3" name="Shape 227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4" name="Shape 228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5" name="Shape 229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6" name="Text 230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47" name="Shape 231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8" name="Text 232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49" name="Text 233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0" name="Text 234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1" name="Text 235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2" name="Text 236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3" name="Shape 237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4" name="Text 238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5" name="Text 239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6" name="Shape 240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57" name="Shape 241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58" name="Shape 242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59" name="Shape 243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0" name="Shape 244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Text 245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识别异常 · 多码</a:t>
            </a:r>
            <a:endParaRPr lang="en-US" sz="900" dirty="0"/>
          </a:p>
        </p:txBody>
      </p:sp>
      <p:sp>
        <p:nvSpPr>
          <p:cNvPr id="262" name="Shape 246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3" name="Shape 247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4" name="Shape 248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5" name="Shape 249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6" name="Shape 250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Text 251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68" name="Shape 252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9" name="Shape 253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0" name="Shape 254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1" name="Shape 255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2" name="Shape 256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Text 257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4" name="Text 258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2768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59468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1968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8668" y="204597"/>
            <a:ext cx="5759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 · 1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120651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写入失败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9345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5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整台暂停 · 本地记录未保存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2726680" y="2252472"/>
            <a:ext cx="35216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新请求不会发送。保留现场Item，联系维护人员检查存储。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待人工发车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请核对当前Item、数量及允许动作条件。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新入场已暂停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9798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请先解除阻塞，不覆盖当前业务结果。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0E7F0"/>
          </a:solidFill>
          <a:ln w="12700">
            <a:solidFill>
              <a:srgbClr val="E0E7F0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8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516350" y="7262813"/>
            <a:ext cx="190500" cy="190500"/>
          </a:xfrm>
          <a:prstGeom prst="rect">
            <a:avLst/>
          </a:prstGeom>
        </p:spPr>
      </p:pic>
      <p:sp>
        <p:nvSpPr>
          <p:cNvPr id="188" name="Text 172"/>
          <p:cNvSpPr/>
          <p:nvPr/>
        </p:nvSpPr>
        <p:spPr>
          <a:xfrm>
            <a:off x="16783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181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89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6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8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9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0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1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2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3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4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5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6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7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8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9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0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1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2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3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4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5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6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7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8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9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20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2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4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6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0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8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Text 212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30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1" name="Shape 214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2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3" name="Text 216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4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6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8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40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2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4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Text 228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6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7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8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9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50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1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2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3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4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5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6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7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8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9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0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4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本地存储异常</a:t>
            </a:r>
            <a:endParaRPr lang="en-US" sz="900" dirty="0"/>
          </a:p>
        </p:txBody>
      </p:sp>
      <p:sp>
        <p:nvSpPr>
          <p:cNvPr id="265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6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0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1" name="Shape 254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2" name="Shape 255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6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Shape 258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6" name="Text 259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7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作业进行中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590824" y="2252472"/>
            <a:ext cx="25882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按通道提示处理Item；右通道需人工确认。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2648063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需拆包 · 模式待确认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836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扫描方向和承运粒度尚未批准，禁止确认发车。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需移除数量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439275" y="6807398"/>
            <a:ext cx="8277225" cy="117277"/>
          </a:xfrm>
          <a:prstGeom prst="roundRect">
            <a:avLst>
              <a:gd name="adj" fmla="val 56853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439275" y="6807398"/>
            <a:ext cx="8277225" cy="9525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180" name="Shape 165"/>
          <p:cNvSpPr/>
          <p:nvPr/>
        </p:nvSpPr>
        <p:spPr>
          <a:xfrm>
            <a:off x="9439275" y="7258794"/>
            <a:ext cx="8277225" cy="9525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9439275" y="6807398"/>
            <a:ext cx="9525" cy="460921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17706975" y="6807398"/>
            <a:ext cx="9525" cy="460921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5" name="Text 170"/>
          <p:cNvSpPr/>
          <p:nvPr/>
        </p:nvSpPr>
        <p:spPr>
          <a:xfrm>
            <a:off x="9439275" y="7179725"/>
            <a:ext cx="140534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D-04未确认，禁止操作</a:t>
            </a:r>
            <a:endParaRPr lang="en-US" sz="1050" dirty="0"/>
          </a:p>
        </p:txBody>
      </p:sp>
      <p:sp>
        <p:nvSpPr>
          <p:cNvPr id="186" name="Text 171"/>
          <p:cNvSpPr/>
          <p:nvPr/>
        </p:nvSpPr>
        <p:spPr>
          <a:xfrm>
            <a:off x="9439275" y="7383470"/>
            <a:ext cx="19798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保留量、移除量及扫描方向须先批准。</a:t>
            </a:r>
            <a:endParaRPr lang="en-US" sz="900" dirty="0"/>
          </a:p>
        </p:txBody>
      </p:sp>
      <p:sp>
        <p:nvSpPr>
          <p:cNvPr id="187" name="Shape 172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188" name="Shape 173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92" name="Text 177"/>
          <p:cNvSpPr/>
          <p:nvPr/>
        </p:nvSpPr>
        <p:spPr>
          <a:xfrm>
            <a:off x="1664970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确认拆包</a:t>
            </a:r>
            <a:endParaRPr lang="en-US" sz="1275" dirty="0"/>
          </a:p>
        </p:txBody>
      </p:sp>
      <p:sp>
        <p:nvSpPr>
          <p:cNvPr id="193" name="Shape 178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79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5" name="Shape 180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6" name="Shape 181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7" name="Shape 182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8" name="Shape 183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9" name="Text 184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200" name="Text 185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20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202" name="Text 186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203" name="Shape 187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4" name="Shape 188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5" name="Text 189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6" name="Shape 190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7" name="Shape 191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8" name="Text 192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9" name="Shape 193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0" name="Shape 194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1" name="Text 195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12" name="Shape 196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3" name="Shape 197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4" name="Text 198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5" name="Shape 199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6" name="Shape 200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7" name="Text 201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8" name="Shape 202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9" name="Shape 203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0" name="Text 204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21" name="Shape 205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22" name="Shape 206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3" name="Text 207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24" name="Shape 208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9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6" name="Shape 210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1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8" name="Shape 212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Text 213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30" name="Shape 214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1" name="Text 215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32" name="Shape 216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3" name="Text 217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34" name="Shape 218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Shape 219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6" name="Shape 220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7" name="Text 221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8" name="Shape 222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3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40" name="Shape 224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5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42" name="Shape 226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7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44" name="Shape 228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Text 229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6" name="Shape 230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7" name="Text 231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8" name="Shape 232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9" name="Text 233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50" name="Shape 234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1" name="Shape 235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52" name="Shape 236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53" name="Text 237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54" name="Shape 238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5" name="Text 239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6" name="Text 240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7" name="Text 241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8" name="Text 242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9" name="Text 243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60" name="Shape 244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61" name="Text 245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62" name="Text 246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63" name="Shape 247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4" name="Shape 248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5" name="Shape 249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6" name="Shape 250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1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Text 252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拆包模式未确认</a:t>
            </a:r>
            <a:endParaRPr lang="en-US" sz="900" dirty="0"/>
          </a:p>
        </p:txBody>
      </p:sp>
      <p:sp>
        <p:nvSpPr>
          <p:cNvPr id="269" name="Shape 253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0" name="Shape 254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1" name="Shape 255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2" name="Shape 256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7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Text 258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5" name="Shape 259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6" name="Shape 260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7" name="Shape 261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8" name="Shape 262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9" name="Shape 263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80" name="Text 264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81" name="Text 265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9345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拆包交互样例 · 方案待确认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2726680" y="2252472"/>
            <a:ext cx="272292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仅演示扫描保留件候选，不代表D-04已批准。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7122378" y="2245328"/>
            <a:ext cx="82119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30 − 18 = 12件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86540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拆包中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970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候选方案：逐件扫描保留件，不以回调次数计件。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需移除数量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16668750" y="6807398"/>
            <a:ext cx="1047750" cy="117277"/>
          </a:xfrm>
          <a:prstGeom prst="roundRect">
            <a:avLst>
              <a:gd name="adj" fmla="val 568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16668750" y="6807398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Shape 165"/>
          <p:cNvSpPr/>
          <p:nvPr/>
        </p:nvSpPr>
        <p:spPr>
          <a:xfrm>
            <a:off x="16668750" y="7216973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16668750" y="680739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17706975" y="680739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83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2575" y="6921698"/>
            <a:ext cx="190500" cy="190500"/>
          </a:xfrm>
          <a:prstGeom prst="rect">
            <a:avLst/>
          </a:prstGeom>
        </p:spPr>
      </p:pic>
      <p:sp>
        <p:nvSpPr>
          <p:cNvPr id="184" name="Shape 168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85" name="Shape 169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6" name="Text 170"/>
          <p:cNvSpPr/>
          <p:nvPr/>
        </p:nvSpPr>
        <p:spPr>
          <a:xfrm>
            <a:off x="9439275" y="7179725"/>
            <a:ext cx="13700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有效扫描尚未达到目标</a:t>
            </a:r>
            <a:endParaRPr lang="en-US" sz="1050" dirty="0"/>
          </a:p>
        </p:txBody>
      </p:sp>
      <p:sp>
        <p:nvSpPr>
          <p:cNvPr id="187" name="Text 171"/>
          <p:cNvSpPr/>
          <p:nvPr/>
        </p:nvSpPr>
        <p:spPr>
          <a:xfrm>
            <a:off x="9439275" y="7383470"/>
            <a:ext cx="2044416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保留18件 / 移除12件 · 7/18件（候选）</a:t>
            </a:r>
            <a:endParaRPr lang="en-US" sz="900" dirty="0"/>
          </a:p>
        </p:txBody>
      </p:sp>
      <p:sp>
        <p:nvSpPr>
          <p:cNvPr id="188" name="Shape 172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0E7F0"/>
          </a:solidFill>
          <a:ln w="12700">
            <a:solidFill>
              <a:srgbClr val="E0E7F0">
                <a:alpha val="0"/>
              </a:srgbClr>
            </a:solidFill>
            <a:prstDash val="solid"/>
          </a:ln>
        </p:spPr>
      </p:sp>
      <p:sp>
        <p:nvSpPr>
          <p:cNvPr id="189" name="Shape 173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0" name="Shape 174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6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9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516350" y="7262813"/>
            <a:ext cx="190500" cy="190500"/>
          </a:xfrm>
          <a:prstGeom prst="rect">
            <a:avLst/>
          </a:prstGeom>
        </p:spPr>
      </p:pic>
      <p:sp>
        <p:nvSpPr>
          <p:cNvPr id="194" name="Text 177"/>
          <p:cNvSpPr/>
          <p:nvPr/>
        </p:nvSpPr>
        <p:spPr>
          <a:xfrm>
            <a:off x="16783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181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确认拆包</a:t>
            </a:r>
            <a:endParaRPr lang="en-US" sz="1275" dirty="0"/>
          </a:p>
        </p:txBody>
      </p:sp>
      <p:sp>
        <p:nvSpPr>
          <p:cNvPr id="195" name="Shape 178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79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7" name="Shape 180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8" name="Shape 181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9" name="Shape 182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0" name="Shape 183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1" name="Text 184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202" name="Text 185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203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204" name="Text 186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205" name="Shape 187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6" name="Shape 188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7" name="Text 189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8" name="Shape 190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9" name="Shape 191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0" name="Text 192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11" name="Shape 193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2" name="Shape 194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3" name="Text 195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14" name="Shape 196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5" name="Shape 197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6" name="Text 198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7" name="Shape 199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8" name="Shape 200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9" name="Text 201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20" name="Shape 202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21" name="Shape 203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2" name="Text 204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23" name="Shape 205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24" name="Shape 206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5" name="Text 207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26" name="Shape 208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09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8" name="Shape 210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Text 211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30" name="Shape 212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1" name="Text 213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32" name="Shape 214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3" name="Text 215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34" name="Shape 216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7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36" name="Shape 218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Shape 219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8" name="Shape 220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9" name="Text 221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40" name="Shape 222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3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42" name="Shape 224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5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44" name="Shape 226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Text 227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46" name="Shape 228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7" name="Text 229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8" name="Shape 230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9" name="Text 231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50" name="Shape 232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1" name="Text 233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52" name="Shape 234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3" name="Shape 235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54" name="Shape 236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55" name="Text 237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56" name="Shape 238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7" name="Text 239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8" name="Text 240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9" name="Text 241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60" name="Text 242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61" name="Text 243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62" name="Shape 244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63" name="Text 245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64" name="Text 246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65" name="Shape 247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6" name="Shape 248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49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0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Shape 251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0" name="Text 252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拆包候选 · 保留件方案待确认</a:t>
            </a:r>
            <a:endParaRPr lang="en-US" sz="900" dirty="0"/>
          </a:p>
        </p:txBody>
      </p:sp>
      <p:sp>
        <p:nvSpPr>
          <p:cNvPr id="271" name="Shape 253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2" name="Shape 254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5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6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Shape 257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6" name="Text 258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7" name="Shape 259"/>
          <p:cNvSpPr/>
          <p:nvPr/>
        </p:nvSpPr>
        <p:spPr>
          <a:xfrm>
            <a:off x="4731693" y="9925050"/>
            <a:ext cx="96782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8" name="Shape 260"/>
          <p:cNvSpPr/>
          <p:nvPr/>
        </p:nvSpPr>
        <p:spPr>
          <a:xfrm>
            <a:off x="4731693" y="9925050"/>
            <a:ext cx="96782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9" name="Shape 261"/>
          <p:cNvSpPr/>
          <p:nvPr/>
        </p:nvSpPr>
        <p:spPr>
          <a:xfrm>
            <a:off x="4731693" y="10220325"/>
            <a:ext cx="96782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80" name="Shape 262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81" name="Shape 263"/>
          <p:cNvSpPr/>
          <p:nvPr/>
        </p:nvSpPr>
        <p:spPr>
          <a:xfrm>
            <a:off x="5689997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82" name="Text 264"/>
          <p:cNvSpPr/>
          <p:nvPr/>
        </p:nvSpPr>
        <p:spPr>
          <a:xfrm>
            <a:off x="4836468" y="9996297"/>
            <a:ext cx="79485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模拟一件 · +1</a:t>
            </a:r>
            <a:endParaRPr lang="en-US" sz="900" dirty="0"/>
          </a:p>
        </p:txBody>
      </p:sp>
      <p:sp>
        <p:nvSpPr>
          <p:cNvPr id="283" name="Text 265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943124" cy="280988"/>
          </a:xfrm>
          <a:prstGeom prst="roundRect">
            <a:avLst>
              <a:gd name="adj" fmla="val 16949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6558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待少货确认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103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结束供包检查中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895624" y="2252472"/>
            <a:ext cx="298069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两通道暂停新入场；WCS明确关闭后才能切换箱。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232302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等待有效Item入场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7035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识别结果按通道来源路由，和键盘焦点无关。</a:t>
            </a:r>
            <a:endParaRPr lang="en-US" sz="1050" dirty="0"/>
          </a:p>
        </p:txBody>
      </p:sp>
      <p:pic>
        <p:nvPicPr>
          <p:cNvPr id="14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368338" y="5036344"/>
            <a:ext cx="419100" cy="419100"/>
          </a:xfrm>
          <a:prstGeom prst="rect">
            <a:avLst/>
          </a:prstGeom>
        </p:spPr>
      </p:pic>
      <p:sp>
        <p:nvSpPr>
          <p:cNvPr id="145" name="Text 130"/>
          <p:cNvSpPr/>
          <p:nvPr/>
        </p:nvSpPr>
        <p:spPr>
          <a:xfrm>
            <a:off x="12749957" y="5555266"/>
            <a:ext cx="1692289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等待有效Item入场</a:t>
            </a:r>
            <a:endParaRPr lang="en-US" sz="1575" dirty="0"/>
          </a:p>
        </p:txBody>
      </p:sp>
      <p:sp>
        <p:nvSpPr>
          <p:cNvPr id="146" name="Text 131"/>
          <p:cNvSpPr/>
          <p:nvPr/>
        </p:nvSpPr>
        <p:spPr>
          <a:xfrm>
            <a:off x="11777663" y="5950553"/>
            <a:ext cx="3637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相机自动读码并按来源进入本通道；不从全局键盘焦点推断。</a:t>
            </a:r>
            <a:endParaRPr lang="en-US" sz="1050" dirty="0"/>
          </a:p>
        </p:txBody>
      </p:sp>
      <p:sp>
        <p:nvSpPr>
          <p:cNvPr id="147" name="Shape 132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48" name="Shape 133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Text 134"/>
          <p:cNvSpPr/>
          <p:nvPr/>
        </p:nvSpPr>
        <p:spPr>
          <a:xfrm>
            <a:off x="9439275" y="7179725"/>
            <a:ext cx="11404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暂无可提交的Item</a:t>
            </a:r>
            <a:endParaRPr lang="en-US" sz="1050" dirty="0"/>
          </a:p>
        </p:txBody>
      </p:sp>
      <p:sp>
        <p:nvSpPr>
          <p:cNvPr id="150" name="Text 135"/>
          <p:cNvSpPr/>
          <p:nvPr/>
        </p:nvSpPr>
        <p:spPr>
          <a:xfrm>
            <a:off x="9439275" y="7383470"/>
            <a:ext cx="1417106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请先完成识别与WCS校验。</a:t>
            </a:r>
            <a:endParaRPr lang="en-US" sz="900" dirty="0"/>
          </a:p>
        </p:txBody>
      </p:sp>
      <p:sp>
        <p:nvSpPr>
          <p:cNvPr id="151" name="Shape 136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152" name="Shape 137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53" name="Shape 138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54" name="Shape 139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56" name="Text 141"/>
          <p:cNvSpPr/>
          <p:nvPr/>
        </p:nvSpPr>
        <p:spPr>
          <a:xfrm>
            <a:off x="1664970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57" name="Shape 142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43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9" name="Shape 144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0" name="Shape 145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1" name="Shape 146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Text 148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64" name="Text 149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6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67" name="Shape 151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8" name="Shape 152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9" name="Text 153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170" name="Shape 154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71" name="Shape 155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2" name="Text 156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173" name="Shape 157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74" name="Shape 158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5" name="Text 159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176" name="Shape 160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77" name="Shape 161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8" name="Text 162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179" name="Shape 163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80" name="Shape 164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1" name="Text 165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182" name="Shape 166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83" name="Shape 167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Text 168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185" name="Shape 169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86" name="Shape 170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7" name="Text 171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188" name="Shape 172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9" name="Text 173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190" name="Shape 174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91" name="Text 175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192" name="Shape 176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93" name="Text 177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194" name="Shape 178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196" name="Shape 180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97" name="Text 181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198" name="Shape 182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99" name="Shape 183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00" name="Shape 184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01" name="Text 185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02" name="Shape 186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03" name="Text 187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04" name="Shape 188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05" name="Text 189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06" name="Shape 190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07" name="Text 191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08" name="Shape 192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09" name="Text 193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10" name="Shape 194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11" name="Text 195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12" name="Shape 196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13" name="Text 197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14" name="Shape 198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15" name="Shape 199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16" name="Shape 200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17" name="Text 201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18" name="Shape 202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19" name="Text 203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20" name="Text 204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21" name="Text 205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22" name="Text 206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23" name="Text 207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24" name="Shape 208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25" name="Text 209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26" name="Text 210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27" name="Shape 211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28" name="Shape 212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29" name="Shape 213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30" name="Shape 214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31" name="Shape 215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32" name="Text 216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 · 少货确认</a:t>
            </a:r>
            <a:endParaRPr lang="en-US" sz="900" dirty="0"/>
          </a:p>
        </p:txBody>
      </p:sp>
      <p:sp>
        <p:nvSpPr>
          <p:cNvPr id="233" name="Shape 217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34" name="Shape 218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35" name="Shape 219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36" name="Shape 220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37" name="Shape 221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38" name="Text 222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39" name="Shape 223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40" name="Shape 224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41" name="Shape 225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42" name="Shape 226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43" name="Shape 227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44" name="Text 228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45" name="Text 229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  <p:sp>
        <p:nvSpPr>
          <p:cNvPr id="246" name="Shape 230"/>
          <p:cNvSpPr/>
          <p:nvPr/>
        </p:nvSpPr>
        <p:spPr>
          <a:xfrm>
            <a:off x="0" y="0"/>
            <a:ext cx="18288000" cy="9867900"/>
          </a:xfrm>
          <a:prstGeom prst="rect">
            <a:avLst/>
          </a:prstGeom>
          <a:solidFill>
            <a:srgbClr val="132233">
              <a:alpha val="35000"/>
            </a:srgbClr>
          </a:solidFill>
          <a:ln w="12700">
            <a:solidFill>
              <a:srgbClr val="132233">
                <a:alpha val="0"/>
              </a:srgbClr>
            </a:solidFill>
            <a:prstDash val="solid"/>
          </a:ln>
        </p:spPr>
      </p:sp>
      <p:sp>
        <p:nvSpPr>
          <p:cNvPr id="247" name="Shape 231"/>
          <p:cNvSpPr/>
          <p:nvPr/>
        </p:nvSpPr>
        <p:spPr>
          <a:xfrm>
            <a:off x="6096000" y="2400300"/>
            <a:ext cx="6096000" cy="5067300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8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62700" y="2657475"/>
            <a:ext cx="285750" cy="285750"/>
          </a:xfrm>
          <a:prstGeom prst="rect">
            <a:avLst/>
          </a:prstGeom>
        </p:spPr>
      </p:pic>
      <p:sp>
        <p:nvSpPr>
          <p:cNvPr id="249" name="Text 232"/>
          <p:cNvSpPr/>
          <p:nvPr/>
        </p:nvSpPr>
        <p:spPr>
          <a:xfrm>
            <a:off x="6781800" y="2633472"/>
            <a:ext cx="330037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发现Item缺失，是否强制结束？</a:t>
            </a:r>
            <a:endParaRPr lang="en-US" sz="1800" dirty="0"/>
          </a:p>
        </p:txBody>
      </p:sp>
      <p:sp>
        <p:nvSpPr>
          <p:cNvPr id="250" name="Text 233"/>
          <p:cNvSpPr/>
          <p:nvPr/>
        </p:nvSpPr>
        <p:spPr>
          <a:xfrm>
            <a:off x="6362700" y="316687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251" name="Text 234"/>
          <p:cNvSpPr/>
          <p:nvPr/>
        </p:nvSpPr>
        <p:spPr>
          <a:xfrm>
            <a:off x="6362700" y="3395472"/>
            <a:ext cx="148169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575" dirty="0"/>
          </a:p>
        </p:txBody>
      </p:sp>
      <p:sp>
        <p:nvSpPr>
          <p:cNvPr id="252" name="Shape 235"/>
          <p:cNvSpPr/>
          <p:nvPr/>
        </p:nvSpPr>
        <p:spPr>
          <a:xfrm>
            <a:off x="10838557" y="3271838"/>
            <a:ext cx="1086743" cy="280988"/>
          </a:xfrm>
          <a:prstGeom prst="roundRect">
            <a:avLst>
              <a:gd name="adj" fmla="val 16949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253" name="Shape 236"/>
          <p:cNvSpPr/>
          <p:nvPr/>
        </p:nvSpPr>
        <p:spPr>
          <a:xfrm>
            <a:off x="10933807" y="337899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254" name="Text 237"/>
          <p:cNvSpPr/>
          <p:nvPr/>
        </p:nvSpPr>
        <p:spPr>
          <a:xfrm>
            <a:off x="11067157" y="3324035"/>
            <a:ext cx="7994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WCS少货检查</a:t>
            </a:r>
            <a:endParaRPr lang="en-US" sz="975" dirty="0"/>
          </a:p>
        </p:txBody>
      </p:sp>
      <p:sp>
        <p:nvSpPr>
          <p:cNvPr id="255" name="Shape 238"/>
          <p:cNvSpPr/>
          <p:nvPr/>
        </p:nvSpPr>
        <p:spPr>
          <a:xfrm>
            <a:off x="6362700" y="3833812"/>
            <a:ext cx="5562600" cy="866775"/>
          </a:xfrm>
          <a:prstGeom prst="roundRect">
            <a:avLst>
              <a:gd name="adj" fmla="val 8791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256" name="Text 239"/>
          <p:cNvSpPr/>
          <p:nvPr/>
        </p:nvSpPr>
        <p:spPr>
          <a:xfrm>
            <a:off x="6553200" y="4071747"/>
            <a:ext cx="126172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缺失基础SKU数量</a:t>
            </a:r>
            <a:endParaRPr lang="en-US" sz="1200" dirty="0"/>
          </a:p>
        </p:txBody>
      </p:sp>
      <p:sp>
        <p:nvSpPr>
          <p:cNvPr id="257" name="Text 240"/>
          <p:cNvSpPr/>
          <p:nvPr/>
        </p:nvSpPr>
        <p:spPr>
          <a:xfrm>
            <a:off x="6553200" y="4300347"/>
            <a:ext cx="1818346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来自WCS核对快照 CHECK-DEMO-7</a:t>
            </a:r>
            <a:endParaRPr lang="en-US" sz="900" dirty="0"/>
          </a:p>
        </p:txBody>
      </p:sp>
      <p:sp>
        <p:nvSpPr>
          <p:cNvPr id="258" name="Text 241"/>
          <p:cNvSpPr/>
          <p:nvPr/>
        </p:nvSpPr>
        <p:spPr>
          <a:xfrm>
            <a:off x="11291739" y="4028885"/>
            <a:ext cx="288989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8955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300" dirty="0"/>
          </a:p>
        </p:txBody>
      </p:sp>
      <p:sp>
        <p:nvSpPr>
          <p:cNvPr id="259" name="Text 242"/>
          <p:cNvSpPr/>
          <p:nvPr/>
        </p:nvSpPr>
        <p:spPr>
          <a:xfrm>
            <a:off x="11610826" y="4276535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260" name="Shape 243"/>
          <p:cNvSpPr/>
          <p:nvPr/>
        </p:nvSpPr>
        <p:spPr>
          <a:xfrm>
            <a:off x="6362700" y="4891088"/>
            <a:ext cx="2599134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61" name="Shape 244"/>
          <p:cNvSpPr/>
          <p:nvPr/>
        </p:nvSpPr>
        <p:spPr>
          <a:xfrm>
            <a:off x="6362700" y="5191125"/>
            <a:ext cx="2599134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62" name="Text 245"/>
          <p:cNvSpPr/>
          <p:nvPr/>
        </p:nvSpPr>
        <p:spPr>
          <a:xfrm>
            <a:off x="6496050" y="4962335"/>
            <a:ext cx="25937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900" dirty="0"/>
          </a:p>
        </p:txBody>
      </p:sp>
      <p:sp>
        <p:nvSpPr>
          <p:cNvPr id="263" name="Shape 246"/>
          <p:cNvSpPr/>
          <p:nvPr/>
        </p:nvSpPr>
        <p:spPr>
          <a:xfrm>
            <a:off x="8961834" y="4891088"/>
            <a:ext cx="1759446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64" name="Shape 247"/>
          <p:cNvSpPr/>
          <p:nvPr/>
        </p:nvSpPr>
        <p:spPr>
          <a:xfrm>
            <a:off x="8961834" y="5191125"/>
            <a:ext cx="1759446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65" name="Text 248"/>
          <p:cNvSpPr/>
          <p:nvPr/>
        </p:nvSpPr>
        <p:spPr>
          <a:xfrm>
            <a:off x="9095184" y="4962335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缺失数量</a:t>
            </a:r>
            <a:endParaRPr lang="en-US" sz="900" dirty="0"/>
          </a:p>
        </p:txBody>
      </p:sp>
      <p:sp>
        <p:nvSpPr>
          <p:cNvPr id="266" name="Shape 249"/>
          <p:cNvSpPr/>
          <p:nvPr/>
        </p:nvSpPr>
        <p:spPr>
          <a:xfrm>
            <a:off x="10721280" y="4891088"/>
            <a:ext cx="1204020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67" name="Shape 250"/>
          <p:cNvSpPr/>
          <p:nvPr/>
        </p:nvSpPr>
        <p:spPr>
          <a:xfrm>
            <a:off x="10721280" y="5191125"/>
            <a:ext cx="120402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68" name="Text 251"/>
          <p:cNvSpPr/>
          <p:nvPr/>
        </p:nvSpPr>
        <p:spPr>
          <a:xfrm>
            <a:off x="10854630" y="4962335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</a:t>
            </a:r>
            <a:endParaRPr lang="en-US" sz="900" dirty="0"/>
          </a:p>
        </p:txBody>
      </p:sp>
      <p:sp>
        <p:nvSpPr>
          <p:cNvPr id="269" name="Shape 252"/>
          <p:cNvSpPr/>
          <p:nvPr/>
        </p:nvSpPr>
        <p:spPr>
          <a:xfrm>
            <a:off x="6362700" y="5514975"/>
            <a:ext cx="2599134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70" name="Text 253"/>
          <p:cNvSpPr/>
          <p:nvPr/>
        </p:nvSpPr>
        <p:spPr>
          <a:xfrm>
            <a:off x="6496050" y="5286185"/>
            <a:ext cx="839504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050" dirty="0"/>
          </a:p>
        </p:txBody>
      </p:sp>
      <p:sp>
        <p:nvSpPr>
          <p:cNvPr id="271" name="Shape 254"/>
          <p:cNvSpPr/>
          <p:nvPr/>
        </p:nvSpPr>
        <p:spPr>
          <a:xfrm>
            <a:off x="8961834" y="5514975"/>
            <a:ext cx="1759446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72" name="Text 255"/>
          <p:cNvSpPr/>
          <p:nvPr/>
        </p:nvSpPr>
        <p:spPr>
          <a:xfrm>
            <a:off x="9095184" y="5267135"/>
            <a:ext cx="11069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273" name="Shape 256"/>
          <p:cNvSpPr/>
          <p:nvPr/>
        </p:nvSpPr>
        <p:spPr>
          <a:xfrm>
            <a:off x="10721280" y="5514975"/>
            <a:ext cx="1204020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74" name="Text 257"/>
          <p:cNvSpPr/>
          <p:nvPr/>
        </p:nvSpPr>
        <p:spPr>
          <a:xfrm>
            <a:off x="10854630" y="5267135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1050" dirty="0"/>
          </a:p>
        </p:txBody>
      </p:sp>
      <p:sp>
        <p:nvSpPr>
          <p:cNvPr id="275" name="Text 258"/>
          <p:cNvSpPr/>
          <p:nvPr/>
        </p:nvSpPr>
        <p:spPr>
          <a:xfrm>
            <a:off x="6362700" y="5657660"/>
            <a:ext cx="52469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两通道均无在途请求。取消后可继续扫描；强制结束按少货事实提交WCS，不直接清空本地箱。</a:t>
            </a:r>
            <a:endParaRPr lang="en-US" sz="975" dirty="0"/>
          </a:p>
        </p:txBody>
      </p:sp>
      <p:sp>
        <p:nvSpPr>
          <p:cNvPr id="276" name="Shape 259"/>
          <p:cNvSpPr/>
          <p:nvPr/>
        </p:nvSpPr>
        <p:spPr>
          <a:xfrm>
            <a:off x="6362700" y="6029325"/>
            <a:ext cx="20955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Text 260"/>
          <p:cNvSpPr/>
          <p:nvPr/>
        </p:nvSpPr>
        <p:spPr>
          <a:xfrm>
            <a:off x="6667500" y="6014847"/>
            <a:ext cx="306240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已检查周转箱与工位，确认未找到遗漏的2件Item。</a:t>
            </a:r>
            <a:endParaRPr lang="en-US" sz="1050" dirty="0"/>
          </a:p>
        </p:txBody>
      </p:sp>
      <p:sp>
        <p:nvSpPr>
          <p:cNvPr id="278" name="Shape 261"/>
          <p:cNvSpPr/>
          <p:nvPr/>
        </p:nvSpPr>
        <p:spPr>
          <a:xfrm>
            <a:off x="6096000" y="6619875"/>
            <a:ext cx="6096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79" name="Shape 262"/>
          <p:cNvSpPr/>
          <p:nvPr/>
        </p:nvSpPr>
        <p:spPr>
          <a:xfrm>
            <a:off x="8991451" y="6819900"/>
            <a:ext cx="1428899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63"/>
          <p:cNvSpPr/>
          <p:nvPr/>
        </p:nvSpPr>
        <p:spPr>
          <a:xfrm>
            <a:off x="8991451" y="6819900"/>
            <a:ext cx="14288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1" name="Shape 264"/>
          <p:cNvSpPr/>
          <p:nvPr/>
        </p:nvSpPr>
        <p:spPr>
          <a:xfrm>
            <a:off x="8991451" y="7267575"/>
            <a:ext cx="14288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2" name="Shape 265"/>
          <p:cNvSpPr/>
          <p:nvPr/>
        </p:nvSpPr>
        <p:spPr>
          <a:xfrm>
            <a:off x="8991451" y="6819900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3" name="Shape 266"/>
          <p:cNvSpPr/>
          <p:nvPr/>
        </p:nvSpPr>
        <p:spPr>
          <a:xfrm>
            <a:off x="10410825" y="6819900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4" name="Text 267"/>
          <p:cNvSpPr/>
          <p:nvPr/>
        </p:nvSpPr>
        <p:spPr>
          <a:xfrm>
            <a:off x="9172426" y="6938772"/>
            <a:ext cx="1103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取消，继续供包</a:t>
            </a:r>
            <a:endParaRPr lang="en-US" sz="1200" dirty="0"/>
          </a:p>
        </p:txBody>
      </p:sp>
      <p:sp>
        <p:nvSpPr>
          <p:cNvPr id="285" name="Shape 268"/>
          <p:cNvSpPr/>
          <p:nvPr/>
        </p:nvSpPr>
        <p:spPr>
          <a:xfrm>
            <a:off x="10534650" y="6819900"/>
            <a:ext cx="1390650" cy="457200"/>
          </a:xfrm>
          <a:prstGeom prst="roundRect">
            <a:avLst>
              <a:gd name="adj" fmla="val 14583"/>
            </a:avLst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286" name="Shape 269"/>
          <p:cNvSpPr/>
          <p:nvPr/>
        </p:nvSpPr>
        <p:spPr>
          <a:xfrm>
            <a:off x="10534650" y="6819900"/>
            <a:ext cx="1390650" cy="9525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287" name="Shape 270"/>
          <p:cNvSpPr/>
          <p:nvPr/>
        </p:nvSpPr>
        <p:spPr>
          <a:xfrm>
            <a:off x="10534650" y="7267575"/>
            <a:ext cx="1390650" cy="9525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288" name="Shape 271"/>
          <p:cNvSpPr/>
          <p:nvPr/>
        </p:nvSpPr>
        <p:spPr>
          <a:xfrm>
            <a:off x="10534650" y="6819900"/>
            <a:ext cx="9525" cy="457200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289" name="Shape 272"/>
          <p:cNvSpPr/>
          <p:nvPr/>
        </p:nvSpPr>
        <p:spPr>
          <a:xfrm>
            <a:off x="11915775" y="6819900"/>
            <a:ext cx="9525" cy="457200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290" name="Text 273"/>
          <p:cNvSpPr/>
          <p:nvPr/>
        </p:nvSpPr>
        <p:spPr>
          <a:xfrm>
            <a:off x="10772626" y="6938772"/>
            <a:ext cx="9511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确认强制结束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作业进行中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590824" y="2252472"/>
            <a:ext cx="25882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按通道提示处理Item；右通道需人工确认。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待人工发车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请核对当前Item、数量及允许动作条件。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1824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本次供给12件 · 目标格口031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93919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不足量人工分支为评审候选（D-03）。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18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516350" y="7262813"/>
            <a:ext cx="190500" cy="190500"/>
          </a:xfrm>
          <a:prstGeom prst="rect">
            <a:avLst/>
          </a:prstGeom>
        </p:spPr>
      </p:pic>
      <p:sp>
        <p:nvSpPr>
          <p:cNvPr id="188" name="Text 172"/>
          <p:cNvSpPr/>
          <p:nvPr/>
        </p:nvSpPr>
        <p:spPr>
          <a:xfrm>
            <a:off x="16783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89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6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8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9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0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1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2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3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4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5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6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7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8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9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0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1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2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3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4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5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6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7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8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9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20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2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4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6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0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8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Text 212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30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1" name="Shape 214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2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3" name="Text 216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4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6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8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40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2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4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Text 228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6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7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8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9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50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1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2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3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4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5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6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7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8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9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0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4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 · 查询</a:t>
            </a:r>
            <a:endParaRPr lang="en-US" sz="900" dirty="0"/>
          </a:p>
        </p:txBody>
      </p:sp>
      <p:sp>
        <p:nvSpPr>
          <p:cNvPr id="265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6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0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1" name="Shape 254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2" name="Shape 255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6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Shape 258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6" name="Text 259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7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  <p:sp>
        <p:nvSpPr>
          <p:cNvPr id="278" name="Shape 261"/>
          <p:cNvSpPr/>
          <p:nvPr/>
        </p:nvSpPr>
        <p:spPr>
          <a:xfrm>
            <a:off x="0" y="0"/>
            <a:ext cx="18288000" cy="9867900"/>
          </a:xfrm>
          <a:prstGeom prst="rect">
            <a:avLst/>
          </a:prstGeom>
          <a:solidFill>
            <a:srgbClr val="132233">
              <a:alpha val="35000"/>
            </a:srgbClr>
          </a:solidFill>
          <a:ln w="12700">
            <a:solidFill>
              <a:srgbClr val="132233">
                <a:alpha val="0"/>
              </a:srgbClr>
            </a:solidFill>
            <a:prstDash val="solid"/>
          </a:ln>
        </p:spPr>
      </p:sp>
      <p:sp>
        <p:nvSpPr>
          <p:cNvPr id="279" name="Shape 262"/>
          <p:cNvSpPr/>
          <p:nvPr/>
        </p:nvSpPr>
        <p:spPr>
          <a:xfrm>
            <a:off x="7048500" y="0"/>
            <a:ext cx="11239500" cy="9867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63"/>
          <p:cNvSpPr/>
          <p:nvPr/>
        </p:nvSpPr>
        <p:spPr>
          <a:xfrm>
            <a:off x="7048500" y="942975"/>
            <a:ext cx="11239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1" name="Text 264"/>
          <p:cNvSpPr/>
          <p:nvPr/>
        </p:nvSpPr>
        <p:spPr>
          <a:xfrm>
            <a:off x="7296150" y="214122"/>
            <a:ext cx="912876" cy="34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725" dirty="0"/>
          </a:p>
        </p:txBody>
      </p:sp>
      <p:sp>
        <p:nvSpPr>
          <p:cNvPr id="282" name="Text 265"/>
          <p:cNvSpPr/>
          <p:nvPr/>
        </p:nvSpPr>
        <p:spPr>
          <a:xfrm>
            <a:off x="7296150" y="571310"/>
            <a:ext cx="23097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PAGE-06 · 业务作业与网络尝试分层追溯</a:t>
            </a:r>
            <a:endParaRPr lang="en-US" sz="975" dirty="0"/>
          </a:p>
        </p:txBody>
      </p:sp>
      <p:sp>
        <p:nvSpPr>
          <p:cNvPr id="283" name="Shape 266"/>
          <p:cNvSpPr/>
          <p:nvPr/>
        </p:nvSpPr>
        <p:spPr>
          <a:xfrm>
            <a:off x="17621250" y="271463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67"/>
          <p:cNvSpPr/>
          <p:nvPr/>
        </p:nvSpPr>
        <p:spPr>
          <a:xfrm>
            <a:off x="17621250" y="271463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5" name="Shape 268"/>
          <p:cNvSpPr/>
          <p:nvPr/>
        </p:nvSpPr>
        <p:spPr>
          <a:xfrm>
            <a:off x="17621250" y="681038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6" name="Shape 269"/>
          <p:cNvSpPr/>
          <p:nvPr/>
        </p:nvSpPr>
        <p:spPr>
          <a:xfrm>
            <a:off x="17621250" y="27146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7" name="Shape 270"/>
          <p:cNvSpPr/>
          <p:nvPr/>
        </p:nvSpPr>
        <p:spPr>
          <a:xfrm>
            <a:off x="18030825" y="27146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28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7735550" y="385763"/>
            <a:ext cx="190500" cy="190500"/>
          </a:xfrm>
          <a:prstGeom prst="rect">
            <a:avLst/>
          </a:prstGeom>
        </p:spPr>
      </p:pic>
      <p:sp>
        <p:nvSpPr>
          <p:cNvPr id="289" name="Shape 271"/>
          <p:cNvSpPr/>
          <p:nvPr/>
        </p:nvSpPr>
        <p:spPr>
          <a:xfrm>
            <a:off x="7296150" y="1181100"/>
            <a:ext cx="10744200" cy="460921"/>
          </a:xfrm>
          <a:prstGeom prst="roundRect">
            <a:avLst>
              <a:gd name="adj" fmla="val 14466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290" name="Shape 272"/>
          <p:cNvSpPr/>
          <p:nvPr/>
        </p:nvSpPr>
        <p:spPr>
          <a:xfrm>
            <a:off x="7296150" y="1181100"/>
            <a:ext cx="10744200" cy="9525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291" name="Shape 273"/>
          <p:cNvSpPr/>
          <p:nvPr/>
        </p:nvSpPr>
        <p:spPr>
          <a:xfrm>
            <a:off x="7296150" y="1632496"/>
            <a:ext cx="10744200" cy="9525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292" name="Shape 274"/>
          <p:cNvSpPr/>
          <p:nvPr/>
        </p:nvSpPr>
        <p:spPr>
          <a:xfrm>
            <a:off x="7296150" y="1181100"/>
            <a:ext cx="9525" cy="460921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293" name="Shape 275"/>
          <p:cNvSpPr/>
          <p:nvPr/>
        </p:nvSpPr>
        <p:spPr>
          <a:xfrm>
            <a:off x="18030825" y="1181100"/>
            <a:ext cx="9525" cy="460921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294" name="Text 276"/>
          <p:cNvSpPr/>
          <p:nvPr/>
        </p:nvSpPr>
        <p:spPr>
          <a:xfrm>
            <a:off x="7439025" y="1319022"/>
            <a:ext cx="399585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4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保留最近3个月明细。记录按业务作业聚合，发送尝试不是新Item。</a:t>
            </a:r>
            <a:endParaRPr lang="en-US" sz="1050" dirty="0"/>
          </a:p>
        </p:txBody>
      </p:sp>
      <p:sp>
        <p:nvSpPr>
          <p:cNvPr id="295" name="Text 277"/>
          <p:cNvSpPr/>
          <p:nvPr/>
        </p:nvSpPr>
        <p:spPr>
          <a:xfrm>
            <a:off x="7296150" y="1837093"/>
            <a:ext cx="146071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箱码 / 条码 / 任务 / 作业ID</a:t>
            </a:r>
            <a:endParaRPr lang="en-US" sz="975" dirty="0"/>
          </a:p>
        </p:txBody>
      </p:sp>
      <p:sp>
        <p:nvSpPr>
          <p:cNvPr id="296" name="Shape 278"/>
          <p:cNvSpPr/>
          <p:nvPr/>
        </p:nvSpPr>
        <p:spPr>
          <a:xfrm>
            <a:off x="7296150" y="2084933"/>
            <a:ext cx="4008239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79"/>
          <p:cNvSpPr/>
          <p:nvPr/>
        </p:nvSpPr>
        <p:spPr>
          <a:xfrm>
            <a:off x="7296150" y="2084933"/>
            <a:ext cx="4008239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98" name="Shape 280"/>
          <p:cNvSpPr/>
          <p:nvPr/>
        </p:nvSpPr>
        <p:spPr>
          <a:xfrm>
            <a:off x="7296150" y="2494508"/>
            <a:ext cx="4008239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99" name="Shape 281"/>
          <p:cNvSpPr/>
          <p:nvPr/>
        </p:nvSpPr>
        <p:spPr>
          <a:xfrm>
            <a:off x="7296150" y="2084933"/>
            <a:ext cx="9525" cy="4191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00" name="Shape 282"/>
          <p:cNvSpPr/>
          <p:nvPr/>
        </p:nvSpPr>
        <p:spPr>
          <a:xfrm>
            <a:off x="11294864" y="2084933"/>
            <a:ext cx="9525" cy="4191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01" name="Text 283"/>
          <p:cNvSpPr/>
          <p:nvPr/>
        </p:nvSpPr>
        <p:spPr>
          <a:xfrm>
            <a:off x="7410450" y="2212378"/>
            <a:ext cx="3835265" cy="191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输入完整或部分标识</a:t>
            </a:r>
            <a:endParaRPr lang="en-US" sz="1050" dirty="0"/>
          </a:p>
        </p:txBody>
      </p:sp>
      <p:sp>
        <p:nvSpPr>
          <p:cNvPr id="302" name="Text 284"/>
          <p:cNvSpPr/>
          <p:nvPr/>
        </p:nvSpPr>
        <p:spPr>
          <a:xfrm>
            <a:off x="11418689" y="1837093"/>
            <a:ext cx="5320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75" dirty="0"/>
          </a:p>
        </p:txBody>
      </p:sp>
      <p:sp>
        <p:nvSpPr>
          <p:cNvPr id="303" name="Shape 285"/>
          <p:cNvSpPr/>
          <p:nvPr/>
        </p:nvSpPr>
        <p:spPr>
          <a:xfrm>
            <a:off x="11418689" y="2084933"/>
            <a:ext cx="2863007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286"/>
          <p:cNvSpPr/>
          <p:nvPr/>
        </p:nvSpPr>
        <p:spPr>
          <a:xfrm>
            <a:off x="11418689" y="2084933"/>
            <a:ext cx="2863007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05" name="Shape 287"/>
          <p:cNvSpPr/>
          <p:nvPr/>
        </p:nvSpPr>
        <p:spPr>
          <a:xfrm>
            <a:off x="11418689" y="2494508"/>
            <a:ext cx="2863007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06" name="Shape 288"/>
          <p:cNvSpPr/>
          <p:nvPr/>
        </p:nvSpPr>
        <p:spPr>
          <a:xfrm>
            <a:off x="11418689" y="2084933"/>
            <a:ext cx="9525" cy="4191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07" name="Shape 289"/>
          <p:cNvSpPr/>
          <p:nvPr/>
        </p:nvSpPr>
        <p:spPr>
          <a:xfrm>
            <a:off x="14272171" y="2084933"/>
            <a:ext cx="9525" cy="4191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08" name="Text 290"/>
          <p:cNvSpPr/>
          <p:nvPr/>
        </p:nvSpPr>
        <p:spPr>
          <a:xfrm>
            <a:off x="11532989" y="2212378"/>
            <a:ext cx="2690033" cy="191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</a:t>
            </a:r>
            <a:endParaRPr lang="en-US" sz="1050" dirty="0"/>
          </a:p>
        </p:txBody>
      </p:sp>
      <p:sp>
        <p:nvSpPr>
          <p:cNvPr id="309" name="Text 291"/>
          <p:cNvSpPr/>
          <p:nvPr/>
        </p:nvSpPr>
        <p:spPr>
          <a:xfrm>
            <a:off x="14395996" y="183709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75" dirty="0"/>
          </a:p>
        </p:txBody>
      </p:sp>
      <p:sp>
        <p:nvSpPr>
          <p:cNvPr id="310" name="Shape 292"/>
          <p:cNvSpPr/>
          <p:nvPr/>
        </p:nvSpPr>
        <p:spPr>
          <a:xfrm>
            <a:off x="14395996" y="2084933"/>
            <a:ext cx="2863007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293"/>
          <p:cNvSpPr/>
          <p:nvPr/>
        </p:nvSpPr>
        <p:spPr>
          <a:xfrm>
            <a:off x="14395996" y="2084933"/>
            <a:ext cx="2863007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12" name="Shape 294"/>
          <p:cNvSpPr/>
          <p:nvPr/>
        </p:nvSpPr>
        <p:spPr>
          <a:xfrm>
            <a:off x="14395996" y="2494508"/>
            <a:ext cx="2863007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13" name="Shape 295"/>
          <p:cNvSpPr/>
          <p:nvPr/>
        </p:nvSpPr>
        <p:spPr>
          <a:xfrm>
            <a:off x="14395996" y="2084933"/>
            <a:ext cx="9525" cy="4191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14" name="Shape 296"/>
          <p:cNvSpPr/>
          <p:nvPr/>
        </p:nvSpPr>
        <p:spPr>
          <a:xfrm>
            <a:off x="17249477" y="2084933"/>
            <a:ext cx="9525" cy="4191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15" name="Text 297"/>
          <p:cNvSpPr/>
          <p:nvPr/>
        </p:nvSpPr>
        <p:spPr>
          <a:xfrm>
            <a:off x="14510296" y="2212378"/>
            <a:ext cx="2690033" cy="191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全部通道</a:t>
            </a:r>
            <a:endParaRPr lang="en-US" sz="1050" dirty="0"/>
          </a:p>
        </p:txBody>
      </p:sp>
      <p:sp>
        <p:nvSpPr>
          <p:cNvPr id="316" name="Shape 298"/>
          <p:cNvSpPr/>
          <p:nvPr/>
        </p:nvSpPr>
        <p:spPr>
          <a:xfrm>
            <a:off x="17373302" y="2084933"/>
            <a:ext cx="667048" cy="419100"/>
          </a:xfrm>
          <a:prstGeom prst="roundRect">
            <a:avLst>
              <a:gd name="adj" fmla="val 1590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17" name="Shape 299"/>
          <p:cNvSpPr/>
          <p:nvPr/>
        </p:nvSpPr>
        <p:spPr>
          <a:xfrm>
            <a:off x="17373302" y="2084933"/>
            <a:ext cx="667048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18" name="Shape 300"/>
          <p:cNvSpPr/>
          <p:nvPr/>
        </p:nvSpPr>
        <p:spPr>
          <a:xfrm>
            <a:off x="17373302" y="2494508"/>
            <a:ext cx="667048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19" name="Shape 301"/>
          <p:cNvSpPr/>
          <p:nvPr/>
        </p:nvSpPr>
        <p:spPr>
          <a:xfrm>
            <a:off x="17373302" y="2084933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20" name="Shape 302"/>
          <p:cNvSpPr/>
          <p:nvPr/>
        </p:nvSpPr>
        <p:spPr>
          <a:xfrm>
            <a:off x="18030825" y="2084933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21" name="Text 303"/>
          <p:cNvSpPr/>
          <p:nvPr/>
        </p:nvSpPr>
        <p:spPr>
          <a:xfrm>
            <a:off x="17554277" y="2184755"/>
            <a:ext cx="341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</a:t>
            </a:r>
            <a:endParaRPr lang="en-US" sz="1200" dirty="0"/>
          </a:p>
        </p:txBody>
      </p:sp>
      <p:sp>
        <p:nvSpPr>
          <p:cNvPr id="322" name="Text 304"/>
          <p:cNvSpPr/>
          <p:nvPr/>
        </p:nvSpPr>
        <p:spPr>
          <a:xfrm>
            <a:off x="7296150" y="2796736"/>
            <a:ext cx="31205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 </a:t>
            </a:r>
            <a:endParaRPr lang="en-US" sz="975" dirty="0"/>
          </a:p>
        </p:txBody>
      </p:sp>
      <p:sp>
        <p:nvSpPr>
          <p:cNvPr id="323" name="Shape 305"/>
          <p:cNvSpPr/>
          <p:nvPr/>
        </p:nvSpPr>
        <p:spPr>
          <a:xfrm>
            <a:off x="7571631" y="2656433"/>
            <a:ext cx="1362075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06"/>
          <p:cNvSpPr/>
          <p:nvPr/>
        </p:nvSpPr>
        <p:spPr>
          <a:xfrm>
            <a:off x="7571631" y="2656433"/>
            <a:ext cx="1362075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25" name="Shape 307"/>
          <p:cNvSpPr/>
          <p:nvPr/>
        </p:nvSpPr>
        <p:spPr>
          <a:xfrm>
            <a:off x="7571631" y="3104108"/>
            <a:ext cx="1362075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26" name="Shape 308"/>
          <p:cNvSpPr/>
          <p:nvPr/>
        </p:nvSpPr>
        <p:spPr>
          <a:xfrm>
            <a:off x="7571631" y="2656433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27" name="Shape 309"/>
          <p:cNvSpPr/>
          <p:nvPr/>
        </p:nvSpPr>
        <p:spPr>
          <a:xfrm>
            <a:off x="8924181" y="2656433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28" name="Text 310"/>
          <p:cNvSpPr/>
          <p:nvPr/>
        </p:nvSpPr>
        <p:spPr>
          <a:xfrm>
            <a:off x="7685931" y="2809119"/>
            <a:ext cx="1189101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</a:t>
            </a:r>
            <a:endParaRPr lang="en-US" sz="975" dirty="0"/>
          </a:p>
        </p:txBody>
      </p:sp>
      <p:sp>
        <p:nvSpPr>
          <p:cNvPr id="329" name="Text 311"/>
          <p:cNvSpPr/>
          <p:nvPr/>
        </p:nvSpPr>
        <p:spPr>
          <a:xfrm>
            <a:off x="9048006" y="2796736"/>
            <a:ext cx="31205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 </a:t>
            </a:r>
            <a:endParaRPr lang="en-US" sz="975" dirty="0"/>
          </a:p>
        </p:txBody>
      </p:sp>
      <p:sp>
        <p:nvSpPr>
          <p:cNvPr id="330" name="Shape 312"/>
          <p:cNvSpPr/>
          <p:nvPr/>
        </p:nvSpPr>
        <p:spPr>
          <a:xfrm>
            <a:off x="9323487" y="2656433"/>
            <a:ext cx="1362075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13"/>
          <p:cNvSpPr/>
          <p:nvPr/>
        </p:nvSpPr>
        <p:spPr>
          <a:xfrm>
            <a:off x="9323487" y="2656433"/>
            <a:ext cx="1362075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32" name="Shape 314"/>
          <p:cNvSpPr/>
          <p:nvPr/>
        </p:nvSpPr>
        <p:spPr>
          <a:xfrm>
            <a:off x="9323487" y="3104108"/>
            <a:ext cx="1362075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33" name="Shape 315"/>
          <p:cNvSpPr/>
          <p:nvPr/>
        </p:nvSpPr>
        <p:spPr>
          <a:xfrm>
            <a:off x="9323487" y="2656433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34" name="Shape 316"/>
          <p:cNvSpPr/>
          <p:nvPr/>
        </p:nvSpPr>
        <p:spPr>
          <a:xfrm>
            <a:off x="10676037" y="2656433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335" name="Text 317"/>
          <p:cNvSpPr/>
          <p:nvPr/>
        </p:nvSpPr>
        <p:spPr>
          <a:xfrm>
            <a:off x="9437787" y="2809119"/>
            <a:ext cx="1189101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</a:t>
            </a:r>
            <a:endParaRPr lang="en-US" sz="975" dirty="0"/>
          </a:p>
        </p:txBody>
      </p:sp>
      <p:sp>
        <p:nvSpPr>
          <p:cNvPr id="336" name="Shape 318"/>
          <p:cNvSpPr/>
          <p:nvPr/>
        </p:nvSpPr>
        <p:spPr>
          <a:xfrm>
            <a:off x="16725900" y="2675483"/>
            <a:ext cx="131445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19"/>
          <p:cNvSpPr/>
          <p:nvPr/>
        </p:nvSpPr>
        <p:spPr>
          <a:xfrm>
            <a:off x="16725900" y="267548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8" name="Shape 320"/>
          <p:cNvSpPr/>
          <p:nvPr/>
        </p:nvSpPr>
        <p:spPr>
          <a:xfrm>
            <a:off x="16725900" y="308505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9" name="Shape 321"/>
          <p:cNvSpPr/>
          <p:nvPr/>
        </p:nvSpPr>
        <p:spPr>
          <a:xfrm>
            <a:off x="16725900" y="267548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0" name="Shape 322"/>
          <p:cNvSpPr/>
          <p:nvPr/>
        </p:nvSpPr>
        <p:spPr>
          <a:xfrm>
            <a:off x="18030825" y="267548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34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849725" y="2789783"/>
            <a:ext cx="190500" cy="190500"/>
          </a:xfrm>
          <a:prstGeom prst="rect">
            <a:avLst/>
          </a:prstGeom>
        </p:spPr>
      </p:pic>
      <p:sp>
        <p:nvSpPr>
          <p:cNvPr id="342" name="Text 323"/>
          <p:cNvSpPr/>
          <p:nvPr/>
        </p:nvSpPr>
        <p:spPr>
          <a:xfrm>
            <a:off x="17116425" y="2789593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导出当前结果</a:t>
            </a:r>
            <a:endParaRPr lang="en-US" sz="1050" dirty="0"/>
          </a:p>
        </p:txBody>
      </p:sp>
      <p:sp>
        <p:nvSpPr>
          <p:cNvPr id="343" name="Shape 324"/>
          <p:cNvSpPr/>
          <p:nvPr/>
        </p:nvSpPr>
        <p:spPr>
          <a:xfrm>
            <a:off x="7296150" y="3285083"/>
            <a:ext cx="132248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44" name="Shape 325"/>
          <p:cNvSpPr/>
          <p:nvPr/>
        </p:nvSpPr>
        <p:spPr>
          <a:xfrm>
            <a:off x="7296150" y="3585121"/>
            <a:ext cx="132248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5" name="Text 326"/>
          <p:cNvSpPr/>
          <p:nvPr/>
        </p:nvSpPr>
        <p:spPr>
          <a:xfrm>
            <a:off x="7429500" y="3356330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346" name="Shape 327"/>
          <p:cNvSpPr/>
          <p:nvPr/>
        </p:nvSpPr>
        <p:spPr>
          <a:xfrm>
            <a:off x="8618637" y="3285083"/>
            <a:ext cx="895052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47" name="Shape 328"/>
          <p:cNvSpPr/>
          <p:nvPr/>
        </p:nvSpPr>
        <p:spPr>
          <a:xfrm>
            <a:off x="8618637" y="3585121"/>
            <a:ext cx="895052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8" name="Text 329"/>
          <p:cNvSpPr/>
          <p:nvPr/>
        </p:nvSpPr>
        <p:spPr>
          <a:xfrm>
            <a:off x="8751987" y="3356330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349" name="Shape 330"/>
          <p:cNvSpPr/>
          <p:nvPr/>
        </p:nvSpPr>
        <p:spPr>
          <a:xfrm>
            <a:off x="9513689" y="3285083"/>
            <a:ext cx="202331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50" name="Shape 331"/>
          <p:cNvSpPr/>
          <p:nvPr/>
        </p:nvSpPr>
        <p:spPr>
          <a:xfrm>
            <a:off x="9513689" y="3585121"/>
            <a:ext cx="202331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1" name="Text 332"/>
          <p:cNvSpPr/>
          <p:nvPr/>
        </p:nvSpPr>
        <p:spPr>
          <a:xfrm>
            <a:off x="9647039" y="3356330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352" name="Shape 333"/>
          <p:cNvSpPr/>
          <p:nvPr/>
        </p:nvSpPr>
        <p:spPr>
          <a:xfrm>
            <a:off x="11537007" y="3285083"/>
            <a:ext cx="108882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53" name="Shape 334"/>
          <p:cNvSpPr/>
          <p:nvPr/>
        </p:nvSpPr>
        <p:spPr>
          <a:xfrm>
            <a:off x="11537007" y="3585121"/>
            <a:ext cx="108882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4" name="Text 335"/>
          <p:cNvSpPr/>
          <p:nvPr/>
        </p:nvSpPr>
        <p:spPr>
          <a:xfrm>
            <a:off x="11670357" y="3356330"/>
            <a:ext cx="37739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作业ID</a:t>
            </a:r>
            <a:endParaRPr lang="en-US" sz="900" dirty="0"/>
          </a:p>
        </p:txBody>
      </p:sp>
      <p:sp>
        <p:nvSpPr>
          <p:cNvPr id="355" name="Shape 336"/>
          <p:cNvSpPr/>
          <p:nvPr/>
        </p:nvSpPr>
        <p:spPr>
          <a:xfrm>
            <a:off x="12625834" y="3285083"/>
            <a:ext cx="720775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56" name="Shape 337"/>
          <p:cNvSpPr/>
          <p:nvPr/>
        </p:nvSpPr>
        <p:spPr>
          <a:xfrm>
            <a:off x="12625834" y="3585121"/>
            <a:ext cx="72077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7" name="Text 338"/>
          <p:cNvSpPr/>
          <p:nvPr/>
        </p:nvSpPr>
        <p:spPr>
          <a:xfrm>
            <a:off x="12759184" y="3356330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格口</a:t>
            </a:r>
            <a:endParaRPr lang="en-US" sz="900" dirty="0"/>
          </a:p>
        </p:txBody>
      </p:sp>
      <p:sp>
        <p:nvSpPr>
          <p:cNvPr id="358" name="Shape 339"/>
          <p:cNvSpPr/>
          <p:nvPr/>
        </p:nvSpPr>
        <p:spPr>
          <a:xfrm>
            <a:off x="13346609" y="3285083"/>
            <a:ext cx="952202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59" name="Shape 340"/>
          <p:cNvSpPr/>
          <p:nvPr/>
        </p:nvSpPr>
        <p:spPr>
          <a:xfrm>
            <a:off x="13346609" y="3585121"/>
            <a:ext cx="952202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0" name="Text 341"/>
          <p:cNvSpPr/>
          <p:nvPr/>
        </p:nvSpPr>
        <p:spPr>
          <a:xfrm>
            <a:off x="13479959" y="3356330"/>
            <a:ext cx="4244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接受/件</a:t>
            </a:r>
            <a:endParaRPr lang="en-US" sz="900" dirty="0"/>
          </a:p>
        </p:txBody>
      </p:sp>
      <p:sp>
        <p:nvSpPr>
          <p:cNvPr id="361" name="Shape 342"/>
          <p:cNvSpPr/>
          <p:nvPr/>
        </p:nvSpPr>
        <p:spPr>
          <a:xfrm>
            <a:off x="14298811" y="3285083"/>
            <a:ext cx="1634282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62" name="Shape 343"/>
          <p:cNvSpPr/>
          <p:nvPr/>
        </p:nvSpPr>
        <p:spPr>
          <a:xfrm>
            <a:off x="14298811" y="3585121"/>
            <a:ext cx="1634282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3" name="Text 344"/>
          <p:cNvSpPr/>
          <p:nvPr/>
        </p:nvSpPr>
        <p:spPr>
          <a:xfrm>
            <a:off x="14432161" y="3356330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业务结果</a:t>
            </a:r>
            <a:endParaRPr lang="en-US" sz="900" dirty="0"/>
          </a:p>
        </p:txBody>
      </p:sp>
      <p:sp>
        <p:nvSpPr>
          <p:cNvPr id="364" name="Shape 345"/>
          <p:cNvSpPr/>
          <p:nvPr/>
        </p:nvSpPr>
        <p:spPr>
          <a:xfrm>
            <a:off x="15933093" y="3285083"/>
            <a:ext cx="105325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65" name="Shape 346"/>
          <p:cNvSpPr/>
          <p:nvPr/>
        </p:nvSpPr>
        <p:spPr>
          <a:xfrm>
            <a:off x="15933093" y="3585121"/>
            <a:ext cx="105325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6" name="Text 347"/>
          <p:cNvSpPr/>
          <p:nvPr/>
        </p:nvSpPr>
        <p:spPr>
          <a:xfrm>
            <a:off x="16066443" y="3356330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发送次数</a:t>
            </a:r>
            <a:endParaRPr lang="en-US" sz="900" dirty="0"/>
          </a:p>
        </p:txBody>
      </p:sp>
      <p:sp>
        <p:nvSpPr>
          <p:cNvPr id="367" name="Shape 348"/>
          <p:cNvSpPr/>
          <p:nvPr/>
        </p:nvSpPr>
        <p:spPr>
          <a:xfrm>
            <a:off x="16986349" y="3285083"/>
            <a:ext cx="105400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68" name="Shape 349"/>
          <p:cNvSpPr/>
          <p:nvPr/>
        </p:nvSpPr>
        <p:spPr>
          <a:xfrm>
            <a:off x="16986349" y="3585121"/>
            <a:ext cx="105400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9" name="Text 350"/>
          <p:cNvSpPr/>
          <p:nvPr/>
        </p:nvSpPr>
        <p:spPr>
          <a:xfrm>
            <a:off x="17119699" y="3356330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900" dirty="0"/>
          </a:p>
        </p:txBody>
      </p:sp>
      <p:sp>
        <p:nvSpPr>
          <p:cNvPr id="370" name="Shape 351"/>
          <p:cNvSpPr/>
          <p:nvPr/>
        </p:nvSpPr>
        <p:spPr>
          <a:xfrm>
            <a:off x="7296150" y="4128046"/>
            <a:ext cx="132248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71" name="Text 352"/>
          <p:cNvSpPr/>
          <p:nvPr/>
        </p:nvSpPr>
        <p:spPr>
          <a:xfrm>
            <a:off x="7429500" y="3789718"/>
            <a:ext cx="67891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1050" dirty="0"/>
          </a:p>
        </p:txBody>
      </p:sp>
      <p:sp>
        <p:nvSpPr>
          <p:cNvPr id="372" name="Shape 353"/>
          <p:cNvSpPr/>
          <p:nvPr/>
        </p:nvSpPr>
        <p:spPr>
          <a:xfrm>
            <a:off x="8618637" y="4128046"/>
            <a:ext cx="89505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73" name="Text 354"/>
          <p:cNvSpPr/>
          <p:nvPr/>
        </p:nvSpPr>
        <p:spPr>
          <a:xfrm>
            <a:off x="8751987" y="3770668"/>
            <a:ext cx="38513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1050" dirty="0"/>
          </a:p>
        </p:txBody>
      </p:sp>
      <p:sp>
        <p:nvSpPr>
          <p:cNvPr id="374" name="Shape 355"/>
          <p:cNvSpPr/>
          <p:nvPr/>
        </p:nvSpPr>
        <p:spPr>
          <a:xfrm>
            <a:off x="9513689" y="4128046"/>
            <a:ext cx="202331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75" name="Text 356"/>
          <p:cNvSpPr/>
          <p:nvPr/>
        </p:nvSpPr>
        <p:spPr>
          <a:xfrm>
            <a:off x="9647039" y="3789718"/>
            <a:ext cx="116067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1050" dirty="0"/>
          </a:p>
        </p:txBody>
      </p:sp>
      <p:sp>
        <p:nvSpPr>
          <p:cNvPr id="376" name="Shape 357"/>
          <p:cNvSpPr/>
          <p:nvPr/>
        </p:nvSpPr>
        <p:spPr>
          <a:xfrm>
            <a:off x="11537007" y="4128046"/>
            <a:ext cx="108882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77" name="Text 358"/>
          <p:cNvSpPr/>
          <p:nvPr/>
        </p:nvSpPr>
        <p:spPr>
          <a:xfrm>
            <a:off x="11670357" y="3789718"/>
            <a:ext cx="5183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OP-004</a:t>
            </a:r>
            <a:endParaRPr lang="en-US" sz="1050" dirty="0"/>
          </a:p>
        </p:txBody>
      </p:sp>
      <p:sp>
        <p:nvSpPr>
          <p:cNvPr id="378" name="Shape 359"/>
          <p:cNvSpPr/>
          <p:nvPr/>
        </p:nvSpPr>
        <p:spPr>
          <a:xfrm>
            <a:off x="12625834" y="4128046"/>
            <a:ext cx="720775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79" name="Text 360"/>
          <p:cNvSpPr/>
          <p:nvPr/>
        </p:nvSpPr>
        <p:spPr>
          <a:xfrm>
            <a:off x="12759184" y="3770668"/>
            <a:ext cx="25862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1050" dirty="0"/>
          </a:p>
        </p:txBody>
      </p:sp>
      <p:sp>
        <p:nvSpPr>
          <p:cNvPr id="380" name="Shape 361"/>
          <p:cNvSpPr/>
          <p:nvPr/>
        </p:nvSpPr>
        <p:spPr>
          <a:xfrm>
            <a:off x="13346609" y="4128046"/>
            <a:ext cx="95220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81" name="Text 362"/>
          <p:cNvSpPr/>
          <p:nvPr/>
        </p:nvSpPr>
        <p:spPr>
          <a:xfrm>
            <a:off x="14004875" y="3789718"/>
            <a:ext cx="19716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</p:txBody>
      </p:sp>
      <p:sp>
        <p:nvSpPr>
          <p:cNvPr id="382" name="Shape 363"/>
          <p:cNvSpPr/>
          <p:nvPr/>
        </p:nvSpPr>
        <p:spPr>
          <a:xfrm>
            <a:off x="14298811" y="4128046"/>
            <a:ext cx="163428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83" name="Shape 364"/>
          <p:cNvSpPr/>
          <p:nvPr/>
        </p:nvSpPr>
        <p:spPr>
          <a:xfrm>
            <a:off x="14432161" y="3768477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384" name="Shape 365"/>
          <p:cNvSpPr/>
          <p:nvPr/>
        </p:nvSpPr>
        <p:spPr>
          <a:xfrm>
            <a:off x="14498836" y="383991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85" name="Text 366"/>
          <p:cNvSpPr/>
          <p:nvPr/>
        </p:nvSpPr>
        <p:spPr>
          <a:xfrm>
            <a:off x="14632186" y="3792099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386" name="Shape 367"/>
          <p:cNvSpPr/>
          <p:nvPr/>
        </p:nvSpPr>
        <p:spPr>
          <a:xfrm>
            <a:off x="15933093" y="4128046"/>
            <a:ext cx="105325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87" name="Text 368"/>
          <p:cNvSpPr/>
          <p:nvPr/>
        </p:nvSpPr>
        <p:spPr>
          <a:xfrm>
            <a:off x="16772632" y="3789718"/>
            <a:ext cx="11694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388" name="Shape 369"/>
          <p:cNvSpPr/>
          <p:nvPr/>
        </p:nvSpPr>
        <p:spPr>
          <a:xfrm>
            <a:off x="16986349" y="4128046"/>
            <a:ext cx="105400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89" name="Text 370"/>
          <p:cNvSpPr/>
          <p:nvPr/>
        </p:nvSpPr>
        <p:spPr>
          <a:xfrm>
            <a:off x="17224474" y="3777811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390" name="Shape 371"/>
          <p:cNvSpPr/>
          <p:nvPr/>
        </p:nvSpPr>
        <p:spPr>
          <a:xfrm>
            <a:off x="7296150" y="4670971"/>
            <a:ext cx="132248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91" name="Text 372"/>
          <p:cNvSpPr/>
          <p:nvPr/>
        </p:nvSpPr>
        <p:spPr>
          <a:xfrm>
            <a:off x="7429500" y="4332643"/>
            <a:ext cx="67891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1050" dirty="0"/>
          </a:p>
        </p:txBody>
      </p:sp>
      <p:sp>
        <p:nvSpPr>
          <p:cNvPr id="392" name="Shape 373"/>
          <p:cNvSpPr/>
          <p:nvPr/>
        </p:nvSpPr>
        <p:spPr>
          <a:xfrm>
            <a:off x="8618637" y="4670971"/>
            <a:ext cx="89505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93" name="Text 374"/>
          <p:cNvSpPr/>
          <p:nvPr/>
        </p:nvSpPr>
        <p:spPr>
          <a:xfrm>
            <a:off x="8751987" y="4313593"/>
            <a:ext cx="38513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1050" dirty="0"/>
          </a:p>
        </p:txBody>
      </p:sp>
      <p:sp>
        <p:nvSpPr>
          <p:cNvPr id="394" name="Shape 375"/>
          <p:cNvSpPr/>
          <p:nvPr/>
        </p:nvSpPr>
        <p:spPr>
          <a:xfrm>
            <a:off x="9513689" y="4670971"/>
            <a:ext cx="202331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95" name="Text 376"/>
          <p:cNvSpPr/>
          <p:nvPr/>
        </p:nvSpPr>
        <p:spPr>
          <a:xfrm>
            <a:off x="9647039" y="4332643"/>
            <a:ext cx="116067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1050" dirty="0"/>
          </a:p>
        </p:txBody>
      </p:sp>
      <p:sp>
        <p:nvSpPr>
          <p:cNvPr id="396" name="Shape 377"/>
          <p:cNvSpPr/>
          <p:nvPr/>
        </p:nvSpPr>
        <p:spPr>
          <a:xfrm>
            <a:off x="11537007" y="4670971"/>
            <a:ext cx="108882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97" name="Text 378"/>
          <p:cNvSpPr/>
          <p:nvPr/>
        </p:nvSpPr>
        <p:spPr>
          <a:xfrm>
            <a:off x="11670357" y="4332643"/>
            <a:ext cx="5183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OP-003</a:t>
            </a:r>
            <a:endParaRPr lang="en-US" sz="1050" dirty="0"/>
          </a:p>
        </p:txBody>
      </p:sp>
      <p:sp>
        <p:nvSpPr>
          <p:cNvPr id="398" name="Shape 379"/>
          <p:cNvSpPr/>
          <p:nvPr/>
        </p:nvSpPr>
        <p:spPr>
          <a:xfrm>
            <a:off x="12625834" y="4670971"/>
            <a:ext cx="720775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99" name="Text 380"/>
          <p:cNvSpPr/>
          <p:nvPr/>
        </p:nvSpPr>
        <p:spPr>
          <a:xfrm>
            <a:off x="12759184" y="4313593"/>
            <a:ext cx="25862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1050" dirty="0"/>
          </a:p>
        </p:txBody>
      </p:sp>
      <p:sp>
        <p:nvSpPr>
          <p:cNvPr id="400" name="Shape 381"/>
          <p:cNvSpPr/>
          <p:nvPr/>
        </p:nvSpPr>
        <p:spPr>
          <a:xfrm>
            <a:off x="13346609" y="4670971"/>
            <a:ext cx="95220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01" name="Text 382"/>
          <p:cNvSpPr/>
          <p:nvPr/>
        </p:nvSpPr>
        <p:spPr>
          <a:xfrm>
            <a:off x="14085094" y="4332643"/>
            <a:ext cx="11694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402" name="Shape 383"/>
          <p:cNvSpPr/>
          <p:nvPr/>
        </p:nvSpPr>
        <p:spPr>
          <a:xfrm>
            <a:off x="14298811" y="4670971"/>
            <a:ext cx="163428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03" name="Shape 384"/>
          <p:cNvSpPr/>
          <p:nvPr/>
        </p:nvSpPr>
        <p:spPr>
          <a:xfrm>
            <a:off x="14432161" y="4311402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04" name="Shape 385"/>
          <p:cNvSpPr/>
          <p:nvPr/>
        </p:nvSpPr>
        <p:spPr>
          <a:xfrm>
            <a:off x="14498836" y="438283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05" name="Text 386"/>
          <p:cNvSpPr/>
          <p:nvPr/>
        </p:nvSpPr>
        <p:spPr>
          <a:xfrm>
            <a:off x="14632186" y="4335024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406" name="Shape 387"/>
          <p:cNvSpPr/>
          <p:nvPr/>
        </p:nvSpPr>
        <p:spPr>
          <a:xfrm>
            <a:off x="15933093" y="4670971"/>
            <a:ext cx="105325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07" name="Text 388"/>
          <p:cNvSpPr/>
          <p:nvPr/>
        </p:nvSpPr>
        <p:spPr>
          <a:xfrm>
            <a:off x="16772632" y="4332643"/>
            <a:ext cx="11694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08" name="Shape 389"/>
          <p:cNvSpPr/>
          <p:nvPr/>
        </p:nvSpPr>
        <p:spPr>
          <a:xfrm>
            <a:off x="16986349" y="4670971"/>
            <a:ext cx="105400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09" name="Text 390"/>
          <p:cNvSpPr/>
          <p:nvPr/>
        </p:nvSpPr>
        <p:spPr>
          <a:xfrm>
            <a:off x="17224474" y="432073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410" name="Shape 391"/>
          <p:cNvSpPr/>
          <p:nvPr/>
        </p:nvSpPr>
        <p:spPr>
          <a:xfrm>
            <a:off x="7296150" y="5213896"/>
            <a:ext cx="132248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11" name="Text 392"/>
          <p:cNvSpPr/>
          <p:nvPr/>
        </p:nvSpPr>
        <p:spPr>
          <a:xfrm>
            <a:off x="7429500" y="4875568"/>
            <a:ext cx="67891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14:30:12</a:t>
            </a:r>
            <a:endParaRPr lang="en-US" sz="1050" dirty="0"/>
          </a:p>
        </p:txBody>
      </p:sp>
      <p:sp>
        <p:nvSpPr>
          <p:cNvPr id="412" name="Shape 393"/>
          <p:cNvSpPr/>
          <p:nvPr/>
        </p:nvSpPr>
        <p:spPr>
          <a:xfrm>
            <a:off x="8618637" y="5213896"/>
            <a:ext cx="89505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13" name="Text 394"/>
          <p:cNvSpPr/>
          <p:nvPr/>
        </p:nvSpPr>
        <p:spPr>
          <a:xfrm>
            <a:off x="8751987" y="4856518"/>
            <a:ext cx="38513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1050" dirty="0"/>
          </a:p>
        </p:txBody>
      </p:sp>
      <p:sp>
        <p:nvSpPr>
          <p:cNvPr id="414" name="Shape 395"/>
          <p:cNvSpPr/>
          <p:nvPr/>
        </p:nvSpPr>
        <p:spPr>
          <a:xfrm>
            <a:off x="9513689" y="5213896"/>
            <a:ext cx="202331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15" name="Text 396"/>
          <p:cNvSpPr/>
          <p:nvPr/>
        </p:nvSpPr>
        <p:spPr>
          <a:xfrm>
            <a:off x="9647039" y="4875568"/>
            <a:ext cx="116067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06902827041372</a:t>
            </a:r>
            <a:endParaRPr lang="en-US" sz="1050" dirty="0"/>
          </a:p>
        </p:txBody>
      </p:sp>
      <p:sp>
        <p:nvSpPr>
          <p:cNvPr id="416" name="Shape 397"/>
          <p:cNvSpPr/>
          <p:nvPr/>
        </p:nvSpPr>
        <p:spPr>
          <a:xfrm>
            <a:off x="11537007" y="5213896"/>
            <a:ext cx="108882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17" name="Text 398"/>
          <p:cNvSpPr/>
          <p:nvPr/>
        </p:nvSpPr>
        <p:spPr>
          <a:xfrm>
            <a:off x="11670357" y="4875568"/>
            <a:ext cx="5183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OP-002</a:t>
            </a:r>
            <a:endParaRPr lang="en-US" sz="1050" dirty="0"/>
          </a:p>
        </p:txBody>
      </p:sp>
      <p:sp>
        <p:nvSpPr>
          <p:cNvPr id="418" name="Shape 399"/>
          <p:cNvSpPr/>
          <p:nvPr/>
        </p:nvSpPr>
        <p:spPr>
          <a:xfrm>
            <a:off x="12625834" y="5213896"/>
            <a:ext cx="720775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19" name="Text 400"/>
          <p:cNvSpPr/>
          <p:nvPr/>
        </p:nvSpPr>
        <p:spPr>
          <a:xfrm>
            <a:off x="12759184" y="4856518"/>
            <a:ext cx="15593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50" dirty="0"/>
          </a:p>
        </p:txBody>
      </p:sp>
      <p:sp>
        <p:nvSpPr>
          <p:cNvPr id="420" name="Shape 401"/>
          <p:cNvSpPr/>
          <p:nvPr/>
        </p:nvSpPr>
        <p:spPr>
          <a:xfrm>
            <a:off x="13346609" y="5213896"/>
            <a:ext cx="95220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21" name="Text 402"/>
          <p:cNvSpPr/>
          <p:nvPr/>
        </p:nvSpPr>
        <p:spPr>
          <a:xfrm>
            <a:off x="14085094" y="4875568"/>
            <a:ext cx="11694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422" name="Shape 403"/>
          <p:cNvSpPr/>
          <p:nvPr/>
        </p:nvSpPr>
        <p:spPr>
          <a:xfrm>
            <a:off x="14298811" y="5213896"/>
            <a:ext cx="163428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23" name="Shape 404"/>
          <p:cNvSpPr/>
          <p:nvPr/>
        </p:nvSpPr>
        <p:spPr>
          <a:xfrm>
            <a:off x="14432161" y="4854327"/>
            <a:ext cx="609749" cy="209550"/>
          </a:xfrm>
          <a:prstGeom prst="roundRect">
            <a:avLst>
              <a:gd name="adj" fmla="val 22727"/>
            </a:avLst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424" name="Shape 405"/>
          <p:cNvSpPr/>
          <p:nvPr/>
        </p:nvSpPr>
        <p:spPr>
          <a:xfrm>
            <a:off x="14498836" y="492576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425" name="Text 406"/>
          <p:cNvSpPr/>
          <p:nvPr/>
        </p:nvSpPr>
        <p:spPr>
          <a:xfrm>
            <a:off x="14632186" y="4877949"/>
            <a:ext cx="3796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已拒绝</a:t>
            </a:r>
            <a:endParaRPr lang="en-US" sz="900" dirty="0"/>
          </a:p>
        </p:txBody>
      </p:sp>
      <p:sp>
        <p:nvSpPr>
          <p:cNvPr id="426" name="Shape 407"/>
          <p:cNvSpPr/>
          <p:nvPr/>
        </p:nvSpPr>
        <p:spPr>
          <a:xfrm>
            <a:off x="15933093" y="5213896"/>
            <a:ext cx="105325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27" name="Text 408"/>
          <p:cNvSpPr/>
          <p:nvPr/>
        </p:nvSpPr>
        <p:spPr>
          <a:xfrm>
            <a:off x="16772632" y="4875568"/>
            <a:ext cx="11694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28" name="Shape 409"/>
          <p:cNvSpPr/>
          <p:nvPr/>
        </p:nvSpPr>
        <p:spPr>
          <a:xfrm>
            <a:off x="16986349" y="5213896"/>
            <a:ext cx="105400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29" name="Text 410"/>
          <p:cNvSpPr/>
          <p:nvPr/>
        </p:nvSpPr>
        <p:spPr>
          <a:xfrm>
            <a:off x="17224474" y="4863661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430" name="Shape 411"/>
          <p:cNvSpPr/>
          <p:nvPr/>
        </p:nvSpPr>
        <p:spPr>
          <a:xfrm>
            <a:off x="7296150" y="5756821"/>
            <a:ext cx="132248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31" name="Text 412"/>
          <p:cNvSpPr/>
          <p:nvPr/>
        </p:nvSpPr>
        <p:spPr>
          <a:xfrm>
            <a:off x="7429500" y="5418493"/>
            <a:ext cx="67891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14:29:26</a:t>
            </a:r>
            <a:endParaRPr lang="en-US" sz="1050" dirty="0"/>
          </a:p>
        </p:txBody>
      </p:sp>
      <p:sp>
        <p:nvSpPr>
          <p:cNvPr id="432" name="Shape 413"/>
          <p:cNvSpPr/>
          <p:nvPr/>
        </p:nvSpPr>
        <p:spPr>
          <a:xfrm>
            <a:off x="8618637" y="5756821"/>
            <a:ext cx="89505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33" name="Text 414"/>
          <p:cNvSpPr/>
          <p:nvPr/>
        </p:nvSpPr>
        <p:spPr>
          <a:xfrm>
            <a:off x="8751987" y="5399443"/>
            <a:ext cx="38513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1050" dirty="0"/>
          </a:p>
        </p:txBody>
      </p:sp>
      <p:sp>
        <p:nvSpPr>
          <p:cNvPr id="434" name="Shape 415"/>
          <p:cNvSpPr/>
          <p:nvPr/>
        </p:nvSpPr>
        <p:spPr>
          <a:xfrm>
            <a:off x="9513689" y="5756821"/>
            <a:ext cx="202331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35" name="Text 416"/>
          <p:cNvSpPr/>
          <p:nvPr/>
        </p:nvSpPr>
        <p:spPr>
          <a:xfrm>
            <a:off x="9647039" y="5418493"/>
            <a:ext cx="116067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1050" dirty="0"/>
          </a:p>
        </p:txBody>
      </p:sp>
      <p:sp>
        <p:nvSpPr>
          <p:cNvPr id="436" name="Shape 417"/>
          <p:cNvSpPr/>
          <p:nvPr/>
        </p:nvSpPr>
        <p:spPr>
          <a:xfrm>
            <a:off x="11537007" y="5756821"/>
            <a:ext cx="108882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37" name="Text 418"/>
          <p:cNvSpPr/>
          <p:nvPr/>
        </p:nvSpPr>
        <p:spPr>
          <a:xfrm>
            <a:off x="11670357" y="5418493"/>
            <a:ext cx="5183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OP-001</a:t>
            </a:r>
            <a:endParaRPr lang="en-US" sz="1050" dirty="0"/>
          </a:p>
        </p:txBody>
      </p:sp>
      <p:sp>
        <p:nvSpPr>
          <p:cNvPr id="438" name="Shape 419"/>
          <p:cNvSpPr/>
          <p:nvPr/>
        </p:nvSpPr>
        <p:spPr>
          <a:xfrm>
            <a:off x="12625834" y="5756821"/>
            <a:ext cx="720775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39" name="Text 420"/>
          <p:cNvSpPr/>
          <p:nvPr/>
        </p:nvSpPr>
        <p:spPr>
          <a:xfrm>
            <a:off x="12759184" y="5399443"/>
            <a:ext cx="25862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1050" dirty="0"/>
          </a:p>
        </p:txBody>
      </p:sp>
      <p:sp>
        <p:nvSpPr>
          <p:cNvPr id="440" name="Shape 421"/>
          <p:cNvSpPr/>
          <p:nvPr/>
        </p:nvSpPr>
        <p:spPr>
          <a:xfrm>
            <a:off x="13346609" y="5756821"/>
            <a:ext cx="95220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41" name="Text 422"/>
          <p:cNvSpPr/>
          <p:nvPr/>
        </p:nvSpPr>
        <p:spPr>
          <a:xfrm>
            <a:off x="14004875" y="5418493"/>
            <a:ext cx="19716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442" name="Shape 423"/>
          <p:cNvSpPr/>
          <p:nvPr/>
        </p:nvSpPr>
        <p:spPr>
          <a:xfrm>
            <a:off x="14298811" y="5756821"/>
            <a:ext cx="1634282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43" name="Shape 424"/>
          <p:cNvSpPr/>
          <p:nvPr/>
        </p:nvSpPr>
        <p:spPr>
          <a:xfrm>
            <a:off x="14432161" y="5397252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44" name="Shape 425"/>
          <p:cNvSpPr/>
          <p:nvPr/>
        </p:nvSpPr>
        <p:spPr>
          <a:xfrm>
            <a:off x="14498836" y="546868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45" name="Text 426"/>
          <p:cNvSpPr/>
          <p:nvPr/>
        </p:nvSpPr>
        <p:spPr>
          <a:xfrm>
            <a:off x="14632186" y="5420874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446" name="Shape 427"/>
          <p:cNvSpPr/>
          <p:nvPr/>
        </p:nvSpPr>
        <p:spPr>
          <a:xfrm>
            <a:off x="15933093" y="5756821"/>
            <a:ext cx="105325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47" name="Text 428"/>
          <p:cNvSpPr/>
          <p:nvPr/>
        </p:nvSpPr>
        <p:spPr>
          <a:xfrm>
            <a:off x="16772632" y="5418493"/>
            <a:ext cx="11694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48" name="Shape 429"/>
          <p:cNvSpPr/>
          <p:nvPr/>
        </p:nvSpPr>
        <p:spPr>
          <a:xfrm>
            <a:off x="16986349" y="5756821"/>
            <a:ext cx="105400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49" name="Text 430"/>
          <p:cNvSpPr/>
          <p:nvPr/>
        </p:nvSpPr>
        <p:spPr>
          <a:xfrm>
            <a:off x="17224474" y="540658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450" name="Text 431"/>
          <p:cNvSpPr/>
          <p:nvPr/>
        </p:nvSpPr>
        <p:spPr>
          <a:xfrm>
            <a:off x="7296150" y="5899505"/>
            <a:ext cx="340351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共4次作业 · 本筛选WCS接受36件；重试和查询不重复计数。</a:t>
            </a:r>
            <a:endParaRPr lang="en-US" sz="975" dirty="0"/>
          </a:p>
        </p:txBody>
      </p:sp>
      <p:sp>
        <p:nvSpPr>
          <p:cNvPr id="451" name="Shape 432"/>
          <p:cNvSpPr/>
          <p:nvPr/>
        </p:nvSpPr>
        <p:spPr>
          <a:xfrm>
            <a:off x="7048500" y="9134475"/>
            <a:ext cx="11239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2" name="Text 433"/>
          <p:cNvSpPr/>
          <p:nvPr/>
        </p:nvSpPr>
        <p:spPr>
          <a:xfrm>
            <a:off x="7296150" y="9417653"/>
            <a:ext cx="16464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只读查看，不重发业务请求。</a:t>
            </a:r>
            <a:endParaRPr lang="en-US" sz="975" dirty="0"/>
          </a:p>
        </p:txBody>
      </p:sp>
      <p:sp>
        <p:nvSpPr>
          <p:cNvPr id="453" name="Shape 434"/>
          <p:cNvSpPr/>
          <p:nvPr/>
        </p:nvSpPr>
        <p:spPr>
          <a:xfrm>
            <a:off x="17059126" y="9296400"/>
            <a:ext cx="981224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4" name="Shape 435"/>
          <p:cNvSpPr/>
          <p:nvPr/>
        </p:nvSpPr>
        <p:spPr>
          <a:xfrm>
            <a:off x="17059126" y="9296400"/>
            <a:ext cx="981224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5" name="Shape 436"/>
          <p:cNvSpPr/>
          <p:nvPr/>
        </p:nvSpPr>
        <p:spPr>
          <a:xfrm>
            <a:off x="17059126" y="9705975"/>
            <a:ext cx="981224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6" name="Shape 437"/>
          <p:cNvSpPr/>
          <p:nvPr/>
        </p:nvSpPr>
        <p:spPr>
          <a:xfrm>
            <a:off x="17059126" y="9296400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7" name="Shape 438"/>
          <p:cNvSpPr/>
          <p:nvPr/>
        </p:nvSpPr>
        <p:spPr>
          <a:xfrm>
            <a:off x="18030825" y="9296400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8" name="Text 439"/>
          <p:cNvSpPr/>
          <p:nvPr/>
        </p:nvSpPr>
        <p:spPr>
          <a:xfrm>
            <a:off x="17240101" y="9417653"/>
            <a:ext cx="6558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返回工作台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作业进行中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590824" y="2252472"/>
            <a:ext cx="25882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按通道提示处理Item；右通道需人工确认。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待人工发车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请核对当前Item、数量及允许动作条件。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1824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本次供给12件 · 目标格口031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93919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不足量人工分支为评审候选（D-03）。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18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516350" y="7262813"/>
            <a:ext cx="190500" cy="190500"/>
          </a:xfrm>
          <a:prstGeom prst="rect">
            <a:avLst/>
          </a:prstGeom>
        </p:spPr>
      </p:pic>
      <p:sp>
        <p:nvSpPr>
          <p:cNvPr id="188" name="Text 172"/>
          <p:cNvSpPr/>
          <p:nvPr/>
        </p:nvSpPr>
        <p:spPr>
          <a:xfrm>
            <a:off x="16783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89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6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8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9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0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1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2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3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4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5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6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7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8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9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0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1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2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3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4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5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6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7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8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9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20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2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4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6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0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8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Text 212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30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1" name="Shape 214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2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3" name="Text 216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4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6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8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40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2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4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Text 228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6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7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8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9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50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1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2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3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4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5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6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7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8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9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0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4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记录详情 · 一作业多次尝试</a:t>
            </a:r>
            <a:endParaRPr lang="en-US" sz="900" dirty="0"/>
          </a:p>
        </p:txBody>
      </p:sp>
      <p:sp>
        <p:nvSpPr>
          <p:cNvPr id="265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6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0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1" name="Shape 254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2" name="Shape 255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6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Shape 258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6" name="Text 259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7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  <p:sp>
        <p:nvSpPr>
          <p:cNvPr id="278" name="Shape 261"/>
          <p:cNvSpPr/>
          <p:nvPr/>
        </p:nvSpPr>
        <p:spPr>
          <a:xfrm>
            <a:off x="0" y="0"/>
            <a:ext cx="18288000" cy="9867900"/>
          </a:xfrm>
          <a:prstGeom prst="rect">
            <a:avLst/>
          </a:prstGeom>
          <a:solidFill>
            <a:srgbClr val="132233">
              <a:alpha val="35000"/>
            </a:srgbClr>
          </a:solidFill>
          <a:ln w="12700">
            <a:solidFill>
              <a:srgbClr val="132233">
                <a:alpha val="0"/>
              </a:srgbClr>
            </a:solidFill>
            <a:prstDash val="solid"/>
          </a:ln>
        </p:spPr>
      </p:sp>
      <p:sp>
        <p:nvSpPr>
          <p:cNvPr id="279" name="Shape 262"/>
          <p:cNvSpPr/>
          <p:nvPr/>
        </p:nvSpPr>
        <p:spPr>
          <a:xfrm>
            <a:off x="11239500" y="0"/>
            <a:ext cx="7048500" cy="9867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63"/>
          <p:cNvSpPr/>
          <p:nvPr/>
        </p:nvSpPr>
        <p:spPr>
          <a:xfrm>
            <a:off x="11239500" y="942975"/>
            <a:ext cx="7048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1" name="Text 264"/>
          <p:cNvSpPr/>
          <p:nvPr/>
        </p:nvSpPr>
        <p:spPr>
          <a:xfrm>
            <a:off x="11487150" y="214122"/>
            <a:ext cx="912876" cy="34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作业详情</a:t>
            </a:r>
            <a:endParaRPr lang="en-US" sz="1725" dirty="0"/>
          </a:p>
        </p:txBody>
      </p:sp>
      <p:sp>
        <p:nvSpPr>
          <p:cNvPr id="282" name="Text 265"/>
          <p:cNvSpPr/>
          <p:nvPr/>
        </p:nvSpPr>
        <p:spPr>
          <a:xfrm>
            <a:off x="11487150" y="571310"/>
            <a:ext cx="261948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OP-004 · CAM0 · 原业务与发送尝试分开追溯</a:t>
            </a:r>
            <a:endParaRPr lang="en-US" sz="975" dirty="0"/>
          </a:p>
        </p:txBody>
      </p:sp>
      <p:sp>
        <p:nvSpPr>
          <p:cNvPr id="283" name="Shape 266"/>
          <p:cNvSpPr/>
          <p:nvPr/>
        </p:nvSpPr>
        <p:spPr>
          <a:xfrm>
            <a:off x="17621250" y="271463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67"/>
          <p:cNvSpPr/>
          <p:nvPr/>
        </p:nvSpPr>
        <p:spPr>
          <a:xfrm>
            <a:off x="17621250" y="271463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5" name="Shape 268"/>
          <p:cNvSpPr/>
          <p:nvPr/>
        </p:nvSpPr>
        <p:spPr>
          <a:xfrm>
            <a:off x="17621250" y="681038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6" name="Shape 269"/>
          <p:cNvSpPr/>
          <p:nvPr/>
        </p:nvSpPr>
        <p:spPr>
          <a:xfrm>
            <a:off x="17621250" y="27146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7" name="Shape 270"/>
          <p:cNvSpPr/>
          <p:nvPr/>
        </p:nvSpPr>
        <p:spPr>
          <a:xfrm>
            <a:off x="18030825" y="27146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28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7735550" y="385763"/>
            <a:ext cx="190500" cy="190500"/>
          </a:xfrm>
          <a:prstGeom prst="rect">
            <a:avLst/>
          </a:prstGeom>
        </p:spPr>
      </p:pic>
      <p:sp>
        <p:nvSpPr>
          <p:cNvPr id="289" name="Shape 271"/>
          <p:cNvSpPr/>
          <p:nvPr/>
        </p:nvSpPr>
        <p:spPr>
          <a:xfrm>
            <a:off x="11487150" y="1181100"/>
            <a:ext cx="6553200" cy="674191"/>
          </a:xfrm>
          <a:prstGeom prst="roundRect">
            <a:avLst>
              <a:gd name="adj" fmla="val 9890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90" name="Shape 272"/>
          <p:cNvSpPr/>
          <p:nvPr/>
        </p:nvSpPr>
        <p:spPr>
          <a:xfrm>
            <a:off x="11487150" y="1181100"/>
            <a:ext cx="6553200" cy="9525"/>
          </a:xfrm>
          <a:prstGeom prst="rect">
            <a:avLst/>
          </a:prstGeom>
          <a:solidFill>
            <a:srgbClr val="BCDBC9"/>
          </a:solidFill>
          <a:ln w="12700">
            <a:solidFill>
              <a:srgbClr val="BCDBC9">
                <a:alpha val="0"/>
              </a:srgbClr>
            </a:solidFill>
            <a:prstDash val="solid"/>
          </a:ln>
        </p:spPr>
      </p:sp>
      <p:sp>
        <p:nvSpPr>
          <p:cNvPr id="291" name="Shape 273"/>
          <p:cNvSpPr/>
          <p:nvPr/>
        </p:nvSpPr>
        <p:spPr>
          <a:xfrm>
            <a:off x="11487150" y="1845766"/>
            <a:ext cx="6553200" cy="9525"/>
          </a:xfrm>
          <a:prstGeom prst="rect">
            <a:avLst/>
          </a:prstGeom>
          <a:solidFill>
            <a:srgbClr val="BCDBC9"/>
          </a:solidFill>
          <a:ln w="12700">
            <a:solidFill>
              <a:srgbClr val="BCDBC9">
                <a:alpha val="0"/>
              </a:srgbClr>
            </a:solidFill>
            <a:prstDash val="solid"/>
          </a:ln>
        </p:spPr>
      </p:sp>
      <p:sp>
        <p:nvSpPr>
          <p:cNvPr id="292" name="Shape 274"/>
          <p:cNvSpPr/>
          <p:nvPr/>
        </p:nvSpPr>
        <p:spPr>
          <a:xfrm>
            <a:off x="11487150" y="1181100"/>
            <a:ext cx="9525" cy="674191"/>
          </a:xfrm>
          <a:prstGeom prst="rect">
            <a:avLst/>
          </a:prstGeom>
          <a:solidFill>
            <a:srgbClr val="BCDBC9"/>
          </a:solidFill>
          <a:ln w="12700">
            <a:solidFill>
              <a:srgbClr val="BCDBC9">
                <a:alpha val="0"/>
              </a:srgbClr>
            </a:solidFill>
            <a:prstDash val="solid"/>
          </a:ln>
        </p:spPr>
      </p:sp>
      <p:sp>
        <p:nvSpPr>
          <p:cNvPr id="293" name="Shape 275"/>
          <p:cNvSpPr/>
          <p:nvPr/>
        </p:nvSpPr>
        <p:spPr>
          <a:xfrm>
            <a:off x="18030825" y="1181100"/>
            <a:ext cx="9525" cy="674191"/>
          </a:xfrm>
          <a:prstGeom prst="rect">
            <a:avLst/>
          </a:prstGeom>
          <a:solidFill>
            <a:srgbClr val="BCDBC9"/>
          </a:solidFill>
          <a:ln w="12700">
            <a:solidFill>
              <a:srgbClr val="BCDBC9">
                <a:alpha val="0"/>
              </a:srgbClr>
            </a:solidFill>
            <a:prstDash val="solid"/>
          </a:ln>
        </p:spPr>
      </p:sp>
      <p:sp>
        <p:nvSpPr>
          <p:cNvPr id="294" name="Text 276"/>
          <p:cNvSpPr/>
          <p:nvPr/>
        </p:nvSpPr>
        <p:spPr>
          <a:xfrm>
            <a:off x="11630025" y="1319022"/>
            <a:ext cx="17187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6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 · 不是实体完成</a:t>
            </a:r>
            <a:endParaRPr lang="en-US" sz="1050" dirty="0"/>
          </a:p>
        </p:txBody>
      </p:sp>
      <p:sp>
        <p:nvSpPr>
          <p:cNvPr id="295" name="Text 277"/>
          <p:cNvSpPr/>
          <p:nvPr/>
        </p:nvSpPr>
        <p:spPr>
          <a:xfrm>
            <a:off x="11630025" y="1532293"/>
            <a:ext cx="265892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6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一次业务作业，2次发送尝试，仅记入18件。</a:t>
            </a:r>
            <a:endParaRPr lang="en-US" sz="1050" dirty="0"/>
          </a:p>
        </p:txBody>
      </p:sp>
      <p:sp>
        <p:nvSpPr>
          <p:cNvPr id="296" name="Text 278"/>
          <p:cNvSpPr/>
          <p:nvPr/>
        </p:nvSpPr>
        <p:spPr>
          <a:xfrm>
            <a:off x="11487150" y="2069413"/>
            <a:ext cx="608225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业务身份</a:t>
            </a:r>
            <a:endParaRPr lang="en-US" sz="1125" dirty="0"/>
          </a:p>
        </p:txBody>
      </p:sp>
      <p:sp>
        <p:nvSpPr>
          <p:cNvPr id="297" name="Shape 279"/>
          <p:cNvSpPr/>
          <p:nvPr/>
        </p:nvSpPr>
        <p:spPr>
          <a:xfrm>
            <a:off x="11487150" y="2393454"/>
            <a:ext cx="6553200" cy="2514600"/>
          </a:xfrm>
          <a:prstGeom prst="roundRect">
            <a:avLst>
              <a:gd name="adj" fmla="val 3030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98" name="Shape 280"/>
          <p:cNvSpPr/>
          <p:nvPr/>
        </p:nvSpPr>
        <p:spPr>
          <a:xfrm>
            <a:off x="11487150" y="2393454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9" name="Shape 281"/>
          <p:cNvSpPr/>
          <p:nvPr/>
        </p:nvSpPr>
        <p:spPr>
          <a:xfrm>
            <a:off x="11487150" y="4898529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0" name="Shape 282"/>
          <p:cNvSpPr/>
          <p:nvPr/>
        </p:nvSpPr>
        <p:spPr>
          <a:xfrm>
            <a:off x="11487150" y="2393454"/>
            <a:ext cx="9525" cy="2514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1" name="Shape 283"/>
          <p:cNvSpPr/>
          <p:nvPr/>
        </p:nvSpPr>
        <p:spPr>
          <a:xfrm>
            <a:off x="18030825" y="2393454"/>
            <a:ext cx="9525" cy="2514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2" name="Text 284"/>
          <p:cNvSpPr/>
          <p:nvPr/>
        </p:nvSpPr>
        <p:spPr>
          <a:xfrm>
            <a:off x="11649075" y="2559951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供包作业ID</a:t>
            </a:r>
            <a:endParaRPr lang="en-US" sz="1050" dirty="0"/>
          </a:p>
        </p:txBody>
      </p:sp>
      <p:sp>
        <p:nvSpPr>
          <p:cNvPr id="303" name="Text 285"/>
          <p:cNvSpPr/>
          <p:nvPr/>
        </p:nvSpPr>
        <p:spPr>
          <a:xfrm>
            <a:off x="11649075" y="2826651"/>
            <a:ext cx="55271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OP-004</a:t>
            </a:r>
            <a:endParaRPr lang="en-US" sz="1125" dirty="0"/>
          </a:p>
        </p:txBody>
      </p:sp>
      <p:sp>
        <p:nvSpPr>
          <p:cNvPr id="304" name="Text 286"/>
          <p:cNvSpPr/>
          <p:nvPr/>
        </p:nvSpPr>
        <p:spPr>
          <a:xfrm>
            <a:off x="14820900" y="2559951"/>
            <a:ext cx="94874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来源通道 / 修订</a:t>
            </a:r>
            <a:endParaRPr lang="en-US" sz="1050" dirty="0"/>
          </a:p>
        </p:txBody>
      </p:sp>
      <p:sp>
        <p:nvSpPr>
          <p:cNvPr id="305" name="Text 287"/>
          <p:cNvSpPr/>
          <p:nvPr/>
        </p:nvSpPr>
        <p:spPr>
          <a:xfrm>
            <a:off x="14820900" y="2807601"/>
            <a:ext cx="1228987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/ revision 1</a:t>
            </a:r>
            <a:endParaRPr lang="en-US" sz="1125" dirty="0"/>
          </a:p>
        </p:txBody>
      </p:sp>
      <p:sp>
        <p:nvSpPr>
          <p:cNvPr id="306" name="Text 288"/>
          <p:cNvSpPr/>
          <p:nvPr/>
        </p:nvSpPr>
        <p:spPr>
          <a:xfrm>
            <a:off x="11649075" y="3136213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307" name="Text 289"/>
          <p:cNvSpPr/>
          <p:nvPr/>
        </p:nvSpPr>
        <p:spPr>
          <a:xfrm>
            <a:off x="11649075" y="3402913"/>
            <a:ext cx="1240893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1125" dirty="0"/>
          </a:p>
        </p:txBody>
      </p:sp>
      <p:sp>
        <p:nvSpPr>
          <p:cNvPr id="308" name="Text 290"/>
          <p:cNvSpPr/>
          <p:nvPr/>
        </p:nvSpPr>
        <p:spPr>
          <a:xfrm>
            <a:off x="11649075" y="3712476"/>
            <a:ext cx="4366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周转箱</a:t>
            </a:r>
            <a:endParaRPr lang="en-US" sz="1050" dirty="0"/>
          </a:p>
        </p:txBody>
      </p:sp>
      <p:sp>
        <p:nvSpPr>
          <p:cNvPr id="309" name="Text 291"/>
          <p:cNvSpPr/>
          <p:nvPr/>
        </p:nvSpPr>
        <p:spPr>
          <a:xfrm>
            <a:off x="11649075" y="3979176"/>
            <a:ext cx="1068848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125" dirty="0"/>
          </a:p>
        </p:txBody>
      </p:sp>
      <p:sp>
        <p:nvSpPr>
          <p:cNvPr id="310" name="Text 292"/>
          <p:cNvSpPr/>
          <p:nvPr/>
        </p:nvSpPr>
        <p:spPr>
          <a:xfrm>
            <a:off x="14820900" y="3712476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Item波次</a:t>
            </a:r>
            <a:endParaRPr lang="en-US" sz="1050" dirty="0"/>
          </a:p>
        </p:txBody>
      </p:sp>
      <p:sp>
        <p:nvSpPr>
          <p:cNvPr id="311" name="Text 293"/>
          <p:cNvSpPr/>
          <p:nvPr/>
        </p:nvSpPr>
        <p:spPr>
          <a:xfrm>
            <a:off x="14820900" y="3979176"/>
            <a:ext cx="1498961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125" dirty="0"/>
          </a:p>
        </p:txBody>
      </p:sp>
      <p:sp>
        <p:nvSpPr>
          <p:cNvPr id="312" name="Text 294"/>
          <p:cNvSpPr/>
          <p:nvPr/>
        </p:nvSpPr>
        <p:spPr>
          <a:xfrm>
            <a:off x="11649075" y="4288738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313" name="Text 295"/>
          <p:cNvSpPr/>
          <p:nvPr/>
        </p:nvSpPr>
        <p:spPr>
          <a:xfrm>
            <a:off x="11649075" y="4555438"/>
            <a:ext cx="982825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125" dirty="0"/>
          </a:p>
        </p:txBody>
      </p:sp>
      <p:sp>
        <p:nvSpPr>
          <p:cNvPr id="314" name="Text 296"/>
          <p:cNvSpPr/>
          <p:nvPr/>
        </p:nvSpPr>
        <p:spPr>
          <a:xfrm>
            <a:off x="14820900" y="4288738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业务请求ID</a:t>
            </a:r>
            <a:endParaRPr lang="en-US" sz="1050" dirty="0"/>
          </a:p>
        </p:txBody>
      </p:sp>
      <p:sp>
        <p:nvSpPr>
          <p:cNvPr id="315" name="Text 297"/>
          <p:cNvSpPr/>
          <p:nvPr/>
        </p:nvSpPr>
        <p:spPr>
          <a:xfrm>
            <a:off x="14820900" y="4555438"/>
            <a:ext cx="1068848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REQ-DEMO-004</a:t>
            </a:r>
            <a:endParaRPr lang="en-US" sz="1125" dirty="0"/>
          </a:p>
        </p:txBody>
      </p:sp>
      <p:sp>
        <p:nvSpPr>
          <p:cNvPr id="316" name="Text 298"/>
          <p:cNvSpPr/>
          <p:nvPr/>
        </p:nvSpPr>
        <p:spPr>
          <a:xfrm>
            <a:off x="11487150" y="5122176"/>
            <a:ext cx="1179725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识别与处理时间线</a:t>
            </a:r>
            <a:endParaRPr lang="en-US" sz="1125" dirty="0"/>
          </a:p>
        </p:txBody>
      </p:sp>
      <p:sp>
        <p:nvSpPr>
          <p:cNvPr id="317" name="Shape 299"/>
          <p:cNvSpPr/>
          <p:nvPr/>
        </p:nvSpPr>
        <p:spPr>
          <a:xfrm>
            <a:off x="11563350" y="5446216"/>
            <a:ext cx="19050" cy="7620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8" name="Text 300"/>
          <p:cNvSpPr/>
          <p:nvPr/>
        </p:nvSpPr>
        <p:spPr>
          <a:xfrm>
            <a:off x="11811000" y="5450788"/>
            <a:ext cx="58709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00" dirty="0"/>
          </a:p>
        </p:txBody>
      </p:sp>
      <p:sp>
        <p:nvSpPr>
          <p:cNvPr id="319" name="Text 301"/>
          <p:cNvSpPr/>
          <p:nvPr/>
        </p:nvSpPr>
        <p:spPr>
          <a:xfrm>
            <a:off x="11811000" y="5612713"/>
            <a:ext cx="1608350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相机观察已归属本次作业</a:t>
            </a:r>
            <a:endParaRPr lang="en-US" sz="1125" dirty="0"/>
          </a:p>
        </p:txBody>
      </p:sp>
      <p:sp>
        <p:nvSpPr>
          <p:cNvPr id="320" name="Text 302"/>
          <p:cNvSpPr/>
          <p:nvPr/>
        </p:nvSpPr>
        <p:spPr>
          <a:xfrm>
            <a:off x="11811000" y="5855601"/>
            <a:ext cx="309544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触发ACQ-OP-004；同条码不等于同一次作业。</a:t>
            </a:r>
            <a:endParaRPr lang="en-US" sz="975" dirty="0"/>
          </a:p>
        </p:txBody>
      </p:sp>
      <p:sp>
        <p:nvSpPr>
          <p:cNvPr id="321" name="Shape 303"/>
          <p:cNvSpPr/>
          <p:nvPr/>
        </p:nvSpPr>
        <p:spPr>
          <a:xfrm>
            <a:off x="11563350" y="6208216"/>
            <a:ext cx="19050" cy="7620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22" name="Text 304"/>
          <p:cNvSpPr/>
          <p:nvPr/>
        </p:nvSpPr>
        <p:spPr>
          <a:xfrm>
            <a:off x="11811000" y="6212788"/>
            <a:ext cx="8624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14:31:57.214</a:t>
            </a:r>
            <a:endParaRPr lang="en-US" sz="900" dirty="0"/>
          </a:p>
        </p:txBody>
      </p:sp>
      <p:sp>
        <p:nvSpPr>
          <p:cNvPr id="323" name="Text 305"/>
          <p:cNvSpPr/>
          <p:nvPr/>
        </p:nvSpPr>
        <p:spPr>
          <a:xfrm>
            <a:off x="11811000" y="6374713"/>
            <a:ext cx="1465475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任务及发送意图已保存</a:t>
            </a:r>
            <a:endParaRPr lang="en-US" sz="1125" dirty="0"/>
          </a:p>
        </p:txBody>
      </p:sp>
      <p:sp>
        <p:nvSpPr>
          <p:cNvPr id="324" name="Text 306"/>
          <p:cNvSpPr/>
          <p:nvPr/>
        </p:nvSpPr>
        <p:spPr>
          <a:xfrm>
            <a:off x="11811000" y="6617601"/>
            <a:ext cx="31299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当前任务快照与固定业务请求ID绑定；先持久化再发送。</a:t>
            </a:r>
            <a:endParaRPr lang="en-US" sz="975" dirty="0"/>
          </a:p>
        </p:txBody>
      </p:sp>
      <p:sp>
        <p:nvSpPr>
          <p:cNvPr id="325" name="Shape 307"/>
          <p:cNvSpPr/>
          <p:nvPr/>
        </p:nvSpPr>
        <p:spPr>
          <a:xfrm>
            <a:off x="11563350" y="6970216"/>
            <a:ext cx="19050" cy="7620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26" name="Text 308"/>
          <p:cNvSpPr/>
          <p:nvPr/>
        </p:nvSpPr>
        <p:spPr>
          <a:xfrm>
            <a:off x="11811000" y="6974788"/>
            <a:ext cx="8624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14:31:57.231</a:t>
            </a:r>
            <a:endParaRPr lang="en-US" sz="900" dirty="0"/>
          </a:p>
        </p:txBody>
      </p:sp>
      <p:sp>
        <p:nvSpPr>
          <p:cNvPr id="327" name="Text 309"/>
          <p:cNvSpPr/>
          <p:nvPr/>
        </p:nvSpPr>
        <p:spPr>
          <a:xfrm>
            <a:off x="11811000" y="7136713"/>
            <a:ext cx="1491073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尝试01明确未交给网络</a:t>
            </a:r>
            <a:endParaRPr lang="en-US" sz="1125" dirty="0"/>
          </a:p>
        </p:txBody>
      </p:sp>
      <p:sp>
        <p:nvSpPr>
          <p:cNvPr id="328" name="Text 310"/>
          <p:cNvSpPr/>
          <p:nvPr/>
        </p:nvSpPr>
        <p:spPr>
          <a:xfrm>
            <a:off x="11811000" y="7379601"/>
            <a:ext cx="436911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NotHandedToTransport：这是本例明确证据，不是所有网络错误的默认结论。</a:t>
            </a:r>
            <a:endParaRPr lang="en-US" sz="975" dirty="0"/>
          </a:p>
        </p:txBody>
      </p:sp>
      <p:sp>
        <p:nvSpPr>
          <p:cNvPr id="329" name="Text 311"/>
          <p:cNvSpPr/>
          <p:nvPr/>
        </p:nvSpPr>
        <p:spPr>
          <a:xfrm>
            <a:off x="11811000" y="7736788"/>
            <a:ext cx="58709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00" dirty="0"/>
          </a:p>
        </p:txBody>
      </p:sp>
      <p:sp>
        <p:nvSpPr>
          <p:cNvPr id="330" name="Text 312"/>
          <p:cNvSpPr/>
          <p:nvPr/>
        </p:nvSpPr>
        <p:spPr>
          <a:xfrm>
            <a:off x="11811000" y="7898713"/>
            <a:ext cx="1465475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收到明确业务接受回执</a:t>
            </a:r>
            <a:endParaRPr lang="en-US" sz="1125" dirty="0"/>
          </a:p>
        </p:txBody>
      </p:sp>
      <p:sp>
        <p:nvSpPr>
          <p:cNvPr id="331" name="Text 313"/>
          <p:cNvSpPr/>
          <p:nvPr/>
        </p:nvSpPr>
        <p:spPr>
          <a:xfrm>
            <a:off x="11811000" y="8141601"/>
            <a:ext cx="240294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仅原作业记入18件；实体离站未取得反馈。</a:t>
            </a:r>
            <a:endParaRPr lang="en-US" sz="975" dirty="0"/>
          </a:p>
        </p:txBody>
      </p:sp>
      <p:sp>
        <p:nvSpPr>
          <p:cNvPr id="332" name="Text 314"/>
          <p:cNvSpPr/>
          <p:nvPr/>
        </p:nvSpPr>
        <p:spPr>
          <a:xfrm>
            <a:off x="11487150" y="8536888"/>
            <a:ext cx="1790813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网络尝试（不是新增Item）</a:t>
            </a:r>
            <a:endParaRPr lang="en-US" sz="1125" dirty="0"/>
          </a:p>
        </p:txBody>
      </p:sp>
      <p:sp>
        <p:nvSpPr>
          <p:cNvPr id="333" name="Shape 315"/>
          <p:cNvSpPr/>
          <p:nvPr/>
        </p:nvSpPr>
        <p:spPr>
          <a:xfrm>
            <a:off x="11487150" y="8860929"/>
            <a:ext cx="813048" cy="27354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34" name="Shape 316"/>
          <p:cNvSpPr/>
          <p:nvPr/>
        </p:nvSpPr>
        <p:spPr>
          <a:xfrm>
            <a:off x="11487150" y="9160966"/>
            <a:ext cx="81304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5" name="Text 317"/>
          <p:cNvSpPr/>
          <p:nvPr/>
        </p:nvSpPr>
        <p:spPr>
          <a:xfrm>
            <a:off x="11620500" y="8932176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</a:t>
            </a:r>
            <a:endParaRPr lang="en-US" sz="900" dirty="0"/>
          </a:p>
        </p:txBody>
      </p:sp>
      <p:sp>
        <p:nvSpPr>
          <p:cNvPr id="336" name="Shape 318"/>
          <p:cNvSpPr/>
          <p:nvPr/>
        </p:nvSpPr>
        <p:spPr>
          <a:xfrm>
            <a:off x="12300198" y="8860929"/>
            <a:ext cx="2019151" cy="27354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37" name="Shape 319"/>
          <p:cNvSpPr/>
          <p:nvPr/>
        </p:nvSpPr>
        <p:spPr>
          <a:xfrm>
            <a:off x="12300198" y="9160966"/>
            <a:ext cx="201915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8" name="Text 320"/>
          <p:cNvSpPr/>
          <p:nvPr/>
        </p:nvSpPr>
        <p:spPr>
          <a:xfrm>
            <a:off x="12433548" y="8932176"/>
            <a:ext cx="49169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原请求ID</a:t>
            </a:r>
            <a:endParaRPr lang="en-US" sz="900" dirty="0"/>
          </a:p>
        </p:txBody>
      </p:sp>
      <p:sp>
        <p:nvSpPr>
          <p:cNvPr id="339" name="Shape 321"/>
          <p:cNvSpPr/>
          <p:nvPr/>
        </p:nvSpPr>
        <p:spPr>
          <a:xfrm>
            <a:off x="14319349" y="8860929"/>
            <a:ext cx="1969740" cy="27354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40" name="Shape 322"/>
          <p:cNvSpPr/>
          <p:nvPr/>
        </p:nvSpPr>
        <p:spPr>
          <a:xfrm>
            <a:off x="14319349" y="9160966"/>
            <a:ext cx="196974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1" name="Text 323"/>
          <p:cNvSpPr/>
          <p:nvPr/>
        </p:nvSpPr>
        <p:spPr>
          <a:xfrm>
            <a:off x="14452699" y="8932176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技术事实</a:t>
            </a:r>
            <a:endParaRPr lang="en-US" sz="900" dirty="0"/>
          </a:p>
        </p:txBody>
      </p:sp>
      <p:sp>
        <p:nvSpPr>
          <p:cNvPr id="342" name="Shape 324"/>
          <p:cNvSpPr/>
          <p:nvPr/>
        </p:nvSpPr>
        <p:spPr>
          <a:xfrm>
            <a:off x="16289089" y="8860929"/>
            <a:ext cx="1751261" cy="27354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43" name="Shape 325"/>
          <p:cNvSpPr/>
          <p:nvPr/>
        </p:nvSpPr>
        <p:spPr>
          <a:xfrm>
            <a:off x="16289089" y="9160966"/>
            <a:ext cx="175126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4" name="Text 326"/>
          <p:cNvSpPr/>
          <p:nvPr/>
        </p:nvSpPr>
        <p:spPr>
          <a:xfrm>
            <a:off x="16422439" y="8932176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业务新增</a:t>
            </a:r>
            <a:endParaRPr lang="en-US" sz="900" dirty="0"/>
          </a:p>
        </p:txBody>
      </p:sp>
      <p:sp>
        <p:nvSpPr>
          <p:cNvPr id="345" name="Shape 327"/>
          <p:cNvSpPr/>
          <p:nvPr/>
        </p:nvSpPr>
        <p:spPr>
          <a:xfrm>
            <a:off x="11239500" y="9134475"/>
            <a:ext cx="7048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6" name="Text 328"/>
          <p:cNvSpPr/>
          <p:nvPr/>
        </p:nvSpPr>
        <p:spPr>
          <a:xfrm>
            <a:off x="11487150" y="9417653"/>
            <a:ext cx="15226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所有身份与过程均为示例。</a:t>
            </a:r>
            <a:endParaRPr lang="en-US" sz="975" dirty="0"/>
          </a:p>
        </p:txBody>
      </p:sp>
      <p:sp>
        <p:nvSpPr>
          <p:cNvPr id="347" name="Shape 329"/>
          <p:cNvSpPr/>
          <p:nvPr/>
        </p:nvSpPr>
        <p:spPr>
          <a:xfrm>
            <a:off x="16853297" y="9296400"/>
            <a:ext cx="1187053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30"/>
          <p:cNvSpPr/>
          <p:nvPr/>
        </p:nvSpPr>
        <p:spPr>
          <a:xfrm>
            <a:off x="16853297" y="9296400"/>
            <a:ext cx="118705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9" name="Shape 331"/>
          <p:cNvSpPr/>
          <p:nvPr/>
        </p:nvSpPr>
        <p:spPr>
          <a:xfrm>
            <a:off x="16853297" y="9705975"/>
            <a:ext cx="118705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0" name="Shape 332"/>
          <p:cNvSpPr/>
          <p:nvPr/>
        </p:nvSpPr>
        <p:spPr>
          <a:xfrm>
            <a:off x="16853297" y="9296400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1" name="Shape 333"/>
          <p:cNvSpPr/>
          <p:nvPr/>
        </p:nvSpPr>
        <p:spPr>
          <a:xfrm>
            <a:off x="18030825" y="9296400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352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977122" y="9410700"/>
            <a:ext cx="190500" cy="190500"/>
          </a:xfrm>
          <a:prstGeom prst="rect">
            <a:avLst/>
          </a:prstGeom>
        </p:spPr>
      </p:pic>
      <p:sp>
        <p:nvSpPr>
          <p:cNvPr id="353" name="Text 334"/>
          <p:cNvSpPr/>
          <p:nvPr/>
        </p:nvSpPr>
        <p:spPr>
          <a:xfrm>
            <a:off x="17243822" y="9410510"/>
            <a:ext cx="70927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复制请求ID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作业进行中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590824" y="2252472"/>
            <a:ext cx="25882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按通道提示处理Item；右通道需人工确认。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待人工发车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请核对当前Item、数量及允许动作条件。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1824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本次供给12件 · 目标格口031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93919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不足量人工分支为评审候选（D-03）。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18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516350" y="7262813"/>
            <a:ext cx="190500" cy="190500"/>
          </a:xfrm>
          <a:prstGeom prst="rect">
            <a:avLst/>
          </a:prstGeom>
        </p:spPr>
      </p:pic>
      <p:sp>
        <p:nvSpPr>
          <p:cNvPr id="188" name="Text 172"/>
          <p:cNvSpPr/>
          <p:nvPr/>
        </p:nvSpPr>
        <p:spPr>
          <a:xfrm>
            <a:off x="16783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89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6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8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9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0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1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2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3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4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5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6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7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8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9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0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1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2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3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4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5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6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7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8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9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20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2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4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6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0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8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Text 212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30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1" name="Shape 214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2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3" name="Text 216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4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6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8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40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2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4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Text 228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6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7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8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9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50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1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2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3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4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5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6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7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8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9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0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4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设备与连接 · 只读</a:t>
            </a:r>
            <a:endParaRPr lang="en-US" sz="900" dirty="0"/>
          </a:p>
        </p:txBody>
      </p:sp>
      <p:sp>
        <p:nvSpPr>
          <p:cNvPr id="265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6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0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1" name="Shape 254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2" name="Shape 255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6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Shape 258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6" name="Text 259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7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  <p:sp>
        <p:nvSpPr>
          <p:cNvPr id="278" name="Shape 261"/>
          <p:cNvSpPr/>
          <p:nvPr/>
        </p:nvSpPr>
        <p:spPr>
          <a:xfrm>
            <a:off x="0" y="0"/>
            <a:ext cx="18288000" cy="9867900"/>
          </a:xfrm>
          <a:prstGeom prst="rect">
            <a:avLst/>
          </a:prstGeom>
          <a:solidFill>
            <a:srgbClr val="132233">
              <a:alpha val="35000"/>
            </a:srgbClr>
          </a:solidFill>
          <a:ln w="12700">
            <a:solidFill>
              <a:srgbClr val="132233">
                <a:alpha val="0"/>
              </a:srgbClr>
            </a:solidFill>
            <a:prstDash val="solid"/>
          </a:ln>
        </p:spPr>
      </p:sp>
      <p:sp>
        <p:nvSpPr>
          <p:cNvPr id="279" name="Shape 262"/>
          <p:cNvSpPr/>
          <p:nvPr/>
        </p:nvSpPr>
        <p:spPr>
          <a:xfrm>
            <a:off x="11239500" y="0"/>
            <a:ext cx="7048500" cy="9867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63"/>
          <p:cNvSpPr/>
          <p:nvPr/>
        </p:nvSpPr>
        <p:spPr>
          <a:xfrm>
            <a:off x="11239500" y="942975"/>
            <a:ext cx="7048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1" name="Text 264"/>
          <p:cNvSpPr/>
          <p:nvPr/>
        </p:nvSpPr>
        <p:spPr>
          <a:xfrm>
            <a:off x="11487150" y="214122"/>
            <a:ext cx="1131951" cy="34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725" dirty="0"/>
          </a:p>
        </p:txBody>
      </p:sp>
      <p:sp>
        <p:nvSpPr>
          <p:cNvPr id="282" name="Text 265"/>
          <p:cNvSpPr/>
          <p:nvPr/>
        </p:nvSpPr>
        <p:spPr>
          <a:xfrm>
            <a:off x="11487150" y="571310"/>
            <a:ext cx="278513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PAGE-08 · 诊断只读 / 维护权限及配置为工程建议</a:t>
            </a:r>
            <a:endParaRPr lang="en-US" sz="975" dirty="0"/>
          </a:p>
        </p:txBody>
      </p:sp>
      <p:sp>
        <p:nvSpPr>
          <p:cNvPr id="283" name="Shape 266"/>
          <p:cNvSpPr/>
          <p:nvPr/>
        </p:nvSpPr>
        <p:spPr>
          <a:xfrm>
            <a:off x="17621250" y="271463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67"/>
          <p:cNvSpPr/>
          <p:nvPr/>
        </p:nvSpPr>
        <p:spPr>
          <a:xfrm>
            <a:off x="17621250" y="271463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5" name="Shape 268"/>
          <p:cNvSpPr/>
          <p:nvPr/>
        </p:nvSpPr>
        <p:spPr>
          <a:xfrm>
            <a:off x="17621250" y="681038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6" name="Shape 269"/>
          <p:cNvSpPr/>
          <p:nvPr/>
        </p:nvSpPr>
        <p:spPr>
          <a:xfrm>
            <a:off x="17621250" y="27146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7" name="Shape 270"/>
          <p:cNvSpPr/>
          <p:nvPr/>
        </p:nvSpPr>
        <p:spPr>
          <a:xfrm>
            <a:off x="18030825" y="27146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28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7735550" y="385763"/>
            <a:ext cx="190500" cy="190500"/>
          </a:xfrm>
          <a:prstGeom prst="rect">
            <a:avLst/>
          </a:prstGeom>
        </p:spPr>
      </p:pic>
      <p:sp>
        <p:nvSpPr>
          <p:cNvPr id="289" name="Shape 271"/>
          <p:cNvSpPr/>
          <p:nvPr/>
        </p:nvSpPr>
        <p:spPr>
          <a:xfrm>
            <a:off x="11487150" y="1600200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0" name="Shape 272"/>
          <p:cNvSpPr/>
          <p:nvPr/>
        </p:nvSpPr>
        <p:spPr>
          <a:xfrm>
            <a:off x="11487150" y="1571625"/>
            <a:ext cx="1009650" cy="2857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91" name="Text 273"/>
          <p:cNvSpPr/>
          <p:nvPr/>
        </p:nvSpPr>
        <p:spPr>
          <a:xfrm>
            <a:off x="11658600" y="128092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5F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设备与连接</a:t>
            </a:r>
            <a:endParaRPr lang="en-US" sz="1050" dirty="0"/>
          </a:p>
        </p:txBody>
      </p:sp>
      <p:sp>
        <p:nvSpPr>
          <p:cNvPr id="292" name="Text 274"/>
          <p:cNvSpPr/>
          <p:nvPr/>
        </p:nvSpPr>
        <p:spPr>
          <a:xfrm>
            <a:off x="12858750" y="1295209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维护配置</a:t>
            </a:r>
            <a:endParaRPr lang="en-US" sz="1050" dirty="0"/>
          </a:p>
        </p:txBody>
      </p:sp>
      <p:sp>
        <p:nvSpPr>
          <p:cNvPr id="293" name="Shape 275"/>
          <p:cNvSpPr/>
          <p:nvPr/>
        </p:nvSpPr>
        <p:spPr>
          <a:xfrm>
            <a:off x="11487150" y="1781175"/>
            <a:ext cx="6553200" cy="460921"/>
          </a:xfrm>
          <a:prstGeom prst="roundRect">
            <a:avLst>
              <a:gd name="adj" fmla="val 14466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294" name="Shape 276"/>
          <p:cNvSpPr/>
          <p:nvPr/>
        </p:nvSpPr>
        <p:spPr>
          <a:xfrm>
            <a:off x="11487150" y="1781175"/>
            <a:ext cx="6553200" cy="9525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295" name="Shape 277"/>
          <p:cNvSpPr/>
          <p:nvPr/>
        </p:nvSpPr>
        <p:spPr>
          <a:xfrm>
            <a:off x="11487150" y="2232571"/>
            <a:ext cx="6553200" cy="9525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296" name="Shape 278"/>
          <p:cNvSpPr/>
          <p:nvPr/>
        </p:nvSpPr>
        <p:spPr>
          <a:xfrm>
            <a:off x="11487150" y="1781175"/>
            <a:ext cx="9525" cy="460921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297" name="Shape 279"/>
          <p:cNvSpPr/>
          <p:nvPr/>
        </p:nvSpPr>
        <p:spPr>
          <a:xfrm>
            <a:off x="18030825" y="1781175"/>
            <a:ext cx="9525" cy="460921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298" name="Text 280"/>
          <p:cNvSpPr/>
          <p:nvPr/>
        </p:nvSpPr>
        <p:spPr>
          <a:xfrm>
            <a:off x="11630025" y="1919097"/>
            <a:ext cx="414988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4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设备状态为只读展示。点击状态不会改变在线、AGV就位或发车许可。</a:t>
            </a:r>
            <a:endParaRPr lang="en-US" sz="1050" dirty="0"/>
          </a:p>
        </p:txBody>
      </p:sp>
      <p:sp>
        <p:nvSpPr>
          <p:cNvPr id="299" name="Shape 281"/>
          <p:cNvSpPr/>
          <p:nvPr/>
        </p:nvSpPr>
        <p:spPr>
          <a:xfrm>
            <a:off x="11487150" y="2356396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0" name="Shape 282"/>
          <p:cNvSpPr/>
          <p:nvPr/>
        </p:nvSpPr>
        <p:spPr>
          <a:xfrm>
            <a:off x="11487150" y="4085183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1" name="Shape 283"/>
          <p:cNvSpPr/>
          <p:nvPr/>
        </p:nvSpPr>
        <p:spPr>
          <a:xfrm>
            <a:off x="11487150" y="2356396"/>
            <a:ext cx="9525" cy="173831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2" name="Shape 284"/>
          <p:cNvSpPr/>
          <p:nvPr/>
        </p:nvSpPr>
        <p:spPr>
          <a:xfrm>
            <a:off x="18030825" y="2356396"/>
            <a:ext cx="9525" cy="173831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3" name="Text 285"/>
          <p:cNvSpPr/>
          <p:nvPr/>
        </p:nvSpPr>
        <p:spPr>
          <a:xfrm>
            <a:off x="11668125" y="2568136"/>
            <a:ext cx="113299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200" dirty="0"/>
          </a:p>
        </p:txBody>
      </p:sp>
      <p:sp>
        <p:nvSpPr>
          <p:cNvPr id="304" name="Shape 286"/>
          <p:cNvSpPr/>
          <p:nvPr/>
        </p:nvSpPr>
        <p:spPr>
          <a:xfrm>
            <a:off x="17040076" y="2537371"/>
            <a:ext cx="819299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305" name="Shape 287"/>
          <p:cNvSpPr/>
          <p:nvPr/>
        </p:nvSpPr>
        <p:spPr>
          <a:xfrm>
            <a:off x="17135326" y="2644527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06" name="Text 288"/>
          <p:cNvSpPr/>
          <p:nvPr/>
        </p:nvSpPr>
        <p:spPr>
          <a:xfrm>
            <a:off x="17268676" y="2589568"/>
            <a:ext cx="5320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采集就绪</a:t>
            </a:r>
            <a:endParaRPr lang="en-US" sz="975" dirty="0"/>
          </a:p>
        </p:txBody>
      </p:sp>
      <p:sp>
        <p:nvSpPr>
          <p:cNvPr id="307" name="Text 289"/>
          <p:cNvSpPr/>
          <p:nvPr/>
        </p:nvSpPr>
        <p:spPr>
          <a:xfrm>
            <a:off x="11668125" y="2975330"/>
            <a:ext cx="5320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稳定标识</a:t>
            </a:r>
            <a:endParaRPr lang="en-US" sz="975" dirty="0"/>
          </a:p>
        </p:txBody>
      </p:sp>
      <p:sp>
        <p:nvSpPr>
          <p:cNvPr id="308" name="Text 290"/>
          <p:cNvSpPr/>
          <p:nvPr/>
        </p:nvSpPr>
        <p:spPr>
          <a:xfrm>
            <a:off x="11668125" y="3208693"/>
            <a:ext cx="10803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DEMO-CAMERA-0</a:t>
            </a:r>
            <a:endParaRPr lang="en-US" sz="1050" dirty="0"/>
          </a:p>
        </p:txBody>
      </p:sp>
      <p:sp>
        <p:nvSpPr>
          <p:cNvPr id="309" name="Text 291"/>
          <p:cNvSpPr/>
          <p:nvPr/>
        </p:nvSpPr>
        <p:spPr>
          <a:xfrm>
            <a:off x="14820900" y="2975330"/>
            <a:ext cx="8749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 / SDK版本</a:t>
            </a:r>
            <a:endParaRPr lang="en-US" sz="975" dirty="0"/>
          </a:p>
        </p:txBody>
      </p:sp>
      <p:sp>
        <p:nvSpPr>
          <p:cNvPr id="310" name="Text 292"/>
          <p:cNvSpPr/>
          <p:nvPr/>
        </p:nvSpPr>
        <p:spPr>
          <a:xfrm>
            <a:off x="14820900" y="3189643"/>
            <a:ext cx="102985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未提供 · 待核验</a:t>
            </a:r>
            <a:endParaRPr lang="en-US" sz="1050" dirty="0"/>
          </a:p>
        </p:txBody>
      </p:sp>
      <p:sp>
        <p:nvSpPr>
          <p:cNvPr id="311" name="Text 293"/>
          <p:cNvSpPr/>
          <p:nvPr/>
        </p:nvSpPr>
        <p:spPr>
          <a:xfrm>
            <a:off x="11668125" y="3503968"/>
            <a:ext cx="7796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最近可靠反馈</a:t>
            </a:r>
            <a:endParaRPr lang="en-US" sz="975" dirty="0"/>
          </a:p>
        </p:txBody>
      </p:sp>
      <p:sp>
        <p:nvSpPr>
          <p:cNvPr id="312" name="Text 294"/>
          <p:cNvSpPr/>
          <p:nvPr/>
        </p:nvSpPr>
        <p:spPr>
          <a:xfrm>
            <a:off x="11668125" y="3737330"/>
            <a:ext cx="67891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14:32:08</a:t>
            </a:r>
            <a:endParaRPr lang="en-US" sz="1050" dirty="0"/>
          </a:p>
        </p:txBody>
      </p:sp>
      <p:sp>
        <p:nvSpPr>
          <p:cNvPr id="313" name="Text 295"/>
          <p:cNvSpPr/>
          <p:nvPr/>
        </p:nvSpPr>
        <p:spPr>
          <a:xfrm>
            <a:off x="14820900" y="3503968"/>
            <a:ext cx="88355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图像预览 / 留存</a:t>
            </a:r>
            <a:endParaRPr lang="en-US" sz="975" dirty="0"/>
          </a:p>
        </p:txBody>
      </p:sp>
      <p:sp>
        <p:nvSpPr>
          <p:cNvPr id="314" name="Text 296"/>
          <p:cNvSpPr/>
          <p:nvPr/>
        </p:nvSpPr>
        <p:spPr>
          <a:xfrm>
            <a:off x="14820900" y="3718280"/>
            <a:ext cx="121544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 / 不存储图片</a:t>
            </a:r>
            <a:endParaRPr lang="en-US" sz="1050" dirty="0"/>
          </a:p>
        </p:txBody>
      </p:sp>
      <p:sp>
        <p:nvSpPr>
          <p:cNvPr id="315" name="Shape 297"/>
          <p:cNvSpPr/>
          <p:nvPr/>
        </p:nvSpPr>
        <p:spPr>
          <a:xfrm>
            <a:off x="11487150" y="4209008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6" name="Shape 298"/>
          <p:cNvSpPr/>
          <p:nvPr/>
        </p:nvSpPr>
        <p:spPr>
          <a:xfrm>
            <a:off x="11487150" y="5937796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7" name="Shape 299"/>
          <p:cNvSpPr/>
          <p:nvPr/>
        </p:nvSpPr>
        <p:spPr>
          <a:xfrm>
            <a:off x="11487150" y="4209008"/>
            <a:ext cx="9525" cy="173831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8" name="Shape 300"/>
          <p:cNvSpPr/>
          <p:nvPr/>
        </p:nvSpPr>
        <p:spPr>
          <a:xfrm>
            <a:off x="18030825" y="4209008"/>
            <a:ext cx="9525" cy="173831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9" name="Text 301"/>
          <p:cNvSpPr/>
          <p:nvPr/>
        </p:nvSpPr>
        <p:spPr>
          <a:xfrm>
            <a:off x="11668125" y="4420749"/>
            <a:ext cx="113299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200" dirty="0"/>
          </a:p>
        </p:txBody>
      </p:sp>
      <p:sp>
        <p:nvSpPr>
          <p:cNvPr id="320" name="Shape 302"/>
          <p:cNvSpPr/>
          <p:nvPr/>
        </p:nvSpPr>
        <p:spPr>
          <a:xfrm>
            <a:off x="17040076" y="4389983"/>
            <a:ext cx="819299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321" name="Shape 303"/>
          <p:cNvSpPr/>
          <p:nvPr/>
        </p:nvSpPr>
        <p:spPr>
          <a:xfrm>
            <a:off x="17135326" y="449713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2" name="Text 304"/>
          <p:cNvSpPr/>
          <p:nvPr/>
        </p:nvSpPr>
        <p:spPr>
          <a:xfrm>
            <a:off x="17268676" y="4442180"/>
            <a:ext cx="5320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采集就绪</a:t>
            </a:r>
            <a:endParaRPr lang="en-US" sz="975" dirty="0"/>
          </a:p>
        </p:txBody>
      </p:sp>
      <p:sp>
        <p:nvSpPr>
          <p:cNvPr id="323" name="Text 305"/>
          <p:cNvSpPr/>
          <p:nvPr/>
        </p:nvSpPr>
        <p:spPr>
          <a:xfrm>
            <a:off x="11668125" y="4827943"/>
            <a:ext cx="5320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稳定标识</a:t>
            </a:r>
            <a:endParaRPr lang="en-US" sz="975" dirty="0"/>
          </a:p>
        </p:txBody>
      </p:sp>
      <p:sp>
        <p:nvSpPr>
          <p:cNvPr id="324" name="Text 306"/>
          <p:cNvSpPr/>
          <p:nvPr/>
        </p:nvSpPr>
        <p:spPr>
          <a:xfrm>
            <a:off x="11668125" y="5061305"/>
            <a:ext cx="10803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DEMO-CAMERA-1</a:t>
            </a:r>
            <a:endParaRPr lang="en-US" sz="1050" dirty="0"/>
          </a:p>
        </p:txBody>
      </p:sp>
      <p:sp>
        <p:nvSpPr>
          <p:cNvPr id="325" name="Text 307"/>
          <p:cNvSpPr/>
          <p:nvPr/>
        </p:nvSpPr>
        <p:spPr>
          <a:xfrm>
            <a:off x="14820900" y="4827943"/>
            <a:ext cx="8749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 / SDK版本</a:t>
            </a:r>
            <a:endParaRPr lang="en-US" sz="975" dirty="0"/>
          </a:p>
        </p:txBody>
      </p:sp>
      <p:sp>
        <p:nvSpPr>
          <p:cNvPr id="326" name="Text 308"/>
          <p:cNvSpPr/>
          <p:nvPr/>
        </p:nvSpPr>
        <p:spPr>
          <a:xfrm>
            <a:off x="14820900" y="5042255"/>
            <a:ext cx="102985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未提供 · 待核验</a:t>
            </a:r>
            <a:endParaRPr lang="en-US" sz="1050" dirty="0"/>
          </a:p>
        </p:txBody>
      </p:sp>
      <p:sp>
        <p:nvSpPr>
          <p:cNvPr id="327" name="Text 309"/>
          <p:cNvSpPr/>
          <p:nvPr/>
        </p:nvSpPr>
        <p:spPr>
          <a:xfrm>
            <a:off x="11668125" y="5356580"/>
            <a:ext cx="7796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最近可靠反馈</a:t>
            </a:r>
            <a:endParaRPr lang="en-US" sz="975" dirty="0"/>
          </a:p>
        </p:txBody>
      </p:sp>
      <p:sp>
        <p:nvSpPr>
          <p:cNvPr id="328" name="Text 310"/>
          <p:cNvSpPr/>
          <p:nvPr/>
        </p:nvSpPr>
        <p:spPr>
          <a:xfrm>
            <a:off x="11668125" y="5589943"/>
            <a:ext cx="67891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14:32:08</a:t>
            </a:r>
            <a:endParaRPr lang="en-US" sz="1050" dirty="0"/>
          </a:p>
        </p:txBody>
      </p:sp>
      <p:sp>
        <p:nvSpPr>
          <p:cNvPr id="329" name="Text 311"/>
          <p:cNvSpPr/>
          <p:nvPr/>
        </p:nvSpPr>
        <p:spPr>
          <a:xfrm>
            <a:off x="14820900" y="5356580"/>
            <a:ext cx="88355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图像预览 / 留存</a:t>
            </a:r>
            <a:endParaRPr lang="en-US" sz="975" dirty="0"/>
          </a:p>
        </p:txBody>
      </p:sp>
      <p:sp>
        <p:nvSpPr>
          <p:cNvPr id="330" name="Text 312"/>
          <p:cNvSpPr/>
          <p:nvPr/>
        </p:nvSpPr>
        <p:spPr>
          <a:xfrm>
            <a:off x="14820900" y="5570893"/>
            <a:ext cx="121544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 / 不存储图片</a:t>
            </a:r>
            <a:endParaRPr lang="en-US" sz="1050" dirty="0"/>
          </a:p>
        </p:txBody>
      </p:sp>
      <p:sp>
        <p:nvSpPr>
          <p:cNvPr id="331" name="Shape 313"/>
          <p:cNvSpPr/>
          <p:nvPr/>
        </p:nvSpPr>
        <p:spPr>
          <a:xfrm>
            <a:off x="11487150" y="6061621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2" name="Shape 314"/>
          <p:cNvSpPr/>
          <p:nvPr/>
        </p:nvSpPr>
        <p:spPr>
          <a:xfrm>
            <a:off x="11487150" y="7790408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3" name="Shape 315"/>
          <p:cNvSpPr/>
          <p:nvPr/>
        </p:nvSpPr>
        <p:spPr>
          <a:xfrm>
            <a:off x="11487150" y="6061621"/>
            <a:ext cx="9525" cy="173831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4" name="Shape 316"/>
          <p:cNvSpPr/>
          <p:nvPr/>
        </p:nvSpPr>
        <p:spPr>
          <a:xfrm>
            <a:off x="18030825" y="6061621"/>
            <a:ext cx="9525" cy="173831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5" name="Text 317"/>
          <p:cNvSpPr/>
          <p:nvPr/>
        </p:nvSpPr>
        <p:spPr>
          <a:xfrm>
            <a:off x="11668125" y="6273361"/>
            <a:ext cx="143273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WCS通信及动作反馈</a:t>
            </a:r>
            <a:endParaRPr lang="en-US" sz="1200" dirty="0"/>
          </a:p>
        </p:txBody>
      </p:sp>
      <p:sp>
        <p:nvSpPr>
          <p:cNvPr id="336" name="Shape 318"/>
          <p:cNvSpPr/>
          <p:nvPr/>
        </p:nvSpPr>
        <p:spPr>
          <a:xfrm>
            <a:off x="16792426" y="6242596"/>
            <a:ext cx="1066949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337" name="Shape 319"/>
          <p:cNvSpPr/>
          <p:nvPr/>
        </p:nvSpPr>
        <p:spPr>
          <a:xfrm>
            <a:off x="16887676" y="6349752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38" name="Text 320"/>
          <p:cNvSpPr/>
          <p:nvPr/>
        </p:nvSpPr>
        <p:spPr>
          <a:xfrm>
            <a:off x="17021026" y="6294793"/>
            <a:ext cx="7796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模拟链路就绪</a:t>
            </a:r>
            <a:endParaRPr lang="en-US" sz="975" dirty="0"/>
          </a:p>
        </p:txBody>
      </p:sp>
      <p:sp>
        <p:nvSpPr>
          <p:cNvPr id="339" name="Text 321"/>
          <p:cNvSpPr/>
          <p:nvPr/>
        </p:nvSpPr>
        <p:spPr>
          <a:xfrm>
            <a:off x="11668125" y="6680555"/>
            <a:ext cx="7796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真实接口契约</a:t>
            </a:r>
            <a:endParaRPr lang="en-US" sz="975" dirty="0"/>
          </a:p>
        </p:txBody>
      </p:sp>
      <p:sp>
        <p:nvSpPr>
          <p:cNvPr id="340" name="Text 322"/>
          <p:cNvSpPr/>
          <p:nvPr/>
        </p:nvSpPr>
        <p:spPr>
          <a:xfrm>
            <a:off x="11668125" y="6894868"/>
            <a:ext cx="4366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未提供</a:t>
            </a:r>
            <a:endParaRPr lang="en-US" sz="1050" dirty="0"/>
          </a:p>
        </p:txBody>
      </p:sp>
      <p:sp>
        <p:nvSpPr>
          <p:cNvPr id="341" name="Text 323"/>
          <p:cNvSpPr/>
          <p:nvPr/>
        </p:nvSpPr>
        <p:spPr>
          <a:xfrm>
            <a:off x="14820900" y="6680555"/>
            <a:ext cx="88355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 / 查询能力</a:t>
            </a:r>
            <a:endParaRPr lang="en-US" sz="975" dirty="0"/>
          </a:p>
        </p:txBody>
      </p:sp>
      <p:sp>
        <p:nvSpPr>
          <p:cNvPr id="342" name="Text 324"/>
          <p:cNvSpPr/>
          <p:nvPr/>
        </p:nvSpPr>
        <p:spPr>
          <a:xfrm>
            <a:off x="14820900" y="6894868"/>
            <a:ext cx="12367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未核验；不自动重发</a:t>
            </a:r>
            <a:endParaRPr lang="en-US" sz="1050" dirty="0"/>
          </a:p>
        </p:txBody>
      </p:sp>
      <p:sp>
        <p:nvSpPr>
          <p:cNvPr id="343" name="Text 325"/>
          <p:cNvSpPr/>
          <p:nvPr/>
        </p:nvSpPr>
        <p:spPr>
          <a:xfrm>
            <a:off x="11668125" y="7209193"/>
            <a:ext cx="111215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AGV就位 / 装载许可</a:t>
            </a:r>
            <a:endParaRPr lang="en-US" sz="975" dirty="0"/>
          </a:p>
        </p:txBody>
      </p:sp>
      <p:sp>
        <p:nvSpPr>
          <p:cNvPr id="344" name="Text 326"/>
          <p:cNvSpPr/>
          <p:nvPr/>
        </p:nvSpPr>
        <p:spPr>
          <a:xfrm>
            <a:off x="11668125" y="7423505"/>
            <a:ext cx="115070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D-05 / D-06 待确认</a:t>
            </a:r>
            <a:endParaRPr lang="en-US" sz="1050" dirty="0"/>
          </a:p>
        </p:txBody>
      </p:sp>
      <p:sp>
        <p:nvSpPr>
          <p:cNvPr id="345" name="Text 327"/>
          <p:cNvSpPr/>
          <p:nvPr/>
        </p:nvSpPr>
        <p:spPr>
          <a:xfrm>
            <a:off x="14820900" y="720919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</a:t>
            </a:r>
            <a:endParaRPr lang="en-US" sz="975" dirty="0"/>
          </a:p>
        </p:txBody>
      </p:sp>
      <p:sp>
        <p:nvSpPr>
          <p:cNvPr id="346" name="Text 328"/>
          <p:cNvSpPr/>
          <p:nvPr/>
        </p:nvSpPr>
        <p:spPr>
          <a:xfrm>
            <a:off x="14820900" y="7423505"/>
            <a:ext cx="15034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不会显示或写入诊断摘要</a:t>
            </a:r>
            <a:endParaRPr lang="en-US" sz="1050" dirty="0"/>
          </a:p>
        </p:txBody>
      </p:sp>
      <p:sp>
        <p:nvSpPr>
          <p:cNvPr id="347" name="Shape 329"/>
          <p:cNvSpPr/>
          <p:nvPr/>
        </p:nvSpPr>
        <p:spPr>
          <a:xfrm>
            <a:off x="11487150" y="7914233"/>
            <a:ext cx="131445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30"/>
          <p:cNvSpPr/>
          <p:nvPr/>
        </p:nvSpPr>
        <p:spPr>
          <a:xfrm>
            <a:off x="11487150" y="791423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9" name="Shape 331"/>
          <p:cNvSpPr/>
          <p:nvPr/>
        </p:nvSpPr>
        <p:spPr>
          <a:xfrm>
            <a:off x="11487150" y="832380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0" name="Shape 332"/>
          <p:cNvSpPr/>
          <p:nvPr/>
        </p:nvSpPr>
        <p:spPr>
          <a:xfrm>
            <a:off x="11487150" y="791423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1" name="Shape 333"/>
          <p:cNvSpPr/>
          <p:nvPr/>
        </p:nvSpPr>
        <p:spPr>
          <a:xfrm>
            <a:off x="12792075" y="791423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352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610975" y="8028533"/>
            <a:ext cx="190500" cy="190500"/>
          </a:xfrm>
          <a:prstGeom prst="rect">
            <a:avLst/>
          </a:prstGeom>
        </p:spPr>
      </p:pic>
      <p:sp>
        <p:nvSpPr>
          <p:cNvPr id="353" name="Text 334"/>
          <p:cNvSpPr/>
          <p:nvPr/>
        </p:nvSpPr>
        <p:spPr>
          <a:xfrm>
            <a:off x="11877675" y="8028343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导出诊断摘要</a:t>
            </a:r>
            <a:endParaRPr lang="en-US" sz="1050" dirty="0"/>
          </a:p>
        </p:txBody>
      </p:sp>
      <p:sp>
        <p:nvSpPr>
          <p:cNvPr id="354" name="Shape 335"/>
          <p:cNvSpPr/>
          <p:nvPr/>
        </p:nvSpPr>
        <p:spPr>
          <a:xfrm>
            <a:off x="12915900" y="7914233"/>
            <a:ext cx="1047750" cy="419100"/>
          </a:xfrm>
          <a:prstGeom prst="roundRect">
            <a:avLst>
              <a:gd name="adj" fmla="val 15909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355" name="Shape 336"/>
          <p:cNvSpPr/>
          <p:nvPr/>
        </p:nvSpPr>
        <p:spPr>
          <a:xfrm>
            <a:off x="12915900" y="7914233"/>
            <a:ext cx="10477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356" name="Shape 337"/>
          <p:cNvSpPr/>
          <p:nvPr/>
        </p:nvSpPr>
        <p:spPr>
          <a:xfrm>
            <a:off x="12915900" y="8323808"/>
            <a:ext cx="10477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357" name="Shape 338"/>
          <p:cNvSpPr/>
          <p:nvPr/>
        </p:nvSpPr>
        <p:spPr>
          <a:xfrm>
            <a:off x="12915900" y="7914233"/>
            <a:ext cx="9525" cy="4191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358" name="Shape 339"/>
          <p:cNvSpPr/>
          <p:nvPr/>
        </p:nvSpPr>
        <p:spPr>
          <a:xfrm>
            <a:off x="13954125" y="7914233"/>
            <a:ext cx="9525" cy="4191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pic>
        <p:nvPicPr>
          <p:cNvPr id="35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3039725" y="8028533"/>
            <a:ext cx="190500" cy="190500"/>
          </a:xfrm>
          <a:prstGeom prst="rect">
            <a:avLst/>
          </a:prstGeom>
        </p:spPr>
      </p:pic>
      <p:sp>
        <p:nvSpPr>
          <p:cNvPr id="360" name="Text 340"/>
          <p:cNvSpPr/>
          <p:nvPr/>
        </p:nvSpPr>
        <p:spPr>
          <a:xfrm>
            <a:off x="13306425" y="8028343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重连设备</a:t>
            </a:r>
            <a:endParaRPr lang="en-US" sz="1050" dirty="0"/>
          </a:p>
        </p:txBody>
      </p:sp>
      <p:sp>
        <p:nvSpPr>
          <p:cNvPr id="361" name="Text 341"/>
          <p:cNvSpPr/>
          <p:nvPr/>
        </p:nvSpPr>
        <p:spPr>
          <a:xfrm>
            <a:off x="11487150" y="8461730"/>
            <a:ext cx="423799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维护重连需要授权及现场前置条件。原型只在评审台注入恢复，不调用SDK。</a:t>
            </a:r>
            <a:endParaRPr lang="en-US" sz="975" dirty="0"/>
          </a:p>
        </p:txBody>
      </p:sp>
      <p:sp>
        <p:nvSpPr>
          <p:cNvPr id="362" name="Shape 342"/>
          <p:cNvSpPr/>
          <p:nvPr/>
        </p:nvSpPr>
        <p:spPr>
          <a:xfrm>
            <a:off x="11239500" y="9134475"/>
            <a:ext cx="7048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3" name="Text 343"/>
          <p:cNvSpPr/>
          <p:nvPr/>
        </p:nvSpPr>
        <p:spPr>
          <a:xfrm>
            <a:off x="11487150" y="9417653"/>
            <a:ext cx="16464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只读查看，不重发业务请求。</a:t>
            </a:r>
            <a:endParaRPr lang="en-US" sz="975" dirty="0"/>
          </a:p>
        </p:txBody>
      </p:sp>
      <p:sp>
        <p:nvSpPr>
          <p:cNvPr id="364" name="Shape 344"/>
          <p:cNvSpPr/>
          <p:nvPr/>
        </p:nvSpPr>
        <p:spPr>
          <a:xfrm>
            <a:off x="17059126" y="9296400"/>
            <a:ext cx="981224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45"/>
          <p:cNvSpPr/>
          <p:nvPr/>
        </p:nvSpPr>
        <p:spPr>
          <a:xfrm>
            <a:off x="17059126" y="9296400"/>
            <a:ext cx="981224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6" name="Shape 346"/>
          <p:cNvSpPr/>
          <p:nvPr/>
        </p:nvSpPr>
        <p:spPr>
          <a:xfrm>
            <a:off x="17059126" y="9705975"/>
            <a:ext cx="981224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7" name="Shape 347"/>
          <p:cNvSpPr/>
          <p:nvPr/>
        </p:nvSpPr>
        <p:spPr>
          <a:xfrm>
            <a:off x="17059126" y="9296400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8" name="Shape 348"/>
          <p:cNvSpPr/>
          <p:nvPr/>
        </p:nvSpPr>
        <p:spPr>
          <a:xfrm>
            <a:off x="18030825" y="9296400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9" name="Text 349"/>
          <p:cNvSpPr/>
          <p:nvPr/>
        </p:nvSpPr>
        <p:spPr>
          <a:xfrm>
            <a:off x="17240101" y="9417653"/>
            <a:ext cx="6558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返回工作台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7650" y="1357313"/>
            <a:ext cx="285750" cy="28575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47700" y="126187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共享周转箱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647700" y="1461897"/>
            <a:ext cx="1179576" cy="294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请扫描周转箱</a:t>
            </a:r>
            <a:endParaRPr lang="en-US" sz="1500" dirty="0"/>
          </a:p>
        </p:txBody>
      </p:sp>
      <p:sp>
        <p:nvSpPr>
          <p:cNvPr id="46" name="Shape 36"/>
          <p:cNvSpPr/>
          <p:nvPr/>
        </p:nvSpPr>
        <p:spPr>
          <a:xfrm>
            <a:off x="2514600" y="1271588"/>
            <a:ext cx="323850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2514600" y="1271588"/>
            <a:ext cx="3238500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2514600" y="1719263"/>
            <a:ext cx="3238500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2514600" y="1271588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5743575" y="1271588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2628900" y="1380934"/>
            <a:ext cx="306552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扫码枪输入周转箱条码</a:t>
            </a:r>
            <a:endParaRPr lang="en-US" sz="1500" dirty="0"/>
          </a:p>
        </p:txBody>
      </p:sp>
      <p:sp>
        <p:nvSpPr>
          <p:cNvPr id="52" name="Shape 42"/>
          <p:cNvSpPr/>
          <p:nvPr/>
        </p:nvSpPr>
        <p:spPr>
          <a:xfrm>
            <a:off x="5867400" y="1290638"/>
            <a:ext cx="1124099" cy="419100"/>
          </a:xfrm>
          <a:prstGeom prst="roundRect">
            <a:avLst>
              <a:gd name="adj" fmla="val 1590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5867400" y="1290638"/>
            <a:ext cx="11240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5867400" y="1700213"/>
            <a:ext cx="11240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5867400" y="1290638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6981974" y="1290638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6048375" y="1390460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校验周转箱</a:t>
            </a:r>
            <a:endParaRPr lang="en-US" sz="1200" dirty="0"/>
          </a:p>
        </p:txBody>
      </p:sp>
      <p:sp>
        <p:nvSpPr>
          <p:cNvPr id="58" name="Text 48"/>
          <p:cNvSpPr/>
          <p:nvPr/>
        </p:nvSpPr>
        <p:spPr>
          <a:xfrm>
            <a:off x="7105799" y="1411891"/>
            <a:ext cx="215841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先验箱，再处理Item；不会自动发车。</a:t>
            </a:r>
            <a:endParaRPr lang="en-US" sz="975" dirty="0"/>
          </a:p>
        </p:txBody>
      </p:sp>
      <p:sp>
        <p:nvSpPr>
          <p:cNvPr id="59" name="Shape 49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1707817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5" name="Shape 55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>
                <a:alpha val="0"/>
              </a:srgbClr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6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8" name="Text 57"/>
          <p:cNvSpPr/>
          <p:nvPr/>
        </p:nvSpPr>
        <p:spPr>
          <a:xfrm>
            <a:off x="714375" y="2223897"/>
            <a:ext cx="1103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等待周转箱校验</a:t>
            </a:r>
            <a:endParaRPr lang="en-US" sz="1200" dirty="0"/>
          </a:p>
        </p:txBody>
      </p:sp>
      <p:sp>
        <p:nvSpPr>
          <p:cNvPr id="69" name="Text 58"/>
          <p:cNvSpPr/>
          <p:nvPr/>
        </p:nvSpPr>
        <p:spPr>
          <a:xfrm>
            <a:off x="1895624" y="2252472"/>
            <a:ext cx="3370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先扫描正确周转箱；两个通道不会生成可执行供包任务。</a:t>
            </a:r>
            <a:endParaRPr lang="en-US" sz="1050" dirty="0"/>
          </a:p>
        </p:txBody>
      </p:sp>
      <p:sp>
        <p:nvSpPr>
          <p:cNvPr id="70" name="Text 59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71" name="Shape 60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6" name="Shape 65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8" name="Text 67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9" name="Text 68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80" name="Text 69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81" name="Shape 70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4" name="Text 72"/>
          <p:cNvSpPr/>
          <p:nvPr/>
        </p:nvSpPr>
        <p:spPr>
          <a:xfrm>
            <a:off x="847725" y="3385947"/>
            <a:ext cx="232302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等待有效Item入场</a:t>
            </a:r>
            <a:endParaRPr lang="en-US" sz="2175" dirty="0"/>
          </a:p>
        </p:txBody>
      </p:sp>
      <p:sp>
        <p:nvSpPr>
          <p:cNvPr id="85" name="Text 73"/>
          <p:cNvSpPr/>
          <p:nvPr/>
        </p:nvSpPr>
        <p:spPr>
          <a:xfrm>
            <a:off x="84772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请先完成周转箱校验，再进入Item作业。</a:t>
            </a:r>
            <a:endParaRPr lang="en-US" sz="1050" dirty="0"/>
          </a:p>
        </p:txBody>
      </p:sp>
      <p:pic>
        <p:nvPicPr>
          <p:cNvPr id="8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57688" y="5036344"/>
            <a:ext cx="419100" cy="419100"/>
          </a:xfrm>
          <a:prstGeom prst="rect">
            <a:avLst/>
          </a:prstGeom>
        </p:spPr>
      </p:pic>
      <p:sp>
        <p:nvSpPr>
          <p:cNvPr id="87" name="Text 74"/>
          <p:cNvSpPr/>
          <p:nvPr/>
        </p:nvSpPr>
        <p:spPr>
          <a:xfrm>
            <a:off x="3867150" y="5555266"/>
            <a:ext cx="143675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请先扫描周转箱</a:t>
            </a:r>
            <a:endParaRPr lang="en-US" sz="1575" dirty="0"/>
          </a:p>
        </p:txBody>
      </p:sp>
      <p:sp>
        <p:nvSpPr>
          <p:cNvPr id="88" name="Text 75"/>
          <p:cNvSpPr/>
          <p:nvPr/>
        </p:nvSpPr>
        <p:spPr>
          <a:xfrm>
            <a:off x="3219450" y="5950553"/>
            <a:ext cx="2732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周转箱通过WCS校验后，才能进入Item作业。</a:t>
            </a:r>
            <a:endParaRPr lang="en-US" sz="1050" dirty="0"/>
          </a:p>
        </p:txBody>
      </p:sp>
      <p:sp>
        <p:nvSpPr>
          <p:cNvPr id="89" name="Shape 7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90" name="Shape 7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Text 78"/>
          <p:cNvSpPr/>
          <p:nvPr/>
        </p:nvSpPr>
        <p:spPr>
          <a:xfrm>
            <a:off x="428625" y="7179725"/>
            <a:ext cx="11404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暂无可提交的Item</a:t>
            </a:r>
            <a:endParaRPr lang="en-US" sz="1050" dirty="0"/>
          </a:p>
        </p:txBody>
      </p:sp>
      <p:sp>
        <p:nvSpPr>
          <p:cNvPr id="92" name="Text 79"/>
          <p:cNvSpPr/>
          <p:nvPr/>
        </p:nvSpPr>
        <p:spPr>
          <a:xfrm>
            <a:off x="428625" y="7383470"/>
            <a:ext cx="1417106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请先完成识别与WCS校验。</a:t>
            </a:r>
            <a:endParaRPr lang="en-US" sz="900" dirty="0"/>
          </a:p>
        </p:txBody>
      </p:sp>
      <p:sp>
        <p:nvSpPr>
          <p:cNvPr id="93" name="Shape 8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94" name="Shape 8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95" name="Shape 8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96" name="Shape 8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97" name="Shape 8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98" name="Text 85"/>
          <p:cNvSpPr/>
          <p:nvPr/>
        </p:nvSpPr>
        <p:spPr>
          <a:xfrm>
            <a:off x="7639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99" name="Shape 8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8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1" name="Shape 8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2" name="Shape 8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06" name="Text 9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7" name="Text 9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08" name="Text 9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09" name="Shape 9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10" name="Shape 9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1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12" name="Text 98"/>
          <p:cNvSpPr/>
          <p:nvPr/>
        </p:nvSpPr>
        <p:spPr>
          <a:xfrm>
            <a:off x="9858375" y="3385947"/>
            <a:ext cx="232302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等待有效Item入场</a:t>
            </a:r>
            <a:endParaRPr lang="en-US" sz="2175" dirty="0"/>
          </a:p>
        </p:txBody>
      </p:sp>
      <p:sp>
        <p:nvSpPr>
          <p:cNvPr id="113" name="Text 99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请先完成周转箱校验，再进入Item作业。</a:t>
            </a:r>
            <a:endParaRPr lang="en-US" sz="1050" dirty="0"/>
          </a:p>
        </p:txBody>
      </p:sp>
      <p:pic>
        <p:nvPicPr>
          <p:cNvPr id="11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368338" y="5036344"/>
            <a:ext cx="419100" cy="419100"/>
          </a:xfrm>
          <a:prstGeom prst="rect">
            <a:avLst/>
          </a:prstGeom>
        </p:spPr>
      </p:pic>
      <p:sp>
        <p:nvSpPr>
          <p:cNvPr id="115" name="Text 100"/>
          <p:cNvSpPr/>
          <p:nvPr/>
        </p:nvSpPr>
        <p:spPr>
          <a:xfrm>
            <a:off x="12877800" y="5555266"/>
            <a:ext cx="143675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请先扫描周转箱</a:t>
            </a:r>
            <a:endParaRPr lang="en-US" sz="1575" dirty="0"/>
          </a:p>
        </p:txBody>
      </p:sp>
      <p:sp>
        <p:nvSpPr>
          <p:cNvPr id="116" name="Text 101"/>
          <p:cNvSpPr/>
          <p:nvPr/>
        </p:nvSpPr>
        <p:spPr>
          <a:xfrm>
            <a:off x="12230100" y="5950553"/>
            <a:ext cx="2732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周转箱通过WCS校验后，才能进入Item作业。</a:t>
            </a:r>
            <a:endParaRPr lang="en-US" sz="1050" dirty="0"/>
          </a:p>
        </p:txBody>
      </p:sp>
      <p:sp>
        <p:nvSpPr>
          <p:cNvPr id="117" name="Shape 102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18" name="Shape 103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9" name="Text 104"/>
          <p:cNvSpPr/>
          <p:nvPr/>
        </p:nvSpPr>
        <p:spPr>
          <a:xfrm>
            <a:off x="9439275" y="7179725"/>
            <a:ext cx="11404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暂无可提交的Item</a:t>
            </a:r>
            <a:endParaRPr lang="en-US" sz="1050" dirty="0"/>
          </a:p>
        </p:txBody>
      </p:sp>
      <p:sp>
        <p:nvSpPr>
          <p:cNvPr id="120" name="Text 105"/>
          <p:cNvSpPr/>
          <p:nvPr/>
        </p:nvSpPr>
        <p:spPr>
          <a:xfrm>
            <a:off x="9439275" y="7383470"/>
            <a:ext cx="1417106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请先完成识别与WCS校验。</a:t>
            </a:r>
            <a:endParaRPr lang="en-US" sz="900" dirty="0"/>
          </a:p>
        </p:txBody>
      </p:sp>
      <p:sp>
        <p:nvSpPr>
          <p:cNvPr id="121" name="Shape 106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122" name="Shape 107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24" name="Shape 109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26" name="Text 111"/>
          <p:cNvSpPr/>
          <p:nvPr/>
        </p:nvSpPr>
        <p:spPr>
          <a:xfrm>
            <a:off x="1664970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27" name="Shape 112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13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9" name="Shape 114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6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7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Text 118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34" name="Text 119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3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36" name="Text 120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37" name="Shape 121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38" name="Shape 122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9" name="Text 123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140" name="Shape 124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41" name="Shape 125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2" name="Text 126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143" name="Shape 127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44" name="Shape 128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5" name="Text 129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146" name="Shape 130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47" name="Shape 131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8" name="Text 132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149" name="Shape 133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50" name="Shape 134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Text 135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152" name="Shape 136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53" name="Shape 137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4" name="Text 138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155" name="Shape 139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56" name="Shape 140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7" name="Text 141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158" name="Shape 142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59" name="Text 143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160" name="Shape 144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1" name="Text 145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162" name="Shape 146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3" name="Text 147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164" name="Shape 148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5" name="Text 149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166" name="Shape 150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7" name="Text 151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168" name="Shape 152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9" name="Shape 153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170" name="Shape 154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171" name="Text 155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172" name="Shape 156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73" name="Text 157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174" name="Shape 158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75" name="Text 159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176" name="Shape 160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77" name="Text 161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178" name="Shape 162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79" name="Text 163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180" name="Shape 164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1" name="Text 165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182" name="Shape 166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3" name="Text 167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184" name="Shape 168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5" name="Shape 169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186" name="Shape 170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187" name="Text 171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188" name="Shape 172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9" name="Text 173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190" name="Text 174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191" name="Text 175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192" name="Text 176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193" name="Text 177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194" name="Shape 178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196" name="Text 180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197" name="Shape 181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198" name="Shape 182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199" name="Shape 183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0" name="Shape 184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1" name="Shape 185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2" name="Text 186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账号密码登录</a:t>
            </a:r>
            <a:endParaRPr lang="en-US" sz="900" dirty="0"/>
          </a:p>
        </p:txBody>
      </p:sp>
      <p:sp>
        <p:nvSpPr>
          <p:cNvPr id="203" name="Shape 187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04" name="Shape 188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5" name="Shape 189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6" name="Shape 190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7" name="Shape 191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8" name="Text 192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09" name="Shape 193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10" name="Shape 194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11" name="Shape 195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12" name="Shape 196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13" name="Shape 197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14" name="Text 198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15" name="Text 199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  <p:sp>
        <p:nvSpPr>
          <p:cNvPr id="216" name="Shape 200"/>
          <p:cNvSpPr/>
          <p:nvPr/>
        </p:nvSpPr>
        <p:spPr>
          <a:xfrm>
            <a:off x="0" y="0"/>
            <a:ext cx="18288000" cy="98679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217" name="Shape 201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02"/>
          <p:cNvSpPr/>
          <p:nvPr/>
        </p:nvSpPr>
        <p:spPr>
          <a:xfrm>
            <a:off x="0" y="6762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9" name="Shape 203"/>
          <p:cNvSpPr/>
          <p:nvPr/>
        </p:nvSpPr>
        <p:spPr>
          <a:xfrm>
            <a:off x="304800" y="1762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22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71475" y="242888"/>
            <a:ext cx="190500" cy="190500"/>
          </a:xfrm>
          <a:prstGeom prst="rect">
            <a:avLst/>
          </a:prstGeom>
        </p:spPr>
      </p:pic>
      <p:sp>
        <p:nvSpPr>
          <p:cNvPr id="221" name="Text 204"/>
          <p:cNvSpPr/>
          <p:nvPr/>
        </p:nvSpPr>
        <p:spPr>
          <a:xfrm>
            <a:off x="742950" y="1926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222" name="Text 205"/>
          <p:cNvSpPr/>
          <p:nvPr/>
        </p:nvSpPr>
        <p:spPr>
          <a:xfrm>
            <a:off x="1857375" y="249841"/>
            <a:ext cx="72416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ST-01 · 1层</a:t>
            </a:r>
            <a:endParaRPr lang="en-US" sz="975" dirty="0"/>
          </a:p>
        </p:txBody>
      </p:sp>
      <p:sp>
        <p:nvSpPr>
          <p:cNvPr id="223" name="Shape 206"/>
          <p:cNvSpPr/>
          <p:nvPr/>
        </p:nvSpPr>
        <p:spPr>
          <a:xfrm>
            <a:off x="16488668" y="197644"/>
            <a:ext cx="1494532" cy="280988"/>
          </a:xfrm>
          <a:prstGeom prst="roundRect">
            <a:avLst>
              <a:gd name="adj" fmla="val 16949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224" name="Shape 207"/>
          <p:cNvSpPr/>
          <p:nvPr/>
        </p:nvSpPr>
        <p:spPr>
          <a:xfrm>
            <a:off x="16583918" y="304800"/>
            <a:ext cx="66675" cy="66675"/>
          </a:xfrm>
          <a:prstGeom prst="roundRect">
            <a:avLst>
              <a:gd name="adj" fmla="val 714286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25" name="Text 208"/>
          <p:cNvSpPr/>
          <p:nvPr/>
        </p:nvSpPr>
        <p:spPr>
          <a:xfrm>
            <a:off x="16717268" y="249841"/>
            <a:ext cx="120725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205F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交互评审 · 示例数据</a:t>
            </a:r>
            <a:endParaRPr lang="en-US" sz="975" dirty="0"/>
          </a:p>
        </p:txBody>
      </p:sp>
      <p:sp>
        <p:nvSpPr>
          <p:cNvPr id="226" name="Shape 209"/>
          <p:cNvSpPr/>
          <p:nvPr/>
        </p:nvSpPr>
        <p:spPr>
          <a:xfrm>
            <a:off x="6858000" y="2762250"/>
            <a:ext cx="4572000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10"/>
          <p:cNvSpPr/>
          <p:nvPr/>
        </p:nvSpPr>
        <p:spPr>
          <a:xfrm>
            <a:off x="6858000" y="2762250"/>
            <a:ext cx="4572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8" name="Shape 211"/>
          <p:cNvSpPr/>
          <p:nvPr/>
        </p:nvSpPr>
        <p:spPr>
          <a:xfrm>
            <a:off x="6858000" y="7267575"/>
            <a:ext cx="4572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9" name="Shape 212"/>
          <p:cNvSpPr/>
          <p:nvPr/>
        </p:nvSpPr>
        <p:spPr>
          <a:xfrm>
            <a:off x="6858000" y="2762250"/>
            <a:ext cx="9525" cy="45148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30" name="Shape 213"/>
          <p:cNvSpPr/>
          <p:nvPr/>
        </p:nvSpPr>
        <p:spPr>
          <a:xfrm>
            <a:off x="11420475" y="2762250"/>
            <a:ext cx="9525" cy="45148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31" name="Text 214"/>
          <p:cNvSpPr/>
          <p:nvPr/>
        </p:nvSpPr>
        <p:spPr>
          <a:xfrm>
            <a:off x="7210425" y="3128772"/>
            <a:ext cx="1903625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登录供包工作台</a:t>
            </a:r>
            <a:endParaRPr lang="en-US" sz="2100" dirty="0"/>
          </a:p>
        </p:txBody>
      </p:sp>
      <p:sp>
        <p:nvSpPr>
          <p:cNvPr id="232" name="Text 215"/>
          <p:cNvSpPr/>
          <p:nvPr/>
        </p:nvSpPr>
        <p:spPr>
          <a:xfrm>
            <a:off x="7210425" y="3652647"/>
            <a:ext cx="244729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身份通过WCS验证。请勿输入真实凭据。</a:t>
            </a:r>
            <a:endParaRPr lang="en-US" sz="1050" dirty="0"/>
          </a:p>
        </p:txBody>
      </p:sp>
      <p:sp>
        <p:nvSpPr>
          <p:cNvPr id="233" name="Text 216"/>
          <p:cNvSpPr/>
          <p:nvPr/>
        </p:nvSpPr>
        <p:spPr>
          <a:xfrm>
            <a:off x="7210425" y="406222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操作员账号</a:t>
            </a:r>
            <a:endParaRPr lang="en-US" sz="1050" dirty="0"/>
          </a:p>
        </p:txBody>
      </p:sp>
      <p:sp>
        <p:nvSpPr>
          <p:cNvPr id="234" name="Shape 217"/>
          <p:cNvSpPr/>
          <p:nvPr/>
        </p:nvSpPr>
        <p:spPr>
          <a:xfrm>
            <a:off x="7210425" y="4333875"/>
            <a:ext cx="38671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18"/>
          <p:cNvSpPr/>
          <p:nvPr/>
        </p:nvSpPr>
        <p:spPr>
          <a:xfrm>
            <a:off x="7210425" y="4333875"/>
            <a:ext cx="3867150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36" name="Shape 219"/>
          <p:cNvSpPr/>
          <p:nvPr/>
        </p:nvSpPr>
        <p:spPr>
          <a:xfrm>
            <a:off x="7210425" y="4781550"/>
            <a:ext cx="3867150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37" name="Shape 220"/>
          <p:cNvSpPr/>
          <p:nvPr/>
        </p:nvSpPr>
        <p:spPr>
          <a:xfrm>
            <a:off x="7210425" y="4333875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38" name="Shape 221"/>
          <p:cNvSpPr/>
          <p:nvPr/>
        </p:nvSpPr>
        <p:spPr>
          <a:xfrm>
            <a:off x="11068050" y="4333875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39" name="Text 222"/>
          <p:cNvSpPr/>
          <p:nvPr/>
        </p:nvSpPr>
        <p:spPr>
          <a:xfrm>
            <a:off x="7324725" y="4480370"/>
            <a:ext cx="3694176" cy="191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</a:t>
            </a:r>
            <a:endParaRPr lang="en-US" sz="1050" dirty="0"/>
          </a:p>
        </p:txBody>
      </p:sp>
      <p:sp>
        <p:nvSpPr>
          <p:cNvPr id="240" name="Text 223"/>
          <p:cNvSpPr/>
          <p:nvPr/>
        </p:nvSpPr>
        <p:spPr>
          <a:xfrm>
            <a:off x="7210425" y="50051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</a:t>
            </a:r>
            <a:endParaRPr lang="en-US" sz="1050" dirty="0"/>
          </a:p>
        </p:txBody>
      </p:sp>
      <p:sp>
        <p:nvSpPr>
          <p:cNvPr id="241" name="Shape 224"/>
          <p:cNvSpPr/>
          <p:nvPr/>
        </p:nvSpPr>
        <p:spPr>
          <a:xfrm>
            <a:off x="7210425" y="5276850"/>
            <a:ext cx="38671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25"/>
          <p:cNvSpPr/>
          <p:nvPr/>
        </p:nvSpPr>
        <p:spPr>
          <a:xfrm>
            <a:off x="7210425" y="5276850"/>
            <a:ext cx="3867150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43" name="Shape 226"/>
          <p:cNvSpPr/>
          <p:nvPr/>
        </p:nvSpPr>
        <p:spPr>
          <a:xfrm>
            <a:off x="7210425" y="5724525"/>
            <a:ext cx="3867150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44" name="Shape 227"/>
          <p:cNvSpPr/>
          <p:nvPr/>
        </p:nvSpPr>
        <p:spPr>
          <a:xfrm>
            <a:off x="7210425" y="5276850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45" name="Shape 228"/>
          <p:cNvSpPr/>
          <p:nvPr/>
        </p:nvSpPr>
        <p:spPr>
          <a:xfrm>
            <a:off x="11068050" y="5276850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246" name="Shape 229"/>
          <p:cNvSpPr/>
          <p:nvPr/>
        </p:nvSpPr>
        <p:spPr>
          <a:xfrm>
            <a:off x="7210425" y="5962650"/>
            <a:ext cx="3867150" cy="495300"/>
          </a:xfrm>
          <a:prstGeom prst="roundRect">
            <a:avLst>
              <a:gd name="adj" fmla="val 13462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47" name="Shape 230"/>
          <p:cNvSpPr/>
          <p:nvPr/>
        </p:nvSpPr>
        <p:spPr>
          <a:xfrm>
            <a:off x="7210425" y="5962650"/>
            <a:ext cx="38671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48" name="Shape 231"/>
          <p:cNvSpPr/>
          <p:nvPr/>
        </p:nvSpPr>
        <p:spPr>
          <a:xfrm>
            <a:off x="7210425" y="6448425"/>
            <a:ext cx="38671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49" name="Shape 232"/>
          <p:cNvSpPr/>
          <p:nvPr/>
        </p:nvSpPr>
        <p:spPr>
          <a:xfrm>
            <a:off x="7210425" y="5962650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50" name="Shape 233"/>
          <p:cNvSpPr/>
          <p:nvPr/>
        </p:nvSpPr>
        <p:spPr>
          <a:xfrm>
            <a:off x="11068050" y="5962650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51" name="Text 234"/>
          <p:cNvSpPr/>
          <p:nvPr/>
        </p:nvSpPr>
        <p:spPr>
          <a:xfrm>
            <a:off x="8991451" y="6100572"/>
            <a:ext cx="341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</a:t>
            </a:r>
            <a:endParaRPr lang="en-US" sz="1200" dirty="0"/>
          </a:p>
        </p:txBody>
      </p:sp>
      <p:sp>
        <p:nvSpPr>
          <p:cNvPr id="252" name="Text 235"/>
          <p:cNvSpPr/>
          <p:nvPr/>
        </p:nvSpPr>
        <p:spPr>
          <a:xfrm>
            <a:off x="7210425" y="6595872"/>
            <a:ext cx="2836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账号密码仅在页面内存使用，不发送网络请求。</a:t>
            </a:r>
            <a:endParaRPr lang="en-US" sz="1050" dirty="0"/>
          </a:p>
        </p:txBody>
      </p:sp>
      <p:sp>
        <p:nvSpPr>
          <p:cNvPr id="253" name="Text 236"/>
          <p:cNvSpPr/>
          <p:nvPr/>
        </p:nvSpPr>
        <p:spPr>
          <a:xfrm>
            <a:off x="7600801" y="9529572"/>
            <a:ext cx="31228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登录跳过只能由已批准配置控制，不提供临时跳过验证按钮。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2768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59468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1968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8668" y="204597"/>
            <a:ext cx="5759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 · 1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943124" cy="280988"/>
          </a:xfrm>
          <a:prstGeom prst="roundRect">
            <a:avLst>
              <a:gd name="adj" fmla="val 16949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6558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恢复核对中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9345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结果待核对 · 请勿重复放货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2726680" y="2252472"/>
            <a:ext cx="298069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WCS可能已处理当前请求；本箱新入场暂不开放。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7040076" y="2245328"/>
            <a:ext cx="9035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不等于业务失败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结果待核对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98069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请求等待超时，WCS可能已处理；请勿重复放货。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禁止重复发车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只读核对；真实查询能力尚未确认。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7" name="Text 172"/>
          <p:cNvSpPr/>
          <p:nvPr/>
        </p:nvSpPr>
        <p:spPr>
          <a:xfrm>
            <a:off x="16568738" y="7241191"/>
            <a:ext cx="846201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查看待核对</a:t>
            </a:r>
            <a:endParaRPr lang="en-US" sz="1275" dirty="0"/>
          </a:p>
        </p:txBody>
      </p:sp>
      <p:sp>
        <p:nvSpPr>
          <p:cNvPr id="188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5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7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5 条</a:t>
            </a:r>
            <a:endParaRPr lang="en-US" sz="975" dirty="0"/>
          </a:p>
        </p:txBody>
      </p:sp>
      <p:sp>
        <p:nvSpPr>
          <p:cNvPr id="198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99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0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1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2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3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4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5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6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7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8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9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0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1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2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3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4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5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6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7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8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19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0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14:32:08</a:t>
            </a:r>
            <a:endParaRPr lang="en-US" sz="975" dirty="0"/>
          </a:p>
        </p:txBody>
      </p:sp>
      <p:sp>
        <p:nvSpPr>
          <p:cNvPr id="221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2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23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4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975" dirty="0"/>
          </a:p>
        </p:txBody>
      </p:sp>
      <p:sp>
        <p:nvSpPr>
          <p:cNvPr id="225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6" name="Text 210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031</a:t>
            </a:r>
            <a:endParaRPr lang="en-US" sz="975" dirty="0"/>
          </a:p>
        </p:txBody>
      </p:sp>
      <p:sp>
        <p:nvSpPr>
          <p:cNvPr id="227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8" name="Text 212"/>
          <p:cNvSpPr/>
          <p:nvPr/>
        </p:nvSpPr>
        <p:spPr>
          <a:xfrm>
            <a:off x="12600831" y="8808053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75" dirty="0"/>
          </a:p>
        </p:txBody>
      </p:sp>
      <p:sp>
        <p:nvSpPr>
          <p:cNvPr id="229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0" name="Shape 214"/>
          <p:cNvSpPr/>
          <p:nvPr/>
        </p:nvSpPr>
        <p:spPr>
          <a:xfrm>
            <a:off x="12942094" y="8774906"/>
            <a:ext cx="609749" cy="209550"/>
          </a:xfrm>
          <a:prstGeom prst="roundRect">
            <a:avLst>
              <a:gd name="adj" fmla="val 22727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231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232" name="Text 216"/>
          <p:cNvSpPr/>
          <p:nvPr/>
        </p:nvSpPr>
        <p:spPr>
          <a:xfrm>
            <a:off x="13142119" y="8798528"/>
            <a:ext cx="3796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待核对</a:t>
            </a:r>
            <a:endParaRPr lang="en-US" sz="900" dirty="0"/>
          </a:p>
        </p:txBody>
      </p:sp>
      <p:sp>
        <p:nvSpPr>
          <p:cNvPr id="233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4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5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6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37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8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39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0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1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2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3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4" name="Text 228"/>
          <p:cNvSpPr/>
          <p:nvPr/>
        </p:nvSpPr>
        <p:spPr>
          <a:xfrm>
            <a:off x="12526268" y="9236678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45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6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7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8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49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0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1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2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3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当前未决：1 项</a:t>
            </a:r>
            <a:endParaRPr lang="en-US" sz="825" dirty="0"/>
          </a:p>
        </p:txBody>
      </p:sp>
      <p:sp>
        <p:nvSpPr>
          <p:cNvPr id="254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5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6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7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8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59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0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重启 · 恢复核对中</a:t>
            </a:r>
            <a:endParaRPr lang="en-US" sz="900" dirty="0"/>
          </a:p>
        </p:txBody>
      </p:sp>
      <p:sp>
        <p:nvSpPr>
          <p:cNvPr id="264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5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6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0" name="Shape 254"/>
          <p:cNvSpPr/>
          <p:nvPr/>
        </p:nvSpPr>
        <p:spPr>
          <a:xfrm>
            <a:off x="4731693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1" name="Shape 255"/>
          <p:cNvSpPr/>
          <p:nvPr/>
        </p:nvSpPr>
        <p:spPr>
          <a:xfrm>
            <a:off x="4731693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2" name="Shape 256"/>
          <p:cNvSpPr/>
          <p:nvPr/>
        </p:nvSpPr>
        <p:spPr>
          <a:xfrm>
            <a:off x="4731693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8"/>
          <p:cNvSpPr/>
          <p:nvPr/>
        </p:nvSpPr>
        <p:spPr>
          <a:xfrm>
            <a:off x="56176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Text 259"/>
          <p:cNvSpPr/>
          <p:nvPr/>
        </p:nvSpPr>
        <p:spPr>
          <a:xfrm>
            <a:off x="4836468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注入恢复完成</a:t>
            </a:r>
            <a:endParaRPr lang="en-US" sz="900" dirty="0"/>
          </a:p>
        </p:txBody>
      </p:sp>
      <p:sp>
        <p:nvSpPr>
          <p:cNvPr id="276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  <p:sp>
        <p:nvSpPr>
          <p:cNvPr id="277" name="Shape 261"/>
          <p:cNvSpPr/>
          <p:nvPr/>
        </p:nvSpPr>
        <p:spPr>
          <a:xfrm>
            <a:off x="0" y="0"/>
            <a:ext cx="18288000" cy="98679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278" name="Shape 26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63"/>
          <p:cNvSpPr/>
          <p:nvPr/>
        </p:nvSpPr>
        <p:spPr>
          <a:xfrm>
            <a:off x="0" y="6762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0" name="Shape 264"/>
          <p:cNvSpPr/>
          <p:nvPr/>
        </p:nvSpPr>
        <p:spPr>
          <a:xfrm>
            <a:off x="304800" y="1762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28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71475" y="242888"/>
            <a:ext cx="190500" cy="190500"/>
          </a:xfrm>
          <a:prstGeom prst="rect">
            <a:avLst/>
          </a:prstGeom>
        </p:spPr>
      </p:pic>
      <p:sp>
        <p:nvSpPr>
          <p:cNvPr id="282" name="Text 265"/>
          <p:cNvSpPr/>
          <p:nvPr/>
        </p:nvSpPr>
        <p:spPr>
          <a:xfrm>
            <a:off x="742950" y="1926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283" name="Text 266"/>
          <p:cNvSpPr/>
          <p:nvPr/>
        </p:nvSpPr>
        <p:spPr>
          <a:xfrm>
            <a:off x="1857375" y="249841"/>
            <a:ext cx="72416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ST-01 · 1层</a:t>
            </a:r>
            <a:endParaRPr lang="en-US" sz="975" dirty="0"/>
          </a:p>
        </p:txBody>
      </p:sp>
      <p:sp>
        <p:nvSpPr>
          <p:cNvPr id="284" name="Shape 267"/>
          <p:cNvSpPr/>
          <p:nvPr/>
        </p:nvSpPr>
        <p:spPr>
          <a:xfrm>
            <a:off x="16488668" y="197644"/>
            <a:ext cx="1494532" cy="280988"/>
          </a:xfrm>
          <a:prstGeom prst="roundRect">
            <a:avLst>
              <a:gd name="adj" fmla="val 16949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285" name="Shape 268"/>
          <p:cNvSpPr/>
          <p:nvPr/>
        </p:nvSpPr>
        <p:spPr>
          <a:xfrm>
            <a:off x="16583918" y="304800"/>
            <a:ext cx="66675" cy="66675"/>
          </a:xfrm>
          <a:prstGeom prst="roundRect">
            <a:avLst>
              <a:gd name="adj" fmla="val 714286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86" name="Text 269"/>
          <p:cNvSpPr/>
          <p:nvPr/>
        </p:nvSpPr>
        <p:spPr>
          <a:xfrm>
            <a:off x="16717268" y="249841"/>
            <a:ext cx="120725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205F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交互评审 · 示例数据</a:t>
            </a:r>
            <a:endParaRPr lang="en-US" sz="975" dirty="0"/>
          </a:p>
        </p:txBody>
      </p:sp>
      <p:sp>
        <p:nvSpPr>
          <p:cNvPr id="287" name="Shape 270"/>
          <p:cNvSpPr/>
          <p:nvPr/>
        </p:nvSpPr>
        <p:spPr>
          <a:xfrm>
            <a:off x="6000750" y="1838771"/>
            <a:ext cx="6286500" cy="636165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71"/>
          <p:cNvSpPr/>
          <p:nvPr/>
        </p:nvSpPr>
        <p:spPr>
          <a:xfrm>
            <a:off x="6000750" y="1838771"/>
            <a:ext cx="6286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9" name="Shape 272"/>
          <p:cNvSpPr/>
          <p:nvPr/>
        </p:nvSpPr>
        <p:spPr>
          <a:xfrm>
            <a:off x="6000750" y="8190905"/>
            <a:ext cx="6286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0" name="Shape 273"/>
          <p:cNvSpPr/>
          <p:nvPr/>
        </p:nvSpPr>
        <p:spPr>
          <a:xfrm>
            <a:off x="6000750" y="1838771"/>
            <a:ext cx="9525" cy="6361658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1" name="Shape 274"/>
          <p:cNvSpPr/>
          <p:nvPr/>
        </p:nvSpPr>
        <p:spPr>
          <a:xfrm>
            <a:off x="12277725" y="1838771"/>
            <a:ext cx="9525" cy="6361658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2" name="Text 275"/>
          <p:cNvSpPr/>
          <p:nvPr/>
        </p:nvSpPr>
        <p:spPr>
          <a:xfrm>
            <a:off x="6296025" y="2148143"/>
            <a:ext cx="1370225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恢复核对中</a:t>
            </a:r>
            <a:endParaRPr lang="en-US" sz="2100" dirty="0"/>
          </a:p>
        </p:txBody>
      </p:sp>
      <p:sp>
        <p:nvSpPr>
          <p:cNvPr id="293" name="Text 276"/>
          <p:cNvSpPr/>
          <p:nvPr/>
        </p:nvSpPr>
        <p:spPr>
          <a:xfrm>
            <a:off x="6296025" y="2672018"/>
            <a:ext cx="24368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先恢复旧箱与未决请求，再开放新作业。</a:t>
            </a:r>
            <a:endParaRPr lang="en-US" sz="1050" dirty="0"/>
          </a:p>
        </p:txBody>
      </p:sp>
      <p:sp>
        <p:nvSpPr>
          <p:cNvPr id="294" name="Shape 277"/>
          <p:cNvSpPr/>
          <p:nvPr/>
        </p:nvSpPr>
        <p:spPr>
          <a:xfrm>
            <a:off x="6296025" y="3719959"/>
            <a:ext cx="56959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29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296025" y="3265140"/>
            <a:ext cx="190500" cy="190500"/>
          </a:xfrm>
          <a:prstGeom prst="rect">
            <a:avLst/>
          </a:prstGeom>
        </p:spPr>
      </p:pic>
      <p:sp>
        <p:nvSpPr>
          <p:cNvPr id="296" name="Text 278"/>
          <p:cNvSpPr/>
          <p:nvPr/>
        </p:nvSpPr>
        <p:spPr>
          <a:xfrm>
            <a:off x="6619875" y="3157793"/>
            <a:ext cx="9511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本地业务记录</a:t>
            </a:r>
            <a:endParaRPr lang="en-US" sz="1200" dirty="0"/>
          </a:p>
        </p:txBody>
      </p:sp>
      <p:sp>
        <p:nvSpPr>
          <p:cNvPr id="297" name="Text 279"/>
          <p:cNvSpPr/>
          <p:nvPr/>
        </p:nvSpPr>
        <p:spPr>
          <a:xfrm>
            <a:off x="6619875" y="3386393"/>
            <a:ext cx="12178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活动箱 TC-2026-0091</a:t>
            </a:r>
            <a:endParaRPr lang="en-US" sz="975" dirty="0"/>
          </a:p>
        </p:txBody>
      </p:sp>
      <p:sp>
        <p:nvSpPr>
          <p:cNvPr id="298" name="Shape 280"/>
          <p:cNvSpPr/>
          <p:nvPr/>
        </p:nvSpPr>
        <p:spPr>
          <a:xfrm>
            <a:off x="11296501" y="3219896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99" name="Shape 281"/>
          <p:cNvSpPr/>
          <p:nvPr/>
        </p:nvSpPr>
        <p:spPr>
          <a:xfrm>
            <a:off x="11391751" y="3327053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00" name="Text 282"/>
          <p:cNvSpPr/>
          <p:nvPr/>
        </p:nvSpPr>
        <p:spPr>
          <a:xfrm>
            <a:off x="11525101" y="3272093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已读取</a:t>
            </a:r>
            <a:endParaRPr lang="en-US" sz="975" dirty="0"/>
          </a:p>
        </p:txBody>
      </p:sp>
      <p:sp>
        <p:nvSpPr>
          <p:cNvPr id="301" name="Shape 283"/>
          <p:cNvSpPr/>
          <p:nvPr/>
        </p:nvSpPr>
        <p:spPr>
          <a:xfrm>
            <a:off x="6296025" y="4448621"/>
            <a:ext cx="56959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302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296025" y="3993803"/>
            <a:ext cx="190500" cy="190500"/>
          </a:xfrm>
          <a:prstGeom prst="rect">
            <a:avLst/>
          </a:prstGeom>
        </p:spPr>
      </p:pic>
      <p:sp>
        <p:nvSpPr>
          <p:cNvPr id="303" name="Text 284"/>
          <p:cNvSpPr/>
          <p:nvPr/>
        </p:nvSpPr>
        <p:spPr>
          <a:xfrm>
            <a:off x="6619875" y="3886456"/>
            <a:ext cx="9511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原始请求身份</a:t>
            </a:r>
            <a:endParaRPr lang="en-US" sz="1200" dirty="0"/>
          </a:p>
        </p:txBody>
      </p:sp>
      <p:sp>
        <p:nvSpPr>
          <p:cNvPr id="304" name="Text 285"/>
          <p:cNvSpPr/>
          <p:nvPr/>
        </p:nvSpPr>
        <p:spPr>
          <a:xfrm>
            <a:off x="6619875" y="4115056"/>
            <a:ext cx="166326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REQ-DEMO-005，不创建新ID</a:t>
            </a:r>
            <a:endParaRPr lang="en-US" sz="975" dirty="0"/>
          </a:p>
        </p:txBody>
      </p:sp>
      <p:sp>
        <p:nvSpPr>
          <p:cNvPr id="305" name="Shape 286"/>
          <p:cNvSpPr/>
          <p:nvPr/>
        </p:nvSpPr>
        <p:spPr>
          <a:xfrm>
            <a:off x="11296501" y="394855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306" name="Shape 287"/>
          <p:cNvSpPr/>
          <p:nvPr/>
        </p:nvSpPr>
        <p:spPr>
          <a:xfrm>
            <a:off x="11391751" y="405571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07" name="Text 288"/>
          <p:cNvSpPr/>
          <p:nvPr/>
        </p:nvSpPr>
        <p:spPr>
          <a:xfrm>
            <a:off x="11525101" y="400075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已保留</a:t>
            </a:r>
            <a:endParaRPr lang="en-US" sz="975" dirty="0"/>
          </a:p>
        </p:txBody>
      </p:sp>
      <p:sp>
        <p:nvSpPr>
          <p:cNvPr id="308" name="Shape 289"/>
          <p:cNvSpPr/>
          <p:nvPr/>
        </p:nvSpPr>
        <p:spPr>
          <a:xfrm>
            <a:off x="6296025" y="5177284"/>
            <a:ext cx="56959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30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296025" y="4722465"/>
            <a:ext cx="190500" cy="190500"/>
          </a:xfrm>
          <a:prstGeom prst="rect">
            <a:avLst/>
          </a:prstGeom>
        </p:spPr>
      </p:pic>
      <p:sp>
        <p:nvSpPr>
          <p:cNvPr id="310" name="Text 290"/>
          <p:cNvSpPr/>
          <p:nvPr/>
        </p:nvSpPr>
        <p:spPr>
          <a:xfrm>
            <a:off x="6619875" y="4615118"/>
            <a:ext cx="97553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WCS业务结果</a:t>
            </a:r>
            <a:endParaRPr lang="en-US" sz="1200" dirty="0"/>
          </a:p>
        </p:txBody>
      </p:sp>
      <p:sp>
        <p:nvSpPr>
          <p:cNvPr id="311" name="Text 291"/>
          <p:cNvSpPr/>
          <p:nvPr/>
        </p:nvSpPr>
        <p:spPr>
          <a:xfrm>
            <a:off x="6619875" y="4843718"/>
            <a:ext cx="15226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可能已生效，等待权威证据</a:t>
            </a:r>
            <a:endParaRPr lang="en-US" sz="975" dirty="0"/>
          </a:p>
        </p:txBody>
      </p:sp>
      <p:sp>
        <p:nvSpPr>
          <p:cNvPr id="312" name="Shape 292"/>
          <p:cNvSpPr/>
          <p:nvPr/>
        </p:nvSpPr>
        <p:spPr>
          <a:xfrm>
            <a:off x="11296501" y="4677221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13" name="Shape 293"/>
          <p:cNvSpPr/>
          <p:nvPr/>
        </p:nvSpPr>
        <p:spPr>
          <a:xfrm>
            <a:off x="11391751" y="4784378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314" name="Text 294"/>
          <p:cNvSpPr/>
          <p:nvPr/>
        </p:nvSpPr>
        <p:spPr>
          <a:xfrm>
            <a:off x="11525101" y="4729418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待核对</a:t>
            </a:r>
            <a:endParaRPr lang="en-US" sz="975" dirty="0"/>
          </a:p>
        </p:txBody>
      </p:sp>
      <p:sp>
        <p:nvSpPr>
          <p:cNvPr id="315" name="Shape 295"/>
          <p:cNvSpPr/>
          <p:nvPr/>
        </p:nvSpPr>
        <p:spPr>
          <a:xfrm>
            <a:off x="6296025" y="5905946"/>
            <a:ext cx="56959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316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296025" y="5451128"/>
            <a:ext cx="190500" cy="190500"/>
          </a:xfrm>
          <a:prstGeom prst="rect">
            <a:avLst/>
          </a:prstGeom>
        </p:spPr>
      </p:pic>
      <p:sp>
        <p:nvSpPr>
          <p:cNvPr id="317" name="Text 296"/>
          <p:cNvSpPr/>
          <p:nvPr/>
        </p:nvSpPr>
        <p:spPr>
          <a:xfrm>
            <a:off x="6619875" y="5343781"/>
            <a:ext cx="1103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设备及实体状态</a:t>
            </a:r>
            <a:endParaRPr lang="en-US" sz="1200" dirty="0"/>
          </a:p>
        </p:txBody>
      </p:sp>
      <p:sp>
        <p:nvSpPr>
          <p:cNvPr id="318" name="Text 297"/>
          <p:cNvSpPr/>
          <p:nvPr/>
        </p:nvSpPr>
        <p:spPr>
          <a:xfrm>
            <a:off x="6619875" y="5572381"/>
            <a:ext cx="15226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重新验证就位、装载与任务</a:t>
            </a:r>
            <a:endParaRPr lang="en-US" sz="975" dirty="0"/>
          </a:p>
        </p:txBody>
      </p:sp>
      <p:sp>
        <p:nvSpPr>
          <p:cNvPr id="319" name="Shape 298"/>
          <p:cNvSpPr/>
          <p:nvPr/>
        </p:nvSpPr>
        <p:spPr>
          <a:xfrm>
            <a:off x="11296501" y="5405884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20" name="Shape 299"/>
          <p:cNvSpPr/>
          <p:nvPr/>
        </p:nvSpPr>
        <p:spPr>
          <a:xfrm>
            <a:off x="11391751" y="5513040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321" name="Text 300"/>
          <p:cNvSpPr/>
          <p:nvPr/>
        </p:nvSpPr>
        <p:spPr>
          <a:xfrm>
            <a:off x="11525101" y="5458081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</a:t>
            </a:r>
            <a:endParaRPr lang="en-US" sz="975" dirty="0"/>
          </a:p>
        </p:txBody>
      </p:sp>
      <p:sp>
        <p:nvSpPr>
          <p:cNvPr id="322" name="Shape 301"/>
          <p:cNvSpPr/>
          <p:nvPr/>
        </p:nvSpPr>
        <p:spPr>
          <a:xfrm>
            <a:off x="6296025" y="6634609"/>
            <a:ext cx="56959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323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296025" y="6179790"/>
            <a:ext cx="190500" cy="190500"/>
          </a:xfrm>
          <a:prstGeom prst="rect">
            <a:avLst/>
          </a:prstGeom>
        </p:spPr>
      </p:pic>
      <p:sp>
        <p:nvSpPr>
          <p:cNvPr id="324" name="Text 302"/>
          <p:cNvSpPr/>
          <p:nvPr/>
        </p:nvSpPr>
        <p:spPr>
          <a:xfrm>
            <a:off x="6619875" y="6072443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新作业入场</a:t>
            </a:r>
            <a:endParaRPr lang="en-US" sz="1200" dirty="0"/>
          </a:p>
        </p:txBody>
      </p:sp>
      <p:sp>
        <p:nvSpPr>
          <p:cNvPr id="325" name="Text 303"/>
          <p:cNvSpPr/>
          <p:nvPr/>
        </p:nvSpPr>
        <p:spPr>
          <a:xfrm>
            <a:off x="6619875" y="6301043"/>
            <a:ext cx="13988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所有关联事实收敛前暂停</a:t>
            </a:r>
            <a:endParaRPr lang="en-US" sz="975" dirty="0"/>
          </a:p>
        </p:txBody>
      </p:sp>
      <p:sp>
        <p:nvSpPr>
          <p:cNvPr id="326" name="Shape 304"/>
          <p:cNvSpPr/>
          <p:nvPr/>
        </p:nvSpPr>
        <p:spPr>
          <a:xfrm>
            <a:off x="11296501" y="6134546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27" name="Shape 305"/>
          <p:cNvSpPr/>
          <p:nvPr/>
        </p:nvSpPr>
        <p:spPr>
          <a:xfrm>
            <a:off x="11391751" y="6241703"/>
            <a:ext cx="66675" cy="66675"/>
          </a:xfrm>
          <a:prstGeom prst="roundRect">
            <a:avLst>
              <a:gd name="adj" fmla="val 714286"/>
            </a:avLst>
          </a:prstGeom>
          <a:solidFill>
            <a:srgbClr val="536577"/>
          </a:solidFill>
          <a:ln w="12700">
            <a:solidFill>
              <a:srgbClr val="536577">
                <a:alpha val="0"/>
              </a:srgbClr>
            </a:solidFill>
            <a:prstDash val="solid"/>
          </a:ln>
        </p:spPr>
      </p:sp>
      <p:sp>
        <p:nvSpPr>
          <p:cNvPr id="328" name="Text 306"/>
          <p:cNvSpPr/>
          <p:nvPr/>
        </p:nvSpPr>
        <p:spPr>
          <a:xfrm>
            <a:off x="11525101" y="6186743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已阻止</a:t>
            </a:r>
            <a:endParaRPr lang="en-US" sz="975" dirty="0"/>
          </a:p>
        </p:txBody>
      </p:sp>
      <p:sp>
        <p:nvSpPr>
          <p:cNvPr id="329" name="Shape 307"/>
          <p:cNvSpPr/>
          <p:nvPr/>
        </p:nvSpPr>
        <p:spPr>
          <a:xfrm>
            <a:off x="6296025" y="6834634"/>
            <a:ext cx="5695950" cy="460921"/>
          </a:xfrm>
          <a:prstGeom prst="roundRect">
            <a:avLst>
              <a:gd name="adj" fmla="val 14466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30" name="Shape 308"/>
          <p:cNvSpPr/>
          <p:nvPr/>
        </p:nvSpPr>
        <p:spPr>
          <a:xfrm>
            <a:off x="6296025" y="6834634"/>
            <a:ext cx="5695950" cy="9525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331" name="Shape 309"/>
          <p:cNvSpPr/>
          <p:nvPr/>
        </p:nvSpPr>
        <p:spPr>
          <a:xfrm>
            <a:off x="6296025" y="7286030"/>
            <a:ext cx="5695950" cy="9525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332" name="Shape 310"/>
          <p:cNvSpPr/>
          <p:nvPr/>
        </p:nvSpPr>
        <p:spPr>
          <a:xfrm>
            <a:off x="6296025" y="6834634"/>
            <a:ext cx="9525" cy="460921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333" name="Shape 311"/>
          <p:cNvSpPr/>
          <p:nvPr/>
        </p:nvSpPr>
        <p:spPr>
          <a:xfrm>
            <a:off x="11982450" y="6834634"/>
            <a:ext cx="9525" cy="460921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334" name="Text 312"/>
          <p:cNvSpPr/>
          <p:nvPr/>
        </p:nvSpPr>
        <p:spPr>
          <a:xfrm>
            <a:off x="6438900" y="6972556"/>
            <a:ext cx="4171617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5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此为界面设计，未运行真实SDK或WCS查询。未决结果不得自动重发。</a:t>
            </a:r>
            <a:endParaRPr lang="en-US" sz="1050" dirty="0"/>
          </a:p>
        </p:txBody>
      </p:sp>
      <p:sp>
        <p:nvSpPr>
          <p:cNvPr id="335" name="Shape 313"/>
          <p:cNvSpPr/>
          <p:nvPr/>
        </p:nvSpPr>
        <p:spPr>
          <a:xfrm>
            <a:off x="6296025" y="7486055"/>
            <a:ext cx="1276499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14"/>
          <p:cNvSpPr/>
          <p:nvPr/>
        </p:nvSpPr>
        <p:spPr>
          <a:xfrm>
            <a:off x="6296025" y="7486055"/>
            <a:ext cx="12764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7" name="Shape 315"/>
          <p:cNvSpPr/>
          <p:nvPr/>
        </p:nvSpPr>
        <p:spPr>
          <a:xfrm>
            <a:off x="6296025" y="7895630"/>
            <a:ext cx="12764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8" name="Shape 316"/>
          <p:cNvSpPr/>
          <p:nvPr/>
        </p:nvSpPr>
        <p:spPr>
          <a:xfrm>
            <a:off x="6296025" y="7486055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9" name="Shape 317"/>
          <p:cNvSpPr/>
          <p:nvPr/>
        </p:nvSpPr>
        <p:spPr>
          <a:xfrm>
            <a:off x="7562999" y="7486055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0" name="Text 318"/>
          <p:cNvSpPr/>
          <p:nvPr/>
        </p:nvSpPr>
        <p:spPr>
          <a:xfrm>
            <a:off x="6477000" y="7585877"/>
            <a:ext cx="9511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查看诊断摘要</a:t>
            </a:r>
            <a:endParaRPr lang="en-US" sz="1200" dirty="0"/>
          </a:p>
        </p:txBody>
      </p:sp>
      <p:sp>
        <p:nvSpPr>
          <p:cNvPr id="341" name="Shape 319"/>
          <p:cNvSpPr/>
          <p:nvPr/>
        </p:nvSpPr>
        <p:spPr>
          <a:xfrm>
            <a:off x="10715476" y="7486055"/>
            <a:ext cx="1276499" cy="419100"/>
          </a:xfrm>
          <a:prstGeom prst="roundRect">
            <a:avLst>
              <a:gd name="adj" fmla="val 15909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342" name="Shape 320"/>
          <p:cNvSpPr/>
          <p:nvPr/>
        </p:nvSpPr>
        <p:spPr>
          <a:xfrm>
            <a:off x="10715476" y="7486055"/>
            <a:ext cx="1276499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343" name="Shape 321"/>
          <p:cNvSpPr/>
          <p:nvPr/>
        </p:nvSpPr>
        <p:spPr>
          <a:xfrm>
            <a:off x="10715476" y="7895630"/>
            <a:ext cx="1276499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344" name="Shape 322"/>
          <p:cNvSpPr/>
          <p:nvPr/>
        </p:nvSpPr>
        <p:spPr>
          <a:xfrm>
            <a:off x="10715476" y="7486055"/>
            <a:ext cx="9525" cy="4191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345" name="Shape 323"/>
          <p:cNvSpPr/>
          <p:nvPr/>
        </p:nvSpPr>
        <p:spPr>
          <a:xfrm>
            <a:off x="11982450" y="7486055"/>
            <a:ext cx="9525" cy="4191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346" name="Text 324"/>
          <p:cNvSpPr/>
          <p:nvPr/>
        </p:nvSpPr>
        <p:spPr>
          <a:xfrm>
            <a:off x="10896451" y="7585877"/>
            <a:ext cx="9511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等待核对完成</a:t>
            </a:r>
            <a:endParaRPr lang="en-US" sz="1200" dirty="0"/>
          </a:p>
        </p:txBody>
      </p:sp>
      <p:sp>
        <p:nvSpPr>
          <p:cNvPr id="347" name="Text 325"/>
          <p:cNvSpPr/>
          <p:nvPr/>
        </p:nvSpPr>
        <p:spPr>
          <a:xfrm>
            <a:off x="7943701" y="9529572"/>
            <a:ext cx="24370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保留旧箱与原始请求；演示入口在底部控制台。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作业进行中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590824" y="2252472"/>
            <a:ext cx="25882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按通道提示处理Item；右通道需人工确认。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17850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待人工发车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请核对当前Item、数量及允许动作条件。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12345500989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100234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7761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Shape 159"/>
          <p:cNvSpPr/>
          <p:nvPr/>
        </p:nvSpPr>
        <p:spPr>
          <a:xfrm>
            <a:off x="1495425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5" name="Text 160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6" name="Text 161"/>
          <p:cNvSpPr/>
          <p:nvPr/>
        </p:nvSpPr>
        <p:spPr>
          <a:xfrm>
            <a:off x="151066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325" dirty="0"/>
          </a:p>
        </p:txBody>
      </p:sp>
      <p:sp>
        <p:nvSpPr>
          <p:cNvPr id="177" name="Text 162"/>
          <p:cNvSpPr/>
          <p:nvPr/>
        </p:nvSpPr>
        <p:spPr>
          <a:xfrm>
            <a:off x="155288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8" name="Shape 163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0" name="Text 165"/>
          <p:cNvSpPr/>
          <p:nvPr/>
        </p:nvSpPr>
        <p:spPr>
          <a:xfrm>
            <a:off x="9439275" y="7179725"/>
            <a:ext cx="1824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本次供给12件 · 目标格口031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9439275" y="7383470"/>
            <a:ext cx="193919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不足量人工分支为评审候选（D-03）。</a:t>
            </a:r>
            <a:endParaRPr lang="en-US" sz="900" dirty="0"/>
          </a:p>
        </p:txBody>
      </p:sp>
      <p:sp>
        <p:nvSpPr>
          <p:cNvPr id="182" name="Shape 167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18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516350" y="7262813"/>
            <a:ext cx="190500" cy="190500"/>
          </a:xfrm>
          <a:prstGeom prst="rect">
            <a:avLst/>
          </a:prstGeom>
        </p:spPr>
      </p:pic>
      <p:sp>
        <p:nvSpPr>
          <p:cNvPr id="188" name="Text 172"/>
          <p:cNvSpPr/>
          <p:nvPr/>
        </p:nvSpPr>
        <p:spPr>
          <a:xfrm>
            <a:off x="16783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89" name="Shape 173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74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6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Shape 177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4" name="Shape 178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6" name="Text 180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8" name="Text 181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99" name="Shape 182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0" name="Shape 183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1" name="Text 184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2" name="Shape 185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3" name="Shape 186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4" name="Text 187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5" name="Shape 188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6" name="Shape 189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7" name="Text 190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8" name="Shape 191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9" name="Shape 192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0" name="Text 193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11" name="Shape 194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2" name="Shape 195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3" name="Text 196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4" name="Shape 197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5" name="Shape 198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6" name="Text 199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7" name="Shape 200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8" name="Shape 201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9" name="Text 202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20" name="Shape 203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4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22" name="Shape 205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6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24" name="Shape 207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8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26" name="Shape 209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0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28" name="Shape 211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Text 212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30" name="Shape 213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1" name="Shape 214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32" name="Shape 215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33" name="Text 216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34" name="Shape 217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8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6" name="Shape 219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0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238" name="Shape 221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2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40" name="Shape 223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4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2" name="Shape 225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6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4" name="Shape 227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Text 228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246" name="Shape 229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7" name="Shape 230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8" name="Shape 231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9" name="Text 232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50" name="Shape 233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51" name="Text 234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2" name="Text 235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3" name="Text 236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4" name="Text 237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5" name="Text 238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6" name="Shape 239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7" name="Text 240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8" name="Text 241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9" name="Shape 242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0" name="Shape 243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4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Shape 245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3" name="Shape 246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4" name="Text 247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组件与设计变量</a:t>
            </a:r>
            <a:endParaRPr lang="en-US" sz="900" dirty="0"/>
          </a:p>
        </p:txBody>
      </p:sp>
      <p:sp>
        <p:nvSpPr>
          <p:cNvPr id="265" name="Shape 248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6" name="Shape 249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0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Shape 251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9" name="Shape 252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0" name="Text 253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71" name="Shape 254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2" name="Shape 255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6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Shape 257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5" name="Shape 258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6" name="Text 259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7" name="Text 260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  <p:sp>
        <p:nvSpPr>
          <p:cNvPr id="278" name="Shape 261"/>
          <p:cNvSpPr/>
          <p:nvPr/>
        </p:nvSpPr>
        <p:spPr>
          <a:xfrm>
            <a:off x="0" y="0"/>
            <a:ext cx="18288000" cy="98679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279" name="Text 262"/>
          <p:cNvSpPr/>
          <p:nvPr/>
        </p:nvSpPr>
        <p:spPr>
          <a:xfrm>
            <a:off x="381000" y="299847"/>
            <a:ext cx="362482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供包工作站 · 组件与视觉规范</a:t>
            </a:r>
            <a:endParaRPr lang="en-US" sz="2100" dirty="0"/>
          </a:p>
        </p:txBody>
      </p:sp>
      <p:sp>
        <p:nvSpPr>
          <p:cNvPr id="280" name="Text 263"/>
          <p:cNvSpPr/>
          <p:nvPr/>
        </p:nvSpPr>
        <p:spPr>
          <a:xfrm>
            <a:off x="381000" y="776097"/>
            <a:ext cx="319396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SS-UI-VIS-001 · 中性界面 / 统一语义 / 不以颜色代替文字</a:t>
            </a:r>
            <a:endParaRPr lang="en-US" sz="975" dirty="0"/>
          </a:p>
        </p:txBody>
      </p:sp>
      <p:sp>
        <p:nvSpPr>
          <p:cNvPr id="281" name="Shape 264"/>
          <p:cNvSpPr/>
          <p:nvPr/>
        </p:nvSpPr>
        <p:spPr>
          <a:xfrm>
            <a:off x="16782901" y="414338"/>
            <a:ext cx="1124099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65"/>
          <p:cNvSpPr/>
          <p:nvPr/>
        </p:nvSpPr>
        <p:spPr>
          <a:xfrm>
            <a:off x="16782901" y="414338"/>
            <a:ext cx="11240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3" name="Shape 266"/>
          <p:cNvSpPr/>
          <p:nvPr/>
        </p:nvSpPr>
        <p:spPr>
          <a:xfrm>
            <a:off x="16782901" y="823913"/>
            <a:ext cx="11240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4" name="Shape 267"/>
          <p:cNvSpPr/>
          <p:nvPr/>
        </p:nvSpPr>
        <p:spPr>
          <a:xfrm>
            <a:off x="16782901" y="41433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5" name="Shape 268"/>
          <p:cNvSpPr/>
          <p:nvPr/>
        </p:nvSpPr>
        <p:spPr>
          <a:xfrm>
            <a:off x="17897475" y="41433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6" name="Text 269"/>
          <p:cNvSpPr/>
          <p:nvPr/>
        </p:nvSpPr>
        <p:spPr>
          <a:xfrm>
            <a:off x="16963876" y="514159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返回工作台</a:t>
            </a:r>
            <a:endParaRPr lang="en-US" sz="1200" dirty="0"/>
          </a:p>
        </p:txBody>
      </p:sp>
      <p:sp>
        <p:nvSpPr>
          <p:cNvPr id="287" name="Shape 270"/>
          <p:cNvSpPr/>
          <p:nvPr/>
        </p:nvSpPr>
        <p:spPr>
          <a:xfrm>
            <a:off x="381000" y="1190625"/>
            <a:ext cx="8648700" cy="3107829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71"/>
          <p:cNvSpPr/>
          <p:nvPr/>
        </p:nvSpPr>
        <p:spPr>
          <a:xfrm>
            <a:off x="381000" y="1190625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9" name="Shape 272"/>
          <p:cNvSpPr/>
          <p:nvPr/>
        </p:nvSpPr>
        <p:spPr>
          <a:xfrm>
            <a:off x="381000" y="4288929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0" name="Shape 273"/>
          <p:cNvSpPr/>
          <p:nvPr/>
        </p:nvSpPr>
        <p:spPr>
          <a:xfrm>
            <a:off x="381000" y="1190625"/>
            <a:ext cx="9525" cy="3107829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1" name="Shape 274"/>
          <p:cNvSpPr/>
          <p:nvPr/>
        </p:nvSpPr>
        <p:spPr>
          <a:xfrm>
            <a:off x="9020175" y="1190625"/>
            <a:ext cx="9525" cy="3107829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2" name="Text 275"/>
          <p:cNvSpPr/>
          <p:nvPr/>
        </p:nvSpPr>
        <p:spPr>
          <a:xfrm>
            <a:off x="619125" y="1433322"/>
            <a:ext cx="1240447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颜色与状态</a:t>
            </a:r>
            <a:endParaRPr lang="en-US" sz="1350" dirty="0"/>
          </a:p>
        </p:txBody>
      </p:sp>
      <p:sp>
        <p:nvSpPr>
          <p:cNvPr id="293" name="Shape 276"/>
          <p:cNvSpPr/>
          <p:nvPr/>
        </p:nvSpPr>
        <p:spPr>
          <a:xfrm>
            <a:off x="619125" y="1857375"/>
            <a:ext cx="857250" cy="457200"/>
          </a:xfrm>
          <a:prstGeom prst="roundRect">
            <a:avLst>
              <a:gd name="adj" fmla="val 12500"/>
            </a:avLst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294" name="Shape 277"/>
          <p:cNvSpPr/>
          <p:nvPr/>
        </p:nvSpPr>
        <p:spPr>
          <a:xfrm>
            <a:off x="619125" y="1857375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5" name="Shape 278"/>
          <p:cNvSpPr/>
          <p:nvPr/>
        </p:nvSpPr>
        <p:spPr>
          <a:xfrm>
            <a:off x="619125" y="2305050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6" name="Shape 279"/>
          <p:cNvSpPr/>
          <p:nvPr/>
        </p:nvSpPr>
        <p:spPr>
          <a:xfrm>
            <a:off x="619125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7" name="Shape 280"/>
          <p:cNvSpPr/>
          <p:nvPr/>
        </p:nvSpPr>
        <p:spPr>
          <a:xfrm>
            <a:off x="1466850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8" name="Text 281"/>
          <p:cNvSpPr/>
          <p:nvPr/>
        </p:nvSpPr>
        <p:spPr>
          <a:xfrm>
            <a:off x="619125" y="238582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中性底色</a:t>
            </a:r>
            <a:endParaRPr lang="en-US" sz="900" dirty="0"/>
          </a:p>
        </p:txBody>
      </p:sp>
      <p:sp>
        <p:nvSpPr>
          <p:cNvPr id="299" name="Text 282"/>
          <p:cNvSpPr/>
          <p:nvPr/>
        </p:nvSpPr>
        <p:spPr>
          <a:xfrm>
            <a:off x="619125" y="2576322"/>
            <a:ext cx="51833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#F1F4F7</a:t>
            </a:r>
            <a:endParaRPr lang="en-US" sz="900" dirty="0"/>
          </a:p>
        </p:txBody>
      </p:sp>
      <p:sp>
        <p:nvSpPr>
          <p:cNvPr id="300" name="Shape 283"/>
          <p:cNvSpPr/>
          <p:nvPr/>
        </p:nvSpPr>
        <p:spPr>
          <a:xfrm>
            <a:off x="1590675" y="1857375"/>
            <a:ext cx="857250" cy="457200"/>
          </a:xfrm>
          <a:prstGeom prst="roundRect">
            <a:avLst>
              <a:gd name="adj" fmla="val 12500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01" name="Shape 284"/>
          <p:cNvSpPr/>
          <p:nvPr/>
        </p:nvSpPr>
        <p:spPr>
          <a:xfrm>
            <a:off x="1590675" y="1857375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2" name="Shape 285"/>
          <p:cNvSpPr/>
          <p:nvPr/>
        </p:nvSpPr>
        <p:spPr>
          <a:xfrm>
            <a:off x="1590675" y="2305050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3" name="Shape 286"/>
          <p:cNvSpPr/>
          <p:nvPr/>
        </p:nvSpPr>
        <p:spPr>
          <a:xfrm>
            <a:off x="1590675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4" name="Shape 287"/>
          <p:cNvSpPr/>
          <p:nvPr/>
        </p:nvSpPr>
        <p:spPr>
          <a:xfrm>
            <a:off x="2438400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5" name="Text 288"/>
          <p:cNvSpPr/>
          <p:nvPr/>
        </p:nvSpPr>
        <p:spPr>
          <a:xfrm>
            <a:off x="1590675" y="2385822"/>
            <a:ext cx="3796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主操作</a:t>
            </a:r>
            <a:endParaRPr lang="en-US" sz="900" dirty="0"/>
          </a:p>
        </p:txBody>
      </p:sp>
      <p:sp>
        <p:nvSpPr>
          <p:cNvPr id="306" name="Text 289"/>
          <p:cNvSpPr/>
          <p:nvPr/>
        </p:nvSpPr>
        <p:spPr>
          <a:xfrm>
            <a:off x="1590675" y="2576322"/>
            <a:ext cx="51833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#205FCE</a:t>
            </a:r>
            <a:endParaRPr lang="en-US" sz="900" dirty="0"/>
          </a:p>
        </p:txBody>
      </p:sp>
      <p:sp>
        <p:nvSpPr>
          <p:cNvPr id="307" name="Shape 290"/>
          <p:cNvSpPr/>
          <p:nvPr/>
        </p:nvSpPr>
        <p:spPr>
          <a:xfrm>
            <a:off x="2562225" y="1857375"/>
            <a:ext cx="857250" cy="457200"/>
          </a:xfrm>
          <a:prstGeom prst="roundRect">
            <a:avLst>
              <a:gd name="adj" fmla="val 12500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08" name="Shape 291"/>
          <p:cNvSpPr/>
          <p:nvPr/>
        </p:nvSpPr>
        <p:spPr>
          <a:xfrm>
            <a:off x="2562225" y="1857375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9" name="Shape 292"/>
          <p:cNvSpPr/>
          <p:nvPr/>
        </p:nvSpPr>
        <p:spPr>
          <a:xfrm>
            <a:off x="2562225" y="2305050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0" name="Shape 293"/>
          <p:cNvSpPr/>
          <p:nvPr/>
        </p:nvSpPr>
        <p:spPr>
          <a:xfrm>
            <a:off x="2562225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1" name="Shape 294"/>
          <p:cNvSpPr/>
          <p:nvPr/>
        </p:nvSpPr>
        <p:spPr>
          <a:xfrm>
            <a:off x="3409950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2" name="Text 295"/>
          <p:cNvSpPr/>
          <p:nvPr/>
        </p:nvSpPr>
        <p:spPr>
          <a:xfrm>
            <a:off x="2562225" y="238582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明确接受</a:t>
            </a:r>
            <a:endParaRPr lang="en-US" sz="900" dirty="0"/>
          </a:p>
        </p:txBody>
      </p:sp>
      <p:sp>
        <p:nvSpPr>
          <p:cNvPr id="313" name="Text 296"/>
          <p:cNvSpPr/>
          <p:nvPr/>
        </p:nvSpPr>
        <p:spPr>
          <a:xfrm>
            <a:off x="2562225" y="2576322"/>
            <a:ext cx="51833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#147450</a:t>
            </a:r>
            <a:endParaRPr lang="en-US" sz="900" dirty="0"/>
          </a:p>
        </p:txBody>
      </p:sp>
      <p:sp>
        <p:nvSpPr>
          <p:cNvPr id="314" name="Shape 297"/>
          <p:cNvSpPr/>
          <p:nvPr/>
        </p:nvSpPr>
        <p:spPr>
          <a:xfrm>
            <a:off x="3533775" y="1857375"/>
            <a:ext cx="857250" cy="457200"/>
          </a:xfrm>
          <a:prstGeom prst="roundRect">
            <a:avLst>
              <a:gd name="adj" fmla="val 12500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315" name="Shape 298"/>
          <p:cNvSpPr/>
          <p:nvPr/>
        </p:nvSpPr>
        <p:spPr>
          <a:xfrm>
            <a:off x="3533775" y="1857375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6" name="Shape 299"/>
          <p:cNvSpPr/>
          <p:nvPr/>
        </p:nvSpPr>
        <p:spPr>
          <a:xfrm>
            <a:off x="3533775" y="2305050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7" name="Shape 300"/>
          <p:cNvSpPr/>
          <p:nvPr/>
        </p:nvSpPr>
        <p:spPr>
          <a:xfrm>
            <a:off x="3533775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8" name="Shape 301"/>
          <p:cNvSpPr/>
          <p:nvPr/>
        </p:nvSpPr>
        <p:spPr>
          <a:xfrm>
            <a:off x="4381500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9" name="Text 302"/>
          <p:cNvSpPr/>
          <p:nvPr/>
        </p:nvSpPr>
        <p:spPr>
          <a:xfrm>
            <a:off x="3533775" y="2385822"/>
            <a:ext cx="3796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待核对</a:t>
            </a:r>
            <a:endParaRPr lang="en-US" sz="900" dirty="0"/>
          </a:p>
        </p:txBody>
      </p:sp>
      <p:sp>
        <p:nvSpPr>
          <p:cNvPr id="320" name="Text 303"/>
          <p:cNvSpPr/>
          <p:nvPr/>
        </p:nvSpPr>
        <p:spPr>
          <a:xfrm>
            <a:off x="3533775" y="2576322"/>
            <a:ext cx="51833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#895509</a:t>
            </a:r>
            <a:endParaRPr lang="en-US" sz="900" dirty="0"/>
          </a:p>
        </p:txBody>
      </p:sp>
      <p:sp>
        <p:nvSpPr>
          <p:cNvPr id="321" name="Shape 304"/>
          <p:cNvSpPr/>
          <p:nvPr/>
        </p:nvSpPr>
        <p:spPr>
          <a:xfrm>
            <a:off x="4505325" y="1857375"/>
            <a:ext cx="857250" cy="457200"/>
          </a:xfrm>
          <a:prstGeom prst="roundRect">
            <a:avLst>
              <a:gd name="adj" fmla="val 12500"/>
            </a:avLst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322" name="Shape 305"/>
          <p:cNvSpPr/>
          <p:nvPr/>
        </p:nvSpPr>
        <p:spPr>
          <a:xfrm>
            <a:off x="4505325" y="1857375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23" name="Shape 306"/>
          <p:cNvSpPr/>
          <p:nvPr/>
        </p:nvSpPr>
        <p:spPr>
          <a:xfrm>
            <a:off x="4505325" y="2305050"/>
            <a:ext cx="8572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24" name="Shape 307"/>
          <p:cNvSpPr/>
          <p:nvPr/>
        </p:nvSpPr>
        <p:spPr>
          <a:xfrm>
            <a:off x="4505325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25" name="Shape 308"/>
          <p:cNvSpPr/>
          <p:nvPr/>
        </p:nvSpPr>
        <p:spPr>
          <a:xfrm>
            <a:off x="5353050" y="1857375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26" name="Text 309"/>
          <p:cNvSpPr/>
          <p:nvPr/>
        </p:nvSpPr>
        <p:spPr>
          <a:xfrm>
            <a:off x="4505325" y="238582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明确拒绝</a:t>
            </a:r>
            <a:endParaRPr lang="en-US" sz="900" dirty="0"/>
          </a:p>
        </p:txBody>
      </p:sp>
      <p:sp>
        <p:nvSpPr>
          <p:cNvPr id="327" name="Text 310"/>
          <p:cNvSpPr/>
          <p:nvPr/>
        </p:nvSpPr>
        <p:spPr>
          <a:xfrm>
            <a:off x="4505325" y="2576322"/>
            <a:ext cx="51833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#B52F38</a:t>
            </a:r>
            <a:endParaRPr lang="en-US" sz="900" dirty="0"/>
          </a:p>
        </p:txBody>
      </p:sp>
      <p:sp>
        <p:nvSpPr>
          <p:cNvPr id="328" name="Shape 311"/>
          <p:cNvSpPr/>
          <p:nvPr/>
        </p:nvSpPr>
        <p:spPr>
          <a:xfrm>
            <a:off x="619125" y="2914650"/>
            <a:ext cx="962918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329" name="Shape 312"/>
          <p:cNvSpPr/>
          <p:nvPr/>
        </p:nvSpPr>
        <p:spPr>
          <a:xfrm>
            <a:off x="714375" y="3021806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30" name="Text 313"/>
          <p:cNvSpPr/>
          <p:nvPr/>
        </p:nvSpPr>
        <p:spPr>
          <a:xfrm>
            <a:off x="847725" y="2966847"/>
            <a:ext cx="6756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75" dirty="0"/>
          </a:p>
        </p:txBody>
      </p:sp>
      <p:sp>
        <p:nvSpPr>
          <p:cNvPr id="331" name="Shape 314"/>
          <p:cNvSpPr/>
          <p:nvPr/>
        </p:nvSpPr>
        <p:spPr>
          <a:xfrm>
            <a:off x="1696343" y="2914650"/>
            <a:ext cx="943124" cy="280988"/>
          </a:xfrm>
          <a:prstGeom prst="roundRect">
            <a:avLst>
              <a:gd name="adj" fmla="val 16949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32" name="Shape 315"/>
          <p:cNvSpPr/>
          <p:nvPr/>
        </p:nvSpPr>
        <p:spPr>
          <a:xfrm>
            <a:off x="1791593" y="3021806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333" name="Text 316"/>
          <p:cNvSpPr/>
          <p:nvPr/>
        </p:nvSpPr>
        <p:spPr>
          <a:xfrm>
            <a:off x="1924943" y="2966847"/>
            <a:ext cx="6558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结果待核对</a:t>
            </a:r>
            <a:endParaRPr lang="en-US" sz="975" dirty="0"/>
          </a:p>
        </p:txBody>
      </p:sp>
      <p:sp>
        <p:nvSpPr>
          <p:cNvPr id="334" name="Shape 317"/>
          <p:cNvSpPr/>
          <p:nvPr/>
        </p:nvSpPr>
        <p:spPr>
          <a:xfrm>
            <a:off x="2753767" y="2914650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335" name="Shape 318"/>
          <p:cNvSpPr/>
          <p:nvPr/>
        </p:nvSpPr>
        <p:spPr>
          <a:xfrm>
            <a:off x="2849017" y="3021806"/>
            <a:ext cx="66675" cy="66675"/>
          </a:xfrm>
          <a:prstGeom prst="roundRect">
            <a:avLst>
              <a:gd name="adj" fmla="val 714286"/>
            </a:avLst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336" name="Text 319"/>
          <p:cNvSpPr/>
          <p:nvPr/>
        </p:nvSpPr>
        <p:spPr>
          <a:xfrm>
            <a:off x="2982367" y="2966847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已拒绝</a:t>
            </a:r>
            <a:endParaRPr lang="en-US" sz="975" dirty="0"/>
          </a:p>
        </p:txBody>
      </p:sp>
      <p:sp>
        <p:nvSpPr>
          <p:cNvPr id="337" name="Shape 320"/>
          <p:cNvSpPr/>
          <p:nvPr/>
        </p:nvSpPr>
        <p:spPr>
          <a:xfrm>
            <a:off x="3563541" y="2914650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338" name="Shape 321"/>
          <p:cNvSpPr/>
          <p:nvPr/>
        </p:nvSpPr>
        <p:spPr>
          <a:xfrm>
            <a:off x="3658791" y="3021806"/>
            <a:ext cx="66675" cy="66675"/>
          </a:xfrm>
          <a:prstGeom prst="roundRect">
            <a:avLst>
              <a:gd name="adj" fmla="val 714286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39" name="Text 322"/>
          <p:cNvSpPr/>
          <p:nvPr/>
        </p:nvSpPr>
        <p:spPr>
          <a:xfrm>
            <a:off x="3792141" y="2966847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205F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处理中</a:t>
            </a:r>
            <a:endParaRPr lang="en-US" sz="975" dirty="0"/>
          </a:p>
        </p:txBody>
      </p:sp>
      <p:sp>
        <p:nvSpPr>
          <p:cNvPr id="340" name="Shape 323"/>
          <p:cNvSpPr/>
          <p:nvPr/>
        </p:nvSpPr>
        <p:spPr>
          <a:xfrm>
            <a:off x="619125" y="3386138"/>
            <a:ext cx="8172450" cy="674191"/>
          </a:xfrm>
          <a:prstGeom prst="roundRect">
            <a:avLst>
              <a:gd name="adj" fmla="val 9890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41" name="Shape 324"/>
          <p:cNvSpPr/>
          <p:nvPr/>
        </p:nvSpPr>
        <p:spPr>
          <a:xfrm>
            <a:off x="619125" y="3386138"/>
            <a:ext cx="8172450" cy="9525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342" name="Shape 325"/>
          <p:cNvSpPr/>
          <p:nvPr/>
        </p:nvSpPr>
        <p:spPr>
          <a:xfrm>
            <a:off x="619125" y="4050804"/>
            <a:ext cx="8172450" cy="9525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343" name="Shape 326"/>
          <p:cNvSpPr/>
          <p:nvPr/>
        </p:nvSpPr>
        <p:spPr>
          <a:xfrm>
            <a:off x="619125" y="3386138"/>
            <a:ext cx="9525" cy="674191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344" name="Shape 327"/>
          <p:cNvSpPr/>
          <p:nvPr/>
        </p:nvSpPr>
        <p:spPr>
          <a:xfrm>
            <a:off x="8782050" y="3386138"/>
            <a:ext cx="9525" cy="674191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345" name="Text 328"/>
          <p:cNvSpPr/>
          <p:nvPr/>
        </p:nvSpPr>
        <p:spPr>
          <a:xfrm>
            <a:off x="762000" y="352406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5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异常持续可见</a:t>
            </a:r>
            <a:endParaRPr lang="en-US" sz="1050" dirty="0"/>
          </a:p>
        </p:txBody>
      </p:sp>
      <p:sp>
        <p:nvSpPr>
          <p:cNvPr id="346" name="Text 329"/>
          <p:cNvSpPr/>
          <p:nvPr/>
        </p:nvSpPr>
        <p:spPr>
          <a:xfrm>
            <a:off x="762000" y="3737330"/>
            <a:ext cx="343789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5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 + 影响范围 + 下一步，不统一写成“失败，请重试”。</a:t>
            </a:r>
            <a:endParaRPr lang="en-US" sz="1050" dirty="0"/>
          </a:p>
        </p:txBody>
      </p:sp>
      <p:sp>
        <p:nvSpPr>
          <p:cNvPr id="347" name="Shape 330"/>
          <p:cNvSpPr/>
          <p:nvPr/>
        </p:nvSpPr>
        <p:spPr>
          <a:xfrm>
            <a:off x="9258300" y="1190625"/>
            <a:ext cx="8648700" cy="3107829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31"/>
          <p:cNvSpPr/>
          <p:nvPr/>
        </p:nvSpPr>
        <p:spPr>
          <a:xfrm>
            <a:off x="9258300" y="1190625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49" name="Shape 332"/>
          <p:cNvSpPr/>
          <p:nvPr/>
        </p:nvSpPr>
        <p:spPr>
          <a:xfrm>
            <a:off x="9258300" y="4288929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0" name="Shape 333"/>
          <p:cNvSpPr/>
          <p:nvPr/>
        </p:nvSpPr>
        <p:spPr>
          <a:xfrm>
            <a:off x="9258300" y="1190625"/>
            <a:ext cx="9525" cy="3107829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1" name="Shape 334"/>
          <p:cNvSpPr/>
          <p:nvPr/>
        </p:nvSpPr>
        <p:spPr>
          <a:xfrm>
            <a:off x="17897475" y="1190625"/>
            <a:ext cx="9525" cy="3107829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2" name="Text 335"/>
          <p:cNvSpPr/>
          <p:nvPr/>
        </p:nvSpPr>
        <p:spPr>
          <a:xfrm>
            <a:off x="9496425" y="1433322"/>
            <a:ext cx="1240447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字体与数字</a:t>
            </a:r>
            <a:endParaRPr lang="en-US" sz="1350" dirty="0"/>
          </a:p>
        </p:txBody>
      </p:sp>
      <p:sp>
        <p:nvSpPr>
          <p:cNvPr id="353" name="Text 336"/>
          <p:cNvSpPr/>
          <p:nvPr/>
        </p:nvSpPr>
        <p:spPr>
          <a:xfrm>
            <a:off x="9496425" y="1852422"/>
            <a:ext cx="1525006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 </a:t>
            </a:r>
            <a:endParaRPr lang="en-US" sz="2175" dirty="0"/>
          </a:p>
        </p:txBody>
      </p:sp>
      <p:sp>
        <p:nvSpPr>
          <p:cNvPr id="354" name="Text 337"/>
          <p:cNvSpPr/>
          <p:nvPr/>
        </p:nvSpPr>
        <p:spPr>
          <a:xfrm>
            <a:off x="10984855" y="2042922"/>
            <a:ext cx="85974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结果29 / 紧凑23</a:t>
            </a:r>
            <a:endParaRPr lang="en-US" sz="900" dirty="0"/>
          </a:p>
        </p:txBody>
      </p:sp>
      <p:sp>
        <p:nvSpPr>
          <p:cNvPr id="355" name="Text 338"/>
          <p:cNvSpPr/>
          <p:nvPr/>
        </p:nvSpPr>
        <p:spPr>
          <a:xfrm>
            <a:off x="9496425" y="228670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356" name="Text 339"/>
          <p:cNvSpPr/>
          <p:nvPr/>
        </p:nvSpPr>
        <p:spPr>
          <a:xfrm>
            <a:off x="9496425" y="2634365"/>
            <a:ext cx="269985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条码27 / 紧凑23 · 等宽，保留前导零与完整文本</a:t>
            </a:r>
            <a:endParaRPr lang="en-US" sz="975" dirty="0"/>
          </a:p>
        </p:txBody>
      </p:sp>
      <p:sp>
        <p:nvSpPr>
          <p:cNvPr id="357" name="Text 340"/>
          <p:cNvSpPr/>
          <p:nvPr/>
        </p:nvSpPr>
        <p:spPr>
          <a:xfrm>
            <a:off x="9496425" y="2972502"/>
            <a:ext cx="22075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正文16：当前Item需要人工确认</a:t>
            </a:r>
            <a:endParaRPr lang="en-US" sz="1200" dirty="0"/>
          </a:p>
        </p:txBody>
      </p:sp>
      <p:sp>
        <p:nvSpPr>
          <p:cNvPr id="358" name="Text 341"/>
          <p:cNvSpPr/>
          <p:nvPr/>
        </p:nvSpPr>
        <p:spPr>
          <a:xfrm>
            <a:off x="9496425" y="3353502"/>
            <a:ext cx="261413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标签14 / 紧凑12；辅助12–13不承担关键指令。</a:t>
            </a:r>
            <a:endParaRPr lang="en-US" sz="975" dirty="0"/>
          </a:p>
        </p:txBody>
      </p:sp>
      <p:sp>
        <p:nvSpPr>
          <p:cNvPr id="359" name="Text 342"/>
          <p:cNvSpPr/>
          <p:nvPr/>
        </p:nvSpPr>
        <p:spPr>
          <a:xfrm>
            <a:off x="9496425" y="3539240"/>
            <a:ext cx="332686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Windows：Microsoft YaHei UI / Microsoft YaHei / Segoe UI</a:t>
            </a:r>
            <a:endParaRPr lang="en-US" sz="975" dirty="0"/>
          </a:p>
        </p:txBody>
      </p:sp>
      <p:sp>
        <p:nvSpPr>
          <p:cNvPr id="360" name="Text 343"/>
          <p:cNvSpPr/>
          <p:nvPr/>
        </p:nvSpPr>
        <p:spPr>
          <a:xfrm>
            <a:off x="9496425" y="3724977"/>
            <a:ext cx="34620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等宽：Consolas / Cascadia Mono；截图使用Linux可用字体。</a:t>
            </a:r>
            <a:endParaRPr lang="en-US" sz="975" dirty="0"/>
          </a:p>
        </p:txBody>
      </p:sp>
      <p:sp>
        <p:nvSpPr>
          <p:cNvPr id="361" name="Shape 344"/>
          <p:cNvSpPr/>
          <p:nvPr/>
        </p:nvSpPr>
        <p:spPr>
          <a:xfrm>
            <a:off x="381000" y="4527054"/>
            <a:ext cx="8648700" cy="2751683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45"/>
          <p:cNvSpPr/>
          <p:nvPr/>
        </p:nvSpPr>
        <p:spPr>
          <a:xfrm>
            <a:off x="381000" y="4527054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3" name="Shape 346"/>
          <p:cNvSpPr/>
          <p:nvPr/>
        </p:nvSpPr>
        <p:spPr>
          <a:xfrm>
            <a:off x="381000" y="7269212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4" name="Shape 347"/>
          <p:cNvSpPr/>
          <p:nvPr/>
        </p:nvSpPr>
        <p:spPr>
          <a:xfrm>
            <a:off x="381000" y="4527054"/>
            <a:ext cx="9525" cy="275168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5" name="Shape 348"/>
          <p:cNvSpPr/>
          <p:nvPr/>
        </p:nvSpPr>
        <p:spPr>
          <a:xfrm>
            <a:off x="9020175" y="4527054"/>
            <a:ext cx="9525" cy="275168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66" name="Text 349"/>
          <p:cNvSpPr/>
          <p:nvPr/>
        </p:nvSpPr>
        <p:spPr>
          <a:xfrm>
            <a:off x="619125" y="4769751"/>
            <a:ext cx="2724263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按钮八态 · 主操作52 / 紧凑48</a:t>
            </a:r>
            <a:endParaRPr lang="en-US" sz="1350" dirty="0"/>
          </a:p>
        </p:txBody>
      </p:sp>
      <p:sp>
        <p:nvSpPr>
          <p:cNvPr id="367" name="Shape 350"/>
          <p:cNvSpPr/>
          <p:nvPr/>
        </p:nvSpPr>
        <p:spPr>
          <a:xfrm>
            <a:off x="619125" y="5193804"/>
            <a:ext cx="666899" cy="419100"/>
          </a:xfrm>
          <a:prstGeom prst="roundRect">
            <a:avLst>
              <a:gd name="adj" fmla="val 1590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68" name="Shape 351"/>
          <p:cNvSpPr/>
          <p:nvPr/>
        </p:nvSpPr>
        <p:spPr>
          <a:xfrm>
            <a:off x="619125" y="5193804"/>
            <a:ext cx="6668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69" name="Shape 352"/>
          <p:cNvSpPr/>
          <p:nvPr/>
        </p:nvSpPr>
        <p:spPr>
          <a:xfrm>
            <a:off x="619125" y="5603379"/>
            <a:ext cx="6668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70" name="Shape 353"/>
          <p:cNvSpPr/>
          <p:nvPr/>
        </p:nvSpPr>
        <p:spPr>
          <a:xfrm>
            <a:off x="619125" y="5193804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71" name="Shape 354"/>
          <p:cNvSpPr/>
          <p:nvPr/>
        </p:nvSpPr>
        <p:spPr>
          <a:xfrm>
            <a:off x="1276499" y="5193804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72" name="Text 355"/>
          <p:cNvSpPr/>
          <p:nvPr/>
        </p:nvSpPr>
        <p:spPr>
          <a:xfrm>
            <a:off x="800100" y="5293626"/>
            <a:ext cx="341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</a:t>
            </a:r>
            <a:endParaRPr lang="en-US" sz="1200" dirty="0"/>
          </a:p>
        </p:txBody>
      </p:sp>
      <p:sp>
        <p:nvSpPr>
          <p:cNvPr id="373" name="Shape 356"/>
          <p:cNvSpPr/>
          <p:nvPr/>
        </p:nvSpPr>
        <p:spPr>
          <a:xfrm>
            <a:off x="1400324" y="5193804"/>
            <a:ext cx="666899" cy="419100"/>
          </a:xfrm>
          <a:prstGeom prst="roundRect">
            <a:avLst>
              <a:gd name="adj" fmla="val 15909"/>
            </a:avLst>
          </a:prstGeom>
          <a:solidFill>
            <a:srgbClr val="184FAA"/>
          </a:solidFill>
          <a:ln w="12700">
            <a:solidFill>
              <a:srgbClr val="184FAA">
                <a:alpha val="0"/>
              </a:srgbClr>
            </a:solidFill>
            <a:prstDash val="solid"/>
          </a:ln>
        </p:spPr>
      </p:sp>
      <p:sp>
        <p:nvSpPr>
          <p:cNvPr id="374" name="Shape 357"/>
          <p:cNvSpPr/>
          <p:nvPr/>
        </p:nvSpPr>
        <p:spPr>
          <a:xfrm>
            <a:off x="1400324" y="5193804"/>
            <a:ext cx="6668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75" name="Shape 358"/>
          <p:cNvSpPr/>
          <p:nvPr/>
        </p:nvSpPr>
        <p:spPr>
          <a:xfrm>
            <a:off x="1400324" y="5603379"/>
            <a:ext cx="6668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76" name="Shape 359"/>
          <p:cNvSpPr/>
          <p:nvPr/>
        </p:nvSpPr>
        <p:spPr>
          <a:xfrm>
            <a:off x="1400324" y="5193804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77" name="Shape 360"/>
          <p:cNvSpPr/>
          <p:nvPr/>
        </p:nvSpPr>
        <p:spPr>
          <a:xfrm>
            <a:off x="2057698" y="5193804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78" name="Text 361"/>
          <p:cNvSpPr/>
          <p:nvPr/>
        </p:nvSpPr>
        <p:spPr>
          <a:xfrm>
            <a:off x="1581299" y="5293626"/>
            <a:ext cx="341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悬停</a:t>
            </a:r>
            <a:endParaRPr lang="en-US" sz="1200" dirty="0"/>
          </a:p>
        </p:txBody>
      </p:sp>
      <p:sp>
        <p:nvSpPr>
          <p:cNvPr id="379" name="Shape 362"/>
          <p:cNvSpPr/>
          <p:nvPr/>
        </p:nvSpPr>
        <p:spPr>
          <a:xfrm>
            <a:off x="2181523" y="5193804"/>
            <a:ext cx="666899" cy="419100"/>
          </a:xfrm>
          <a:prstGeom prst="roundRect">
            <a:avLst>
              <a:gd name="adj" fmla="val 15909"/>
            </a:avLst>
          </a:prstGeom>
          <a:solidFill>
            <a:srgbClr val="123D8B"/>
          </a:solidFill>
          <a:ln w="12700">
            <a:solidFill>
              <a:srgbClr val="123D8B">
                <a:alpha val="0"/>
              </a:srgbClr>
            </a:solidFill>
            <a:prstDash val="solid"/>
          </a:ln>
        </p:spPr>
      </p:sp>
      <p:sp>
        <p:nvSpPr>
          <p:cNvPr id="380" name="Shape 363"/>
          <p:cNvSpPr/>
          <p:nvPr/>
        </p:nvSpPr>
        <p:spPr>
          <a:xfrm>
            <a:off x="2181523" y="5193804"/>
            <a:ext cx="6668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81" name="Shape 364"/>
          <p:cNvSpPr/>
          <p:nvPr/>
        </p:nvSpPr>
        <p:spPr>
          <a:xfrm>
            <a:off x="2181523" y="5603379"/>
            <a:ext cx="6668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82" name="Shape 365"/>
          <p:cNvSpPr/>
          <p:nvPr/>
        </p:nvSpPr>
        <p:spPr>
          <a:xfrm>
            <a:off x="2181523" y="5193804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83" name="Shape 366"/>
          <p:cNvSpPr/>
          <p:nvPr/>
        </p:nvSpPr>
        <p:spPr>
          <a:xfrm>
            <a:off x="2838896" y="5193804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84" name="Text 367"/>
          <p:cNvSpPr/>
          <p:nvPr/>
        </p:nvSpPr>
        <p:spPr>
          <a:xfrm>
            <a:off x="2362498" y="5293626"/>
            <a:ext cx="341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</a:t>
            </a:r>
            <a:endParaRPr lang="en-US" sz="1200" dirty="0"/>
          </a:p>
        </p:txBody>
      </p:sp>
      <p:sp>
        <p:nvSpPr>
          <p:cNvPr id="385" name="Shape 368"/>
          <p:cNvSpPr/>
          <p:nvPr/>
        </p:nvSpPr>
        <p:spPr>
          <a:xfrm>
            <a:off x="2962721" y="5193804"/>
            <a:ext cx="971699" cy="419100"/>
          </a:xfrm>
          <a:prstGeom prst="roundRect">
            <a:avLst>
              <a:gd name="adj" fmla="val 1590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86" name="Shape 369"/>
          <p:cNvSpPr/>
          <p:nvPr/>
        </p:nvSpPr>
        <p:spPr>
          <a:xfrm>
            <a:off x="2962721" y="5193804"/>
            <a:ext cx="9716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87" name="Shape 370"/>
          <p:cNvSpPr/>
          <p:nvPr/>
        </p:nvSpPr>
        <p:spPr>
          <a:xfrm>
            <a:off x="2962721" y="5603379"/>
            <a:ext cx="9716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88" name="Shape 371"/>
          <p:cNvSpPr/>
          <p:nvPr/>
        </p:nvSpPr>
        <p:spPr>
          <a:xfrm>
            <a:off x="2962721" y="5193804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89" name="Shape 372"/>
          <p:cNvSpPr/>
          <p:nvPr/>
        </p:nvSpPr>
        <p:spPr>
          <a:xfrm>
            <a:off x="3924895" y="5193804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390" name="Text 373"/>
          <p:cNvSpPr/>
          <p:nvPr/>
        </p:nvSpPr>
        <p:spPr>
          <a:xfrm>
            <a:off x="3143696" y="5293626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键盘聚焦</a:t>
            </a:r>
            <a:endParaRPr lang="en-US" sz="1200" dirty="0"/>
          </a:p>
        </p:txBody>
      </p:sp>
      <p:sp>
        <p:nvSpPr>
          <p:cNvPr id="391" name="Shape 374"/>
          <p:cNvSpPr/>
          <p:nvPr/>
        </p:nvSpPr>
        <p:spPr>
          <a:xfrm>
            <a:off x="4048720" y="5193804"/>
            <a:ext cx="971699" cy="419100"/>
          </a:xfrm>
          <a:prstGeom prst="roundRect">
            <a:avLst>
              <a:gd name="adj" fmla="val 15909"/>
            </a:avLst>
          </a:prstGeom>
          <a:solidFill>
            <a:srgbClr val="E0E7F0"/>
          </a:solidFill>
          <a:ln w="12700">
            <a:solidFill>
              <a:srgbClr val="E0E7F0">
                <a:alpha val="0"/>
              </a:srgbClr>
            </a:solidFill>
            <a:prstDash val="solid"/>
          </a:ln>
        </p:spPr>
      </p:sp>
      <p:sp>
        <p:nvSpPr>
          <p:cNvPr id="392" name="Shape 375"/>
          <p:cNvSpPr/>
          <p:nvPr/>
        </p:nvSpPr>
        <p:spPr>
          <a:xfrm>
            <a:off x="4048720" y="5193804"/>
            <a:ext cx="9716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93" name="Shape 376"/>
          <p:cNvSpPr/>
          <p:nvPr/>
        </p:nvSpPr>
        <p:spPr>
          <a:xfrm>
            <a:off x="4048720" y="5603379"/>
            <a:ext cx="9716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94" name="Shape 377"/>
          <p:cNvSpPr/>
          <p:nvPr/>
        </p:nvSpPr>
        <p:spPr>
          <a:xfrm>
            <a:off x="4048720" y="5193804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95" name="Shape 378"/>
          <p:cNvSpPr/>
          <p:nvPr/>
        </p:nvSpPr>
        <p:spPr>
          <a:xfrm>
            <a:off x="5010894" y="5193804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96" name="Text 379"/>
          <p:cNvSpPr/>
          <p:nvPr/>
        </p:nvSpPr>
        <p:spPr>
          <a:xfrm>
            <a:off x="4229695" y="5293626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181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条件不足</a:t>
            </a:r>
            <a:endParaRPr lang="en-US" sz="1200" dirty="0"/>
          </a:p>
        </p:txBody>
      </p:sp>
      <p:sp>
        <p:nvSpPr>
          <p:cNvPr id="397" name="Shape 380"/>
          <p:cNvSpPr/>
          <p:nvPr/>
        </p:nvSpPr>
        <p:spPr>
          <a:xfrm>
            <a:off x="5134719" y="5193804"/>
            <a:ext cx="1124099" cy="419100"/>
          </a:xfrm>
          <a:prstGeom prst="roundRect">
            <a:avLst>
              <a:gd name="adj" fmla="val 15909"/>
            </a:avLst>
          </a:prstGeom>
          <a:solidFill>
            <a:srgbClr val="E0E7F0"/>
          </a:solidFill>
          <a:ln w="12700">
            <a:solidFill>
              <a:srgbClr val="E0E7F0">
                <a:alpha val="0"/>
              </a:srgbClr>
            </a:solidFill>
            <a:prstDash val="solid"/>
          </a:ln>
        </p:spPr>
      </p:sp>
      <p:sp>
        <p:nvSpPr>
          <p:cNvPr id="398" name="Shape 381"/>
          <p:cNvSpPr/>
          <p:nvPr/>
        </p:nvSpPr>
        <p:spPr>
          <a:xfrm>
            <a:off x="5134719" y="5193804"/>
            <a:ext cx="11240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99" name="Shape 382"/>
          <p:cNvSpPr/>
          <p:nvPr/>
        </p:nvSpPr>
        <p:spPr>
          <a:xfrm>
            <a:off x="5134719" y="5603379"/>
            <a:ext cx="11240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00" name="Shape 383"/>
          <p:cNvSpPr/>
          <p:nvPr/>
        </p:nvSpPr>
        <p:spPr>
          <a:xfrm>
            <a:off x="5134719" y="5193804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01" name="Shape 384"/>
          <p:cNvSpPr/>
          <p:nvPr/>
        </p:nvSpPr>
        <p:spPr>
          <a:xfrm>
            <a:off x="6249293" y="5193804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02" name="Text 385"/>
          <p:cNvSpPr/>
          <p:nvPr/>
        </p:nvSpPr>
        <p:spPr>
          <a:xfrm>
            <a:off x="5315694" y="5293626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181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正在提交…</a:t>
            </a:r>
            <a:endParaRPr lang="en-US" sz="1200" dirty="0"/>
          </a:p>
        </p:txBody>
      </p:sp>
      <p:sp>
        <p:nvSpPr>
          <p:cNvPr id="403" name="Shape 386"/>
          <p:cNvSpPr/>
          <p:nvPr/>
        </p:nvSpPr>
        <p:spPr>
          <a:xfrm>
            <a:off x="6373118" y="5193804"/>
            <a:ext cx="1085999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4" name="Shape 387"/>
          <p:cNvSpPr/>
          <p:nvPr/>
        </p:nvSpPr>
        <p:spPr>
          <a:xfrm>
            <a:off x="6373118" y="5193804"/>
            <a:ext cx="10859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05" name="Shape 388"/>
          <p:cNvSpPr/>
          <p:nvPr/>
        </p:nvSpPr>
        <p:spPr>
          <a:xfrm>
            <a:off x="6373118" y="5603379"/>
            <a:ext cx="108599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06" name="Shape 389"/>
          <p:cNvSpPr/>
          <p:nvPr/>
        </p:nvSpPr>
        <p:spPr>
          <a:xfrm>
            <a:off x="6373118" y="5193804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07" name="Shape 390"/>
          <p:cNvSpPr/>
          <p:nvPr/>
        </p:nvSpPr>
        <p:spPr>
          <a:xfrm>
            <a:off x="7449592" y="5193804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40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54093" y="5308104"/>
            <a:ext cx="190500" cy="190500"/>
          </a:xfrm>
          <a:prstGeom prst="rect">
            <a:avLst/>
          </a:prstGeom>
        </p:spPr>
      </p:pic>
      <p:sp>
        <p:nvSpPr>
          <p:cNvPr id="409" name="Text 391"/>
          <p:cNvSpPr/>
          <p:nvPr/>
        </p:nvSpPr>
        <p:spPr>
          <a:xfrm>
            <a:off x="6820793" y="5293626"/>
            <a:ext cx="4939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已接受</a:t>
            </a:r>
            <a:endParaRPr lang="en-US" sz="1200" dirty="0"/>
          </a:p>
        </p:txBody>
      </p:sp>
      <p:sp>
        <p:nvSpPr>
          <p:cNvPr id="410" name="Shape 392"/>
          <p:cNvSpPr/>
          <p:nvPr/>
        </p:nvSpPr>
        <p:spPr>
          <a:xfrm>
            <a:off x="619125" y="5727204"/>
            <a:ext cx="1543199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1" name="Shape 393"/>
          <p:cNvSpPr/>
          <p:nvPr/>
        </p:nvSpPr>
        <p:spPr>
          <a:xfrm>
            <a:off x="619125" y="5727204"/>
            <a:ext cx="1543199" cy="9525"/>
          </a:xfrm>
          <a:prstGeom prst="rect">
            <a:avLst/>
          </a:prstGeom>
          <a:solidFill>
            <a:srgbClr val="DDB8BB"/>
          </a:solidFill>
          <a:ln w="12700">
            <a:solidFill>
              <a:srgbClr val="DDB8BB">
                <a:alpha val="0"/>
              </a:srgbClr>
            </a:solidFill>
            <a:prstDash val="solid"/>
          </a:ln>
        </p:spPr>
      </p:sp>
      <p:sp>
        <p:nvSpPr>
          <p:cNvPr id="412" name="Shape 394"/>
          <p:cNvSpPr/>
          <p:nvPr/>
        </p:nvSpPr>
        <p:spPr>
          <a:xfrm>
            <a:off x="619125" y="6136779"/>
            <a:ext cx="1543199" cy="9525"/>
          </a:xfrm>
          <a:prstGeom prst="rect">
            <a:avLst/>
          </a:prstGeom>
          <a:solidFill>
            <a:srgbClr val="DDB8BB"/>
          </a:solidFill>
          <a:ln w="12700">
            <a:solidFill>
              <a:srgbClr val="DDB8BB">
                <a:alpha val="0"/>
              </a:srgbClr>
            </a:solidFill>
            <a:prstDash val="solid"/>
          </a:ln>
        </p:spPr>
      </p:sp>
      <p:sp>
        <p:nvSpPr>
          <p:cNvPr id="413" name="Shape 395"/>
          <p:cNvSpPr/>
          <p:nvPr/>
        </p:nvSpPr>
        <p:spPr>
          <a:xfrm>
            <a:off x="619125" y="5727204"/>
            <a:ext cx="9525" cy="419100"/>
          </a:xfrm>
          <a:prstGeom prst="rect">
            <a:avLst/>
          </a:prstGeom>
          <a:solidFill>
            <a:srgbClr val="DDB8BB"/>
          </a:solidFill>
          <a:ln w="12700">
            <a:solidFill>
              <a:srgbClr val="DDB8BB">
                <a:alpha val="0"/>
              </a:srgbClr>
            </a:solidFill>
            <a:prstDash val="solid"/>
          </a:ln>
        </p:spPr>
      </p:sp>
      <p:sp>
        <p:nvSpPr>
          <p:cNvPr id="414" name="Shape 396"/>
          <p:cNvSpPr/>
          <p:nvPr/>
        </p:nvSpPr>
        <p:spPr>
          <a:xfrm>
            <a:off x="2152799" y="5727204"/>
            <a:ext cx="9525" cy="419100"/>
          </a:xfrm>
          <a:prstGeom prst="rect">
            <a:avLst/>
          </a:prstGeom>
          <a:solidFill>
            <a:srgbClr val="DDB8BB"/>
          </a:solidFill>
          <a:ln w="12700">
            <a:solidFill>
              <a:srgbClr val="DDB8BB">
                <a:alpha val="0"/>
              </a:srgbClr>
            </a:solidFill>
            <a:prstDash val="solid"/>
          </a:ln>
        </p:spPr>
      </p:sp>
      <p:pic>
        <p:nvPicPr>
          <p:cNvPr id="415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00100" y="5841504"/>
            <a:ext cx="190500" cy="190500"/>
          </a:xfrm>
          <a:prstGeom prst="rect">
            <a:avLst/>
          </a:prstGeom>
        </p:spPr>
      </p:pic>
      <p:sp>
        <p:nvSpPr>
          <p:cNvPr id="416" name="Text 397"/>
          <p:cNvSpPr/>
          <p:nvPr/>
        </p:nvSpPr>
        <p:spPr>
          <a:xfrm>
            <a:off x="1066800" y="5827026"/>
            <a:ext cx="9511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查看拒绝原因</a:t>
            </a:r>
            <a:endParaRPr lang="en-US" sz="1200" dirty="0"/>
          </a:p>
        </p:txBody>
      </p:sp>
      <p:sp>
        <p:nvSpPr>
          <p:cNvPr id="417" name="Text 398"/>
          <p:cNvSpPr/>
          <p:nvPr/>
        </p:nvSpPr>
        <p:spPr>
          <a:xfrm>
            <a:off x="619125" y="6274701"/>
            <a:ext cx="37514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执行期间锁定同作业版本。结果在通道区显示，不以点击当作成功。</a:t>
            </a:r>
            <a:endParaRPr lang="en-US" sz="975" dirty="0"/>
          </a:p>
        </p:txBody>
      </p:sp>
      <p:sp>
        <p:nvSpPr>
          <p:cNvPr id="418" name="Shape 399"/>
          <p:cNvSpPr/>
          <p:nvPr/>
        </p:nvSpPr>
        <p:spPr>
          <a:xfrm>
            <a:off x="619125" y="6579691"/>
            <a:ext cx="8172450" cy="460921"/>
          </a:xfrm>
          <a:prstGeom prst="roundRect">
            <a:avLst>
              <a:gd name="adj" fmla="val 14466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19" name="Shape 400"/>
          <p:cNvSpPr/>
          <p:nvPr/>
        </p:nvSpPr>
        <p:spPr>
          <a:xfrm>
            <a:off x="619125" y="6579691"/>
            <a:ext cx="8172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20" name="Shape 401"/>
          <p:cNvSpPr/>
          <p:nvPr/>
        </p:nvSpPr>
        <p:spPr>
          <a:xfrm>
            <a:off x="619125" y="7031087"/>
            <a:ext cx="8172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21" name="Shape 402"/>
          <p:cNvSpPr/>
          <p:nvPr/>
        </p:nvSpPr>
        <p:spPr>
          <a:xfrm>
            <a:off x="619125" y="6579691"/>
            <a:ext cx="9525" cy="46092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22" name="Shape 403"/>
          <p:cNvSpPr/>
          <p:nvPr/>
        </p:nvSpPr>
        <p:spPr>
          <a:xfrm>
            <a:off x="8782050" y="6579691"/>
            <a:ext cx="9525" cy="46092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23" name="Text 404"/>
          <p:cNvSpPr/>
          <p:nvPr/>
        </p:nvSpPr>
        <p:spPr>
          <a:xfrm>
            <a:off x="762000" y="6717613"/>
            <a:ext cx="507306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Tab依可见顺序移动；Esc只关闭可取消视图，不清空业务。Enter不作为全局发车键。</a:t>
            </a:r>
            <a:endParaRPr lang="en-US" sz="1050" dirty="0"/>
          </a:p>
        </p:txBody>
      </p:sp>
      <p:sp>
        <p:nvSpPr>
          <p:cNvPr id="424" name="Shape 405"/>
          <p:cNvSpPr/>
          <p:nvPr/>
        </p:nvSpPr>
        <p:spPr>
          <a:xfrm>
            <a:off x="9258300" y="4527054"/>
            <a:ext cx="8648700" cy="2751683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5" name="Shape 406"/>
          <p:cNvSpPr/>
          <p:nvPr/>
        </p:nvSpPr>
        <p:spPr>
          <a:xfrm>
            <a:off x="9258300" y="4527054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26" name="Shape 407"/>
          <p:cNvSpPr/>
          <p:nvPr/>
        </p:nvSpPr>
        <p:spPr>
          <a:xfrm>
            <a:off x="9258300" y="7269212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27" name="Shape 408"/>
          <p:cNvSpPr/>
          <p:nvPr/>
        </p:nvSpPr>
        <p:spPr>
          <a:xfrm>
            <a:off x="9258300" y="4527054"/>
            <a:ext cx="9525" cy="275168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28" name="Shape 409"/>
          <p:cNvSpPr/>
          <p:nvPr/>
        </p:nvSpPr>
        <p:spPr>
          <a:xfrm>
            <a:off x="17897475" y="4527054"/>
            <a:ext cx="9525" cy="275168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29" name="Text 410"/>
          <p:cNvSpPr/>
          <p:nvPr/>
        </p:nvSpPr>
        <p:spPr>
          <a:xfrm>
            <a:off x="9496425" y="4769751"/>
            <a:ext cx="1754797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输入、尺寸与边界</a:t>
            </a:r>
            <a:endParaRPr lang="en-US" sz="1350" dirty="0"/>
          </a:p>
        </p:txBody>
      </p:sp>
      <p:sp>
        <p:nvSpPr>
          <p:cNvPr id="430" name="Text 411"/>
          <p:cNvSpPr/>
          <p:nvPr/>
        </p:nvSpPr>
        <p:spPr>
          <a:xfrm>
            <a:off x="9496425" y="5198376"/>
            <a:ext cx="209665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周转箱条码 · 唯一常规扫码枪输入</a:t>
            </a:r>
            <a:endParaRPr lang="en-US" sz="1050" dirty="0"/>
          </a:p>
        </p:txBody>
      </p:sp>
      <p:sp>
        <p:nvSpPr>
          <p:cNvPr id="431" name="Shape 412"/>
          <p:cNvSpPr/>
          <p:nvPr/>
        </p:nvSpPr>
        <p:spPr>
          <a:xfrm>
            <a:off x="9496425" y="5470029"/>
            <a:ext cx="6581775" cy="457200"/>
          </a:xfrm>
          <a:prstGeom prst="roundRect">
            <a:avLst>
              <a:gd name="adj" fmla="val 14583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32" name="Shape 413"/>
          <p:cNvSpPr/>
          <p:nvPr/>
        </p:nvSpPr>
        <p:spPr>
          <a:xfrm>
            <a:off x="9496425" y="5470029"/>
            <a:ext cx="6581775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433" name="Shape 414"/>
          <p:cNvSpPr/>
          <p:nvPr/>
        </p:nvSpPr>
        <p:spPr>
          <a:xfrm>
            <a:off x="9496425" y="5917704"/>
            <a:ext cx="6581775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434" name="Shape 415"/>
          <p:cNvSpPr/>
          <p:nvPr/>
        </p:nvSpPr>
        <p:spPr>
          <a:xfrm>
            <a:off x="9496425" y="5470029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435" name="Shape 416"/>
          <p:cNvSpPr/>
          <p:nvPr/>
        </p:nvSpPr>
        <p:spPr>
          <a:xfrm>
            <a:off x="16068675" y="5470029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436" name="Text 417"/>
          <p:cNvSpPr/>
          <p:nvPr/>
        </p:nvSpPr>
        <p:spPr>
          <a:xfrm>
            <a:off x="9610725" y="5604141"/>
            <a:ext cx="6408801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TC-2026-0091</a:t>
            </a:r>
            <a:endParaRPr lang="en-US" sz="1200" dirty="0"/>
          </a:p>
        </p:txBody>
      </p:sp>
      <p:sp>
        <p:nvSpPr>
          <p:cNvPr id="437" name="Shape 418"/>
          <p:cNvSpPr/>
          <p:nvPr/>
        </p:nvSpPr>
        <p:spPr>
          <a:xfrm>
            <a:off x="16192500" y="5470029"/>
            <a:ext cx="1476375" cy="457200"/>
          </a:xfrm>
          <a:prstGeom prst="roundRect">
            <a:avLst>
              <a:gd name="adj" fmla="val 14583"/>
            </a:avLst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438" name="Shape 419"/>
          <p:cNvSpPr/>
          <p:nvPr/>
        </p:nvSpPr>
        <p:spPr>
          <a:xfrm>
            <a:off x="16192500" y="5470029"/>
            <a:ext cx="1476375" cy="9525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439" name="Shape 420"/>
          <p:cNvSpPr/>
          <p:nvPr/>
        </p:nvSpPr>
        <p:spPr>
          <a:xfrm>
            <a:off x="16192500" y="5917704"/>
            <a:ext cx="1476375" cy="9525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440" name="Shape 421"/>
          <p:cNvSpPr/>
          <p:nvPr/>
        </p:nvSpPr>
        <p:spPr>
          <a:xfrm>
            <a:off x="16192500" y="5470029"/>
            <a:ext cx="9525" cy="457200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441" name="Shape 422"/>
          <p:cNvSpPr/>
          <p:nvPr/>
        </p:nvSpPr>
        <p:spPr>
          <a:xfrm>
            <a:off x="17659350" y="5470029"/>
            <a:ext cx="9525" cy="457200"/>
          </a:xfrm>
          <a:prstGeom prst="rect">
            <a:avLst/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442" name="Text 423"/>
          <p:cNvSpPr/>
          <p:nvPr/>
        </p:nvSpPr>
        <p:spPr>
          <a:xfrm>
            <a:off x="16306800" y="5604141"/>
            <a:ext cx="1303401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非本层箱</a:t>
            </a:r>
            <a:endParaRPr lang="en-US" sz="1200" dirty="0"/>
          </a:p>
        </p:txBody>
      </p:sp>
      <p:sp>
        <p:nvSpPr>
          <p:cNvPr id="443" name="Text 424"/>
          <p:cNvSpPr/>
          <p:nvPr/>
        </p:nvSpPr>
        <p:spPr>
          <a:xfrm>
            <a:off x="9496425" y="6055626"/>
            <a:ext cx="376308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8px间距基准；页面边距24，列间20；面板圆角10，按钮7，边框1。</a:t>
            </a:r>
            <a:endParaRPr lang="en-US" sz="975" dirty="0"/>
          </a:p>
        </p:txBody>
      </p:sp>
      <p:sp>
        <p:nvSpPr>
          <p:cNvPr id="444" name="Shape 425"/>
          <p:cNvSpPr/>
          <p:nvPr/>
        </p:nvSpPr>
        <p:spPr>
          <a:xfrm>
            <a:off x="9496425" y="6360616"/>
            <a:ext cx="8172450" cy="460921"/>
          </a:xfrm>
          <a:prstGeom prst="roundRect">
            <a:avLst>
              <a:gd name="adj" fmla="val 14466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445" name="Shape 426"/>
          <p:cNvSpPr/>
          <p:nvPr/>
        </p:nvSpPr>
        <p:spPr>
          <a:xfrm>
            <a:off x="9496425" y="6360616"/>
            <a:ext cx="8172450" cy="9525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446" name="Shape 427"/>
          <p:cNvSpPr/>
          <p:nvPr/>
        </p:nvSpPr>
        <p:spPr>
          <a:xfrm>
            <a:off x="9496425" y="6812012"/>
            <a:ext cx="8172450" cy="9525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447" name="Shape 428"/>
          <p:cNvSpPr/>
          <p:nvPr/>
        </p:nvSpPr>
        <p:spPr>
          <a:xfrm>
            <a:off x="9496425" y="6360616"/>
            <a:ext cx="9525" cy="460921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448" name="Shape 429"/>
          <p:cNvSpPr/>
          <p:nvPr/>
        </p:nvSpPr>
        <p:spPr>
          <a:xfrm>
            <a:off x="17659350" y="6360616"/>
            <a:ext cx="9525" cy="460921"/>
          </a:xfrm>
          <a:prstGeom prst="rect">
            <a:avLst/>
          </a:prstGeom>
          <a:solidFill>
            <a:srgbClr val="C8D8F4"/>
          </a:solidFill>
          <a:ln w="12700">
            <a:solidFill>
              <a:srgbClr val="C8D8F4">
                <a:alpha val="0"/>
              </a:srgbClr>
            </a:solidFill>
            <a:prstDash val="solid"/>
          </a:ln>
        </p:spPr>
      </p:sp>
      <p:sp>
        <p:nvSpPr>
          <p:cNvPr id="449" name="Text 430"/>
          <p:cNvSpPr/>
          <p:nvPr/>
        </p:nvSpPr>
        <p:spPr>
          <a:xfrm>
            <a:off x="9639300" y="6498538"/>
            <a:ext cx="632873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4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业务触控目标≥44×44，主操作48–52高。线性图标20px且配中文；禁用原因邻近按钮，不藏在悬停提示。</a:t>
            </a:r>
            <a:endParaRPr lang="en-US" sz="1050" dirty="0"/>
          </a:p>
        </p:txBody>
      </p:sp>
      <p:sp>
        <p:nvSpPr>
          <p:cNvPr id="450" name="Shape 431"/>
          <p:cNvSpPr/>
          <p:nvPr/>
        </p:nvSpPr>
        <p:spPr>
          <a:xfrm>
            <a:off x="381000" y="7507337"/>
            <a:ext cx="8648700" cy="2218283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1" name="Shape 432"/>
          <p:cNvSpPr/>
          <p:nvPr/>
        </p:nvSpPr>
        <p:spPr>
          <a:xfrm>
            <a:off x="381000" y="7507337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2" name="Shape 433"/>
          <p:cNvSpPr/>
          <p:nvPr/>
        </p:nvSpPr>
        <p:spPr>
          <a:xfrm>
            <a:off x="381000" y="9716095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3" name="Shape 434"/>
          <p:cNvSpPr/>
          <p:nvPr/>
        </p:nvSpPr>
        <p:spPr>
          <a:xfrm>
            <a:off x="381000" y="7507337"/>
            <a:ext cx="9525" cy="221828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4" name="Shape 435"/>
          <p:cNvSpPr/>
          <p:nvPr/>
        </p:nvSpPr>
        <p:spPr>
          <a:xfrm>
            <a:off x="9020175" y="7507337"/>
            <a:ext cx="9525" cy="221828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5" name="Text 436"/>
          <p:cNvSpPr/>
          <p:nvPr/>
        </p:nvSpPr>
        <p:spPr>
          <a:xfrm>
            <a:off x="619125" y="7750034"/>
            <a:ext cx="1068997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追溯表格</a:t>
            </a:r>
            <a:endParaRPr lang="en-US" sz="1350" dirty="0"/>
          </a:p>
        </p:txBody>
      </p:sp>
      <p:sp>
        <p:nvSpPr>
          <p:cNvPr id="456" name="Shape 437"/>
          <p:cNvSpPr/>
          <p:nvPr/>
        </p:nvSpPr>
        <p:spPr>
          <a:xfrm>
            <a:off x="619125" y="8174087"/>
            <a:ext cx="2036415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57" name="Shape 438"/>
          <p:cNvSpPr/>
          <p:nvPr/>
        </p:nvSpPr>
        <p:spPr>
          <a:xfrm>
            <a:off x="619125" y="8474125"/>
            <a:ext cx="203641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58" name="Text 439"/>
          <p:cNvSpPr/>
          <p:nvPr/>
        </p:nvSpPr>
        <p:spPr>
          <a:xfrm>
            <a:off x="752475" y="8245334"/>
            <a:ext cx="37739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作业ID</a:t>
            </a:r>
            <a:endParaRPr lang="en-US" sz="900" dirty="0"/>
          </a:p>
        </p:txBody>
      </p:sp>
      <p:sp>
        <p:nvSpPr>
          <p:cNvPr id="459" name="Shape 440"/>
          <p:cNvSpPr/>
          <p:nvPr/>
        </p:nvSpPr>
        <p:spPr>
          <a:xfrm>
            <a:off x="2655540" y="8174087"/>
            <a:ext cx="238467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60" name="Shape 441"/>
          <p:cNvSpPr/>
          <p:nvPr/>
        </p:nvSpPr>
        <p:spPr>
          <a:xfrm>
            <a:off x="2655540" y="8474125"/>
            <a:ext cx="238467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61" name="Text 442"/>
          <p:cNvSpPr/>
          <p:nvPr/>
        </p:nvSpPr>
        <p:spPr>
          <a:xfrm>
            <a:off x="2788890" y="8245334"/>
            <a:ext cx="502706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WCS结果</a:t>
            </a:r>
            <a:endParaRPr lang="en-US" sz="900" dirty="0"/>
          </a:p>
        </p:txBody>
      </p:sp>
      <p:sp>
        <p:nvSpPr>
          <p:cNvPr id="462" name="Shape 443"/>
          <p:cNvSpPr/>
          <p:nvPr/>
        </p:nvSpPr>
        <p:spPr>
          <a:xfrm>
            <a:off x="5040213" y="8174087"/>
            <a:ext cx="197003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63" name="Shape 444"/>
          <p:cNvSpPr/>
          <p:nvPr/>
        </p:nvSpPr>
        <p:spPr>
          <a:xfrm>
            <a:off x="5040213" y="8474125"/>
            <a:ext cx="197003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64" name="Text 445"/>
          <p:cNvSpPr/>
          <p:nvPr/>
        </p:nvSpPr>
        <p:spPr>
          <a:xfrm>
            <a:off x="5173563" y="8245334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发送尝试</a:t>
            </a:r>
            <a:endParaRPr lang="en-US" sz="900" dirty="0"/>
          </a:p>
        </p:txBody>
      </p:sp>
      <p:sp>
        <p:nvSpPr>
          <p:cNvPr id="465" name="Shape 446"/>
          <p:cNvSpPr/>
          <p:nvPr/>
        </p:nvSpPr>
        <p:spPr>
          <a:xfrm>
            <a:off x="7010251" y="8174087"/>
            <a:ext cx="1781324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66" name="Shape 447"/>
          <p:cNvSpPr/>
          <p:nvPr/>
        </p:nvSpPr>
        <p:spPr>
          <a:xfrm>
            <a:off x="7010251" y="8474125"/>
            <a:ext cx="1781324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67" name="Text 448"/>
          <p:cNvSpPr/>
          <p:nvPr/>
        </p:nvSpPr>
        <p:spPr>
          <a:xfrm>
            <a:off x="7143601" y="8245334"/>
            <a:ext cx="4244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接受/件</a:t>
            </a:r>
            <a:endParaRPr lang="en-US" sz="900" dirty="0"/>
          </a:p>
        </p:txBody>
      </p:sp>
      <p:sp>
        <p:nvSpPr>
          <p:cNvPr id="468" name="Shape 449"/>
          <p:cNvSpPr/>
          <p:nvPr/>
        </p:nvSpPr>
        <p:spPr>
          <a:xfrm>
            <a:off x="619125" y="8821787"/>
            <a:ext cx="2036415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69" name="Text 450"/>
          <p:cNvSpPr/>
          <p:nvPr/>
        </p:nvSpPr>
        <p:spPr>
          <a:xfrm>
            <a:off x="752475" y="8581090"/>
            <a:ext cx="5183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OP-004</a:t>
            </a:r>
            <a:endParaRPr lang="en-US" sz="1050" dirty="0"/>
          </a:p>
        </p:txBody>
      </p:sp>
      <p:sp>
        <p:nvSpPr>
          <p:cNvPr id="470" name="Shape 451"/>
          <p:cNvSpPr/>
          <p:nvPr/>
        </p:nvSpPr>
        <p:spPr>
          <a:xfrm>
            <a:off x="2655540" y="8821787"/>
            <a:ext cx="238467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71" name="Shape 452"/>
          <p:cNvSpPr/>
          <p:nvPr/>
        </p:nvSpPr>
        <p:spPr>
          <a:xfrm>
            <a:off x="2788890" y="8559850"/>
            <a:ext cx="609749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72" name="Shape 453"/>
          <p:cNvSpPr/>
          <p:nvPr/>
        </p:nvSpPr>
        <p:spPr>
          <a:xfrm>
            <a:off x="2855565" y="8631287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73" name="Text 454"/>
          <p:cNvSpPr/>
          <p:nvPr/>
        </p:nvSpPr>
        <p:spPr>
          <a:xfrm>
            <a:off x="2988915" y="8583472"/>
            <a:ext cx="3796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已接受</a:t>
            </a:r>
            <a:endParaRPr lang="en-US" sz="900" dirty="0"/>
          </a:p>
        </p:txBody>
      </p:sp>
      <p:sp>
        <p:nvSpPr>
          <p:cNvPr id="474" name="Shape 455"/>
          <p:cNvSpPr/>
          <p:nvPr/>
        </p:nvSpPr>
        <p:spPr>
          <a:xfrm>
            <a:off x="5040213" y="8821787"/>
            <a:ext cx="197003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75" name="Text 456"/>
          <p:cNvSpPr/>
          <p:nvPr/>
        </p:nvSpPr>
        <p:spPr>
          <a:xfrm>
            <a:off x="5173563" y="8562040"/>
            <a:ext cx="24404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2次</a:t>
            </a:r>
            <a:endParaRPr lang="en-US" sz="1050" dirty="0"/>
          </a:p>
        </p:txBody>
      </p:sp>
      <p:sp>
        <p:nvSpPr>
          <p:cNvPr id="476" name="Shape 457"/>
          <p:cNvSpPr/>
          <p:nvPr/>
        </p:nvSpPr>
        <p:spPr>
          <a:xfrm>
            <a:off x="7010251" y="8821787"/>
            <a:ext cx="1781324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77" name="Text 458"/>
          <p:cNvSpPr/>
          <p:nvPr/>
        </p:nvSpPr>
        <p:spPr>
          <a:xfrm>
            <a:off x="7143601" y="8562040"/>
            <a:ext cx="18466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478" name="Text 459"/>
          <p:cNvSpPr/>
          <p:nvPr/>
        </p:nvSpPr>
        <p:spPr>
          <a:xfrm>
            <a:off x="619125" y="8964472"/>
            <a:ext cx="351736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作业与网络尝试分层。带操作行≥44高，标识符不转普通数字。</a:t>
            </a:r>
            <a:endParaRPr lang="en-US" sz="975" dirty="0"/>
          </a:p>
        </p:txBody>
      </p:sp>
      <p:sp>
        <p:nvSpPr>
          <p:cNvPr id="479" name="Shape 460"/>
          <p:cNvSpPr/>
          <p:nvPr/>
        </p:nvSpPr>
        <p:spPr>
          <a:xfrm>
            <a:off x="9258300" y="7507337"/>
            <a:ext cx="8648700" cy="2218283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0" name="Shape 461"/>
          <p:cNvSpPr/>
          <p:nvPr/>
        </p:nvSpPr>
        <p:spPr>
          <a:xfrm>
            <a:off x="9258300" y="7507337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81" name="Shape 462"/>
          <p:cNvSpPr/>
          <p:nvPr/>
        </p:nvSpPr>
        <p:spPr>
          <a:xfrm>
            <a:off x="9258300" y="9716095"/>
            <a:ext cx="86487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82" name="Shape 463"/>
          <p:cNvSpPr/>
          <p:nvPr/>
        </p:nvSpPr>
        <p:spPr>
          <a:xfrm>
            <a:off x="9258300" y="7507337"/>
            <a:ext cx="9525" cy="221828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83" name="Shape 464"/>
          <p:cNvSpPr/>
          <p:nvPr/>
        </p:nvSpPr>
        <p:spPr>
          <a:xfrm>
            <a:off x="17897475" y="7507337"/>
            <a:ext cx="9525" cy="2218283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84" name="Text 465"/>
          <p:cNvSpPr/>
          <p:nvPr/>
        </p:nvSpPr>
        <p:spPr>
          <a:xfrm>
            <a:off x="9496425" y="7750034"/>
            <a:ext cx="1754797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布局适配与提示声</a:t>
            </a:r>
            <a:endParaRPr lang="en-US" sz="1350" dirty="0"/>
          </a:p>
        </p:txBody>
      </p:sp>
      <p:sp>
        <p:nvSpPr>
          <p:cNvPr id="485" name="Shape 466"/>
          <p:cNvSpPr/>
          <p:nvPr/>
        </p:nvSpPr>
        <p:spPr>
          <a:xfrm>
            <a:off x="9496425" y="8174087"/>
            <a:ext cx="104775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6" name="Shape 467"/>
          <p:cNvSpPr/>
          <p:nvPr/>
        </p:nvSpPr>
        <p:spPr>
          <a:xfrm>
            <a:off x="9496425" y="8174087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87" name="Shape 468"/>
          <p:cNvSpPr/>
          <p:nvPr/>
        </p:nvSpPr>
        <p:spPr>
          <a:xfrm>
            <a:off x="9496425" y="8583662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88" name="Shape 469"/>
          <p:cNvSpPr/>
          <p:nvPr/>
        </p:nvSpPr>
        <p:spPr>
          <a:xfrm>
            <a:off x="9496425" y="8174087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89" name="Shape 470"/>
          <p:cNvSpPr/>
          <p:nvPr/>
        </p:nvSpPr>
        <p:spPr>
          <a:xfrm>
            <a:off x="10534650" y="8174087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49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620250" y="8288387"/>
            <a:ext cx="190500" cy="190500"/>
          </a:xfrm>
          <a:prstGeom prst="rect">
            <a:avLst/>
          </a:prstGeom>
        </p:spPr>
      </p:pic>
      <p:sp>
        <p:nvSpPr>
          <p:cNvPr id="491" name="Text 471"/>
          <p:cNvSpPr/>
          <p:nvPr/>
        </p:nvSpPr>
        <p:spPr>
          <a:xfrm>
            <a:off x="9886950" y="82881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试听接受</a:t>
            </a:r>
            <a:endParaRPr lang="en-US" sz="1050" dirty="0"/>
          </a:p>
        </p:txBody>
      </p:sp>
      <p:sp>
        <p:nvSpPr>
          <p:cNvPr id="492" name="Shape 472"/>
          <p:cNvSpPr/>
          <p:nvPr/>
        </p:nvSpPr>
        <p:spPr>
          <a:xfrm>
            <a:off x="10658475" y="8174087"/>
            <a:ext cx="104775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3" name="Shape 473"/>
          <p:cNvSpPr/>
          <p:nvPr/>
        </p:nvSpPr>
        <p:spPr>
          <a:xfrm>
            <a:off x="10658475" y="8174087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4" name="Shape 474"/>
          <p:cNvSpPr/>
          <p:nvPr/>
        </p:nvSpPr>
        <p:spPr>
          <a:xfrm>
            <a:off x="10658475" y="8583662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5" name="Shape 475"/>
          <p:cNvSpPr/>
          <p:nvPr/>
        </p:nvSpPr>
        <p:spPr>
          <a:xfrm>
            <a:off x="10658475" y="8174087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6" name="Shape 476"/>
          <p:cNvSpPr/>
          <p:nvPr/>
        </p:nvSpPr>
        <p:spPr>
          <a:xfrm>
            <a:off x="11696700" y="8174087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49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782300" y="8288387"/>
            <a:ext cx="190500" cy="190500"/>
          </a:xfrm>
          <a:prstGeom prst="rect">
            <a:avLst/>
          </a:prstGeom>
        </p:spPr>
      </p:pic>
      <p:sp>
        <p:nvSpPr>
          <p:cNvPr id="498" name="Text 477"/>
          <p:cNvSpPr/>
          <p:nvPr/>
        </p:nvSpPr>
        <p:spPr>
          <a:xfrm>
            <a:off x="11049000" y="82881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试听拒绝</a:t>
            </a:r>
            <a:endParaRPr lang="en-US" sz="1050" dirty="0"/>
          </a:p>
        </p:txBody>
      </p:sp>
      <p:sp>
        <p:nvSpPr>
          <p:cNvPr id="499" name="Shape 478"/>
          <p:cNvSpPr/>
          <p:nvPr/>
        </p:nvSpPr>
        <p:spPr>
          <a:xfrm>
            <a:off x="11820525" y="8174087"/>
            <a:ext cx="104775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0" name="Shape 479"/>
          <p:cNvSpPr/>
          <p:nvPr/>
        </p:nvSpPr>
        <p:spPr>
          <a:xfrm>
            <a:off x="11820525" y="8174087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01" name="Shape 480"/>
          <p:cNvSpPr/>
          <p:nvPr/>
        </p:nvSpPr>
        <p:spPr>
          <a:xfrm>
            <a:off x="11820525" y="8583662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02" name="Shape 481"/>
          <p:cNvSpPr/>
          <p:nvPr/>
        </p:nvSpPr>
        <p:spPr>
          <a:xfrm>
            <a:off x="11820525" y="8174087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03" name="Shape 482"/>
          <p:cNvSpPr/>
          <p:nvPr/>
        </p:nvSpPr>
        <p:spPr>
          <a:xfrm>
            <a:off x="12858750" y="8174087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504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944350" y="8288387"/>
            <a:ext cx="190500" cy="190500"/>
          </a:xfrm>
          <a:prstGeom prst="rect">
            <a:avLst/>
          </a:prstGeom>
        </p:spPr>
      </p:pic>
      <p:sp>
        <p:nvSpPr>
          <p:cNvPr id="505" name="Text 483"/>
          <p:cNvSpPr/>
          <p:nvPr/>
        </p:nvSpPr>
        <p:spPr>
          <a:xfrm>
            <a:off x="12211050" y="82881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试听拆包</a:t>
            </a:r>
            <a:endParaRPr lang="en-US" sz="1050" dirty="0"/>
          </a:p>
        </p:txBody>
      </p:sp>
      <p:sp>
        <p:nvSpPr>
          <p:cNvPr id="506" name="Text 484"/>
          <p:cNvSpPr/>
          <p:nvPr/>
        </p:nvSpPr>
        <p:spPr>
          <a:xfrm>
            <a:off x="9496425" y="8721584"/>
            <a:ext cx="350382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三个不同节奏的合成样例；点击后启动，不循环。需现场听审。</a:t>
            </a:r>
            <a:endParaRPr lang="en-US" sz="975" dirty="0"/>
          </a:p>
        </p:txBody>
      </p:sp>
      <p:sp>
        <p:nvSpPr>
          <p:cNvPr id="507" name="Shape 485"/>
          <p:cNvSpPr/>
          <p:nvPr/>
        </p:nvSpPr>
        <p:spPr>
          <a:xfrm>
            <a:off x="9496425" y="9026575"/>
            <a:ext cx="8172450" cy="460921"/>
          </a:xfrm>
          <a:prstGeom prst="roundRect">
            <a:avLst>
              <a:gd name="adj" fmla="val 14466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508" name="Shape 486"/>
          <p:cNvSpPr/>
          <p:nvPr/>
        </p:nvSpPr>
        <p:spPr>
          <a:xfrm>
            <a:off x="9496425" y="9026575"/>
            <a:ext cx="8172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09" name="Shape 487"/>
          <p:cNvSpPr/>
          <p:nvPr/>
        </p:nvSpPr>
        <p:spPr>
          <a:xfrm>
            <a:off x="9496425" y="9477970"/>
            <a:ext cx="8172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10" name="Shape 488"/>
          <p:cNvSpPr/>
          <p:nvPr/>
        </p:nvSpPr>
        <p:spPr>
          <a:xfrm>
            <a:off x="9496425" y="9026575"/>
            <a:ext cx="9525" cy="46092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11" name="Shape 489"/>
          <p:cNvSpPr/>
          <p:nvPr/>
        </p:nvSpPr>
        <p:spPr>
          <a:xfrm>
            <a:off x="17659350" y="9026575"/>
            <a:ext cx="9525" cy="46092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12" name="Text 490"/>
          <p:cNvSpPr/>
          <p:nvPr/>
        </p:nvSpPr>
        <p:spPr>
          <a:xfrm>
            <a:off x="9639300" y="9164497"/>
            <a:ext cx="6968097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1920×1080基准；1536×864、1366×768、1280×720采用紧凑重排，不整体缩放。小于1280×680显示保护界面。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5421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3212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4621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51321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7650" y="1357313"/>
            <a:ext cx="285750" cy="28575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47700" y="126187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共享周转箱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647700" y="1461897"/>
            <a:ext cx="1179576" cy="294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请扫描周转箱</a:t>
            </a:r>
            <a:endParaRPr lang="en-US" sz="1500" dirty="0"/>
          </a:p>
        </p:txBody>
      </p:sp>
      <p:sp>
        <p:nvSpPr>
          <p:cNvPr id="46" name="Shape 36"/>
          <p:cNvSpPr/>
          <p:nvPr/>
        </p:nvSpPr>
        <p:spPr>
          <a:xfrm>
            <a:off x="2514600" y="1271588"/>
            <a:ext cx="323850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2514600" y="1271588"/>
            <a:ext cx="3238500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2514600" y="1719263"/>
            <a:ext cx="3238500" cy="9525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2514600" y="1271588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5743575" y="1271588"/>
            <a:ext cx="9525" cy="457200"/>
          </a:xfrm>
          <a:prstGeom prst="rect">
            <a:avLst/>
          </a:prstGeom>
          <a:solidFill>
            <a:srgbClr val="B6C3CF"/>
          </a:solidFill>
          <a:ln w="12700">
            <a:solidFill>
              <a:srgbClr val="B6C3CF">
                <a:alpha val="0"/>
              </a:srgbClr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2628900" y="1380934"/>
            <a:ext cx="306552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扫码枪输入周转箱条码</a:t>
            </a:r>
            <a:endParaRPr lang="en-US" sz="1500" dirty="0"/>
          </a:p>
        </p:txBody>
      </p:sp>
      <p:sp>
        <p:nvSpPr>
          <p:cNvPr id="52" name="Shape 42"/>
          <p:cNvSpPr/>
          <p:nvPr/>
        </p:nvSpPr>
        <p:spPr>
          <a:xfrm>
            <a:off x="5867400" y="1290638"/>
            <a:ext cx="1124099" cy="419100"/>
          </a:xfrm>
          <a:prstGeom prst="roundRect">
            <a:avLst>
              <a:gd name="adj" fmla="val 1590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5867400" y="1290638"/>
            <a:ext cx="11240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5867400" y="1700213"/>
            <a:ext cx="1124099" cy="952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5867400" y="1290638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6981974" y="1290638"/>
            <a:ext cx="9525" cy="41910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6048375" y="1390460"/>
            <a:ext cx="7987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校验周转箱</a:t>
            </a:r>
            <a:endParaRPr lang="en-US" sz="1200" dirty="0"/>
          </a:p>
        </p:txBody>
      </p:sp>
      <p:sp>
        <p:nvSpPr>
          <p:cNvPr id="58" name="Text 48"/>
          <p:cNvSpPr/>
          <p:nvPr/>
        </p:nvSpPr>
        <p:spPr>
          <a:xfrm>
            <a:off x="7105799" y="1411891"/>
            <a:ext cx="215841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先验箱，再处理Item；不会自动发车。</a:t>
            </a:r>
            <a:endParaRPr lang="en-US" sz="975" dirty="0"/>
          </a:p>
        </p:txBody>
      </p:sp>
      <p:sp>
        <p:nvSpPr>
          <p:cNvPr id="59" name="Shape 49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1707817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5" name="Shape 55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>
                <a:alpha val="0"/>
              </a:srgbClr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6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8" name="Text 57"/>
          <p:cNvSpPr/>
          <p:nvPr/>
        </p:nvSpPr>
        <p:spPr>
          <a:xfrm>
            <a:off x="714375" y="2223897"/>
            <a:ext cx="11035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等待周转箱校验</a:t>
            </a:r>
            <a:endParaRPr lang="en-US" sz="1200" dirty="0"/>
          </a:p>
        </p:txBody>
      </p:sp>
      <p:sp>
        <p:nvSpPr>
          <p:cNvPr id="69" name="Text 58"/>
          <p:cNvSpPr/>
          <p:nvPr/>
        </p:nvSpPr>
        <p:spPr>
          <a:xfrm>
            <a:off x="1895624" y="2252472"/>
            <a:ext cx="3370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先扫描正确周转箱；两个通道不会生成可执行供包任务。</a:t>
            </a:r>
            <a:endParaRPr lang="en-US" sz="1050" dirty="0"/>
          </a:p>
        </p:txBody>
      </p:sp>
      <p:sp>
        <p:nvSpPr>
          <p:cNvPr id="70" name="Text 59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71" name="Shape 60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6" name="Shape 65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8" name="Text 67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9" name="Text 68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80" name="Text 69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81" name="Shape 70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4" name="Text 72"/>
          <p:cNvSpPr/>
          <p:nvPr/>
        </p:nvSpPr>
        <p:spPr>
          <a:xfrm>
            <a:off x="847725" y="3385947"/>
            <a:ext cx="232302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等待有效Item入场</a:t>
            </a:r>
            <a:endParaRPr lang="en-US" sz="2175" dirty="0"/>
          </a:p>
        </p:txBody>
      </p:sp>
      <p:sp>
        <p:nvSpPr>
          <p:cNvPr id="85" name="Text 73"/>
          <p:cNvSpPr/>
          <p:nvPr/>
        </p:nvSpPr>
        <p:spPr>
          <a:xfrm>
            <a:off x="84772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请先完成周转箱校验，再进入Item作业。</a:t>
            </a:r>
            <a:endParaRPr lang="en-US" sz="1050" dirty="0"/>
          </a:p>
        </p:txBody>
      </p:sp>
      <p:pic>
        <p:nvPicPr>
          <p:cNvPr id="8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57688" y="5036344"/>
            <a:ext cx="419100" cy="419100"/>
          </a:xfrm>
          <a:prstGeom prst="rect">
            <a:avLst/>
          </a:prstGeom>
        </p:spPr>
      </p:pic>
      <p:sp>
        <p:nvSpPr>
          <p:cNvPr id="87" name="Text 74"/>
          <p:cNvSpPr/>
          <p:nvPr/>
        </p:nvSpPr>
        <p:spPr>
          <a:xfrm>
            <a:off x="3867150" y="5555266"/>
            <a:ext cx="143675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请先扫描周转箱</a:t>
            </a:r>
            <a:endParaRPr lang="en-US" sz="1575" dirty="0"/>
          </a:p>
        </p:txBody>
      </p:sp>
      <p:sp>
        <p:nvSpPr>
          <p:cNvPr id="88" name="Text 75"/>
          <p:cNvSpPr/>
          <p:nvPr/>
        </p:nvSpPr>
        <p:spPr>
          <a:xfrm>
            <a:off x="3219450" y="5950553"/>
            <a:ext cx="2732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周转箱通过WCS校验后，才能进入Item作业。</a:t>
            </a:r>
            <a:endParaRPr lang="en-US" sz="1050" dirty="0"/>
          </a:p>
        </p:txBody>
      </p:sp>
      <p:sp>
        <p:nvSpPr>
          <p:cNvPr id="89" name="Shape 7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90" name="Shape 7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Text 78"/>
          <p:cNvSpPr/>
          <p:nvPr/>
        </p:nvSpPr>
        <p:spPr>
          <a:xfrm>
            <a:off x="428625" y="7179725"/>
            <a:ext cx="11404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暂无可提交的Item</a:t>
            </a:r>
            <a:endParaRPr lang="en-US" sz="1050" dirty="0"/>
          </a:p>
        </p:txBody>
      </p:sp>
      <p:sp>
        <p:nvSpPr>
          <p:cNvPr id="92" name="Text 79"/>
          <p:cNvSpPr/>
          <p:nvPr/>
        </p:nvSpPr>
        <p:spPr>
          <a:xfrm>
            <a:off x="428625" y="7383470"/>
            <a:ext cx="1417106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请先完成识别与WCS校验。</a:t>
            </a:r>
            <a:endParaRPr lang="en-US" sz="900" dirty="0"/>
          </a:p>
        </p:txBody>
      </p:sp>
      <p:sp>
        <p:nvSpPr>
          <p:cNvPr id="93" name="Shape 8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94" name="Shape 8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95" name="Shape 8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96" name="Shape 8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97" name="Shape 8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98" name="Text 85"/>
          <p:cNvSpPr/>
          <p:nvPr/>
        </p:nvSpPr>
        <p:spPr>
          <a:xfrm>
            <a:off x="763905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99" name="Shape 8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8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1" name="Shape 8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2" name="Shape 8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06" name="Text 9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7" name="Text 9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08" name="Text 9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09" name="Shape 9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10" name="Shape 9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1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12" name="Text 98"/>
          <p:cNvSpPr/>
          <p:nvPr/>
        </p:nvSpPr>
        <p:spPr>
          <a:xfrm>
            <a:off x="9858375" y="3385947"/>
            <a:ext cx="232302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等待有效Item入场</a:t>
            </a:r>
            <a:endParaRPr lang="en-US" sz="2175" dirty="0"/>
          </a:p>
        </p:txBody>
      </p:sp>
      <p:sp>
        <p:nvSpPr>
          <p:cNvPr id="113" name="Text 99"/>
          <p:cNvSpPr/>
          <p:nvPr/>
        </p:nvSpPr>
        <p:spPr>
          <a:xfrm>
            <a:off x="9858375" y="3810702"/>
            <a:ext cx="2454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请先完成周转箱校验，再进入Item作业。</a:t>
            </a:r>
            <a:endParaRPr lang="en-US" sz="1050" dirty="0"/>
          </a:p>
        </p:txBody>
      </p:sp>
      <p:pic>
        <p:nvPicPr>
          <p:cNvPr id="11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368338" y="5036344"/>
            <a:ext cx="419100" cy="419100"/>
          </a:xfrm>
          <a:prstGeom prst="rect">
            <a:avLst/>
          </a:prstGeom>
        </p:spPr>
      </p:pic>
      <p:sp>
        <p:nvSpPr>
          <p:cNvPr id="115" name="Text 100"/>
          <p:cNvSpPr/>
          <p:nvPr/>
        </p:nvSpPr>
        <p:spPr>
          <a:xfrm>
            <a:off x="12877800" y="5555266"/>
            <a:ext cx="143675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请先扫描周转箱</a:t>
            </a:r>
            <a:endParaRPr lang="en-US" sz="1575" dirty="0"/>
          </a:p>
        </p:txBody>
      </p:sp>
      <p:sp>
        <p:nvSpPr>
          <p:cNvPr id="116" name="Text 101"/>
          <p:cNvSpPr/>
          <p:nvPr/>
        </p:nvSpPr>
        <p:spPr>
          <a:xfrm>
            <a:off x="12230100" y="5950553"/>
            <a:ext cx="273200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周转箱通过WCS校验后，才能进入Item作业。</a:t>
            </a:r>
            <a:endParaRPr lang="en-US" sz="1050" dirty="0"/>
          </a:p>
        </p:txBody>
      </p:sp>
      <p:sp>
        <p:nvSpPr>
          <p:cNvPr id="117" name="Shape 102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18" name="Shape 103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9" name="Text 104"/>
          <p:cNvSpPr/>
          <p:nvPr/>
        </p:nvSpPr>
        <p:spPr>
          <a:xfrm>
            <a:off x="9439275" y="7179725"/>
            <a:ext cx="11404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暂无可提交的Item</a:t>
            </a:r>
            <a:endParaRPr lang="en-US" sz="1050" dirty="0"/>
          </a:p>
        </p:txBody>
      </p:sp>
      <p:sp>
        <p:nvSpPr>
          <p:cNvPr id="120" name="Text 105"/>
          <p:cNvSpPr/>
          <p:nvPr/>
        </p:nvSpPr>
        <p:spPr>
          <a:xfrm>
            <a:off x="9439275" y="7383470"/>
            <a:ext cx="1417106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请先完成识别与WCS校验。</a:t>
            </a:r>
            <a:endParaRPr lang="en-US" sz="900" dirty="0"/>
          </a:p>
        </p:txBody>
      </p:sp>
      <p:sp>
        <p:nvSpPr>
          <p:cNvPr id="121" name="Shape 106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EDF0F3"/>
          </a:solidFill>
          <a:ln w="12700">
            <a:solidFill>
              <a:srgbClr val="EDF0F3">
                <a:alpha val="0"/>
              </a:srgbClr>
            </a:solidFill>
            <a:prstDash val="solid"/>
          </a:ln>
        </p:spPr>
      </p:sp>
      <p:sp>
        <p:nvSpPr>
          <p:cNvPr id="122" name="Shape 107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24" name="Shape 109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FE5EB"/>
          </a:solidFill>
          <a:ln w="12700">
            <a:solidFill>
              <a:srgbClr val="DFE5EB">
                <a:alpha val="0"/>
              </a:srgbClr>
            </a:solidFill>
            <a:prstDash val="solid"/>
          </a:ln>
        </p:spPr>
      </p:sp>
      <p:sp>
        <p:nvSpPr>
          <p:cNvPr id="126" name="Text 111"/>
          <p:cNvSpPr/>
          <p:nvPr/>
        </p:nvSpPr>
        <p:spPr>
          <a:xfrm>
            <a:off x="16649700" y="7241191"/>
            <a:ext cx="68427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7581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手动发车</a:t>
            </a:r>
            <a:endParaRPr lang="en-US" sz="1275" dirty="0"/>
          </a:p>
        </p:txBody>
      </p:sp>
      <p:sp>
        <p:nvSpPr>
          <p:cNvPr id="127" name="Shape 112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13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9" name="Shape 114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6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7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Text 118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34" name="Text 119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3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36" name="Text 120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4 条</a:t>
            </a:r>
            <a:endParaRPr lang="en-US" sz="975" dirty="0"/>
          </a:p>
        </p:txBody>
      </p:sp>
      <p:sp>
        <p:nvSpPr>
          <p:cNvPr id="137" name="Shape 121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38" name="Shape 122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9" name="Text 123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140" name="Shape 124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41" name="Shape 125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2" name="Text 126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143" name="Shape 127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44" name="Shape 128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5" name="Text 129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146" name="Shape 130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47" name="Shape 131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8" name="Text 132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149" name="Shape 133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50" name="Shape 134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Text 135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152" name="Shape 136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53" name="Shape 137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4" name="Text 138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155" name="Shape 139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56" name="Shape 140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7" name="Text 141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158" name="Shape 142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59" name="Text 143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160" name="Shape 144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1" name="Text 145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162" name="Shape 146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3" name="Text 147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164" name="Shape 148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5" name="Text 149"/>
          <p:cNvSpPr/>
          <p:nvPr/>
        </p:nvSpPr>
        <p:spPr>
          <a:xfrm>
            <a:off x="8212336" y="8789003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166" name="Shape 150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7" name="Text 151"/>
          <p:cNvSpPr/>
          <p:nvPr/>
        </p:nvSpPr>
        <p:spPr>
          <a:xfrm>
            <a:off x="12526268" y="8808053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168" name="Shape 152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9" name="Shape 153"/>
          <p:cNvSpPr/>
          <p:nvPr/>
        </p:nvSpPr>
        <p:spPr>
          <a:xfrm>
            <a:off x="12942094" y="8774906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170" name="Shape 154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171" name="Text 155"/>
          <p:cNvSpPr/>
          <p:nvPr/>
        </p:nvSpPr>
        <p:spPr>
          <a:xfrm>
            <a:off x="13142119" y="8798528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172" name="Shape 156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73" name="Text 157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174" name="Shape 158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75" name="Text 159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14:30:42</a:t>
            </a:r>
            <a:endParaRPr lang="en-US" sz="975" dirty="0"/>
          </a:p>
        </p:txBody>
      </p:sp>
      <p:sp>
        <p:nvSpPr>
          <p:cNvPr id="176" name="Shape 160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77" name="Text 161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178" name="Shape 162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79" name="Text 163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180" name="Shape 164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1" name="Text 165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182" name="Shape 166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3" name="Text 167"/>
          <p:cNvSpPr/>
          <p:nvPr/>
        </p:nvSpPr>
        <p:spPr>
          <a:xfrm>
            <a:off x="12600831" y="9236678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75" dirty="0"/>
          </a:p>
        </p:txBody>
      </p:sp>
      <p:sp>
        <p:nvSpPr>
          <p:cNvPr id="184" name="Shape 168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5" name="Shape 169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186" name="Shape 170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187" name="Text 171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188" name="Shape 172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9" name="Text 173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190" name="Text 174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191" name="Text 175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192" name="Text 176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193" name="Text 177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194" name="Shape 178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195" name="Text 179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196" name="Text 180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197" name="Shape 181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198" name="Shape 182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199" name="Shape 183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0" name="Shape 184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1" name="Shape 185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2" name="Text 186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 · 等待扫箱</a:t>
            </a:r>
            <a:endParaRPr lang="en-US" sz="900" dirty="0"/>
          </a:p>
        </p:txBody>
      </p:sp>
      <p:sp>
        <p:nvSpPr>
          <p:cNvPr id="203" name="Shape 187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04" name="Shape 188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5" name="Shape 189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6" name="Shape 190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7" name="Shape 191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08" name="Text 192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09" name="Shape 193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10" name="Shape 194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11" name="Shape 195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12" name="Shape 196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13" name="Shape 197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14" name="Text 198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15" name="Text 199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381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" y="204788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750" y="154591"/>
            <a:ext cx="1036701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供包工作台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781175" y="211741"/>
            <a:ext cx="90424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SPORTMASTER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2801243" y="185738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63168" y="209360"/>
            <a:ext cx="49541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305" y="211741"/>
            <a:ext cx="22916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1层</a:t>
            </a:r>
            <a:endParaRPr lang="en-US" sz="9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2768" y="204788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59468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作业记录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11968" y="204788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8668" y="204597"/>
            <a:ext cx="5759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 · 1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37121" y="204788"/>
            <a:ext cx="190500" cy="190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903821" y="204597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设备与设置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89671" y="204788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56371" y="20459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暂停入场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16104096" y="90488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6246971" y="157163"/>
            <a:ext cx="285750" cy="285750"/>
          </a:xfrm>
          <a:prstGeom prst="roundRect">
            <a:avLst>
              <a:gd name="adj" fmla="val 166667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6323171" y="204597"/>
            <a:ext cx="1699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5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6608921" y="204597"/>
            <a:ext cx="8965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 · 操作员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7668875" y="204597"/>
            <a:ext cx="3032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登出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609600"/>
            <a:ext cx="18288000" cy="40005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10001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47650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90525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06053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82452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425327" y="716566"/>
            <a:ext cx="3759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33" name="Text 25"/>
          <p:cNvSpPr/>
          <p:nvPr/>
        </p:nvSpPr>
        <p:spPr>
          <a:xfrm>
            <a:off x="1840855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355354" y="690563"/>
            <a:ext cx="9525" cy="2286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31579" y="77152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74454" y="716566"/>
            <a:ext cx="3041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3118247" y="716566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975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4646" y="709613"/>
            <a:ext cx="190500" cy="190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61346" y="716566"/>
            <a:ext cx="95886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· 可写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16300103" y="757047"/>
            <a:ext cx="177682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模拟快照 · 最后更新 14:32:08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1009650"/>
            <a:ext cx="1828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0" y="1990725"/>
            <a:ext cx="182880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47650" y="1231362"/>
            <a:ext cx="7033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当前周转箱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28700" y="1186309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50" y="1293465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257300" y="1238506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已校验</a:t>
            </a:r>
            <a:endParaRPr lang="en-US" sz="975" dirty="0"/>
          </a:p>
        </p:txBody>
      </p:sp>
      <p:sp>
        <p:nvSpPr>
          <p:cNvPr id="47" name="Text 38"/>
          <p:cNvSpPr/>
          <p:nvPr/>
        </p:nvSpPr>
        <p:spPr>
          <a:xfrm>
            <a:off x="247650" y="1500443"/>
            <a:ext cx="18257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TC-2026-0091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3276600" y="1285875"/>
            <a:ext cx="9525" cy="4286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552825" y="1290447"/>
            <a:ext cx="59989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所属波次 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4116139" y="1299972"/>
            <a:ext cx="81703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WCS已校验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3552825" y="1490472"/>
            <a:ext cx="19863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15390168" y="1238059"/>
            <a:ext cx="1010358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本箱 WCS已接受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5829211" y="1438084"/>
            <a:ext cx="380667" cy="35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250" dirty="0"/>
          </a:p>
        </p:txBody>
      </p:sp>
      <p:sp>
        <p:nvSpPr>
          <p:cNvPr id="54" name="Text 45"/>
          <p:cNvSpPr/>
          <p:nvPr/>
        </p:nvSpPr>
        <p:spPr>
          <a:xfrm>
            <a:off x="16239976" y="15619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55" name="Shape 46"/>
          <p:cNvSpPr/>
          <p:nvPr/>
        </p:nvSpPr>
        <p:spPr>
          <a:xfrm>
            <a:off x="16725900" y="1271588"/>
            <a:ext cx="13144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16725900" y="1271588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725900" y="1719263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6725900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18030825" y="1271588"/>
            <a:ext cx="9525" cy="4572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44826" y="1404938"/>
            <a:ext cx="190500" cy="19050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7211526" y="1390460"/>
            <a:ext cx="6463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结束供包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228600" y="2114550"/>
            <a:ext cx="17830800" cy="438150"/>
          </a:xfrm>
          <a:prstGeom prst="rect">
            <a:avLst/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28600" y="2114550"/>
            <a:ext cx="28575" cy="438150"/>
          </a:xfrm>
          <a:prstGeom prst="rect">
            <a:avLst/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575" y="2238375"/>
            <a:ext cx="190500" cy="1905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14375" y="2223897"/>
            <a:ext cx="10637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CAM1业务拦截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1855887" y="2252472"/>
            <a:ext cx="338833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5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按右通道原因处理当前Item；不得跳过校验或反复发车。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6365587" y="2245328"/>
            <a:ext cx="157798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共享箱 · 左右通道独立显示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22860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22860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22860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22860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903922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23812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862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50482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6" name="Text 65"/>
          <p:cNvSpPr/>
          <p:nvPr/>
        </p:nvSpPr>
        <p:spPr>
          <a:xfrm>
            <a:off x="87883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 · 左通道</a:t>
            </a:r>
            <a:endParaRPr lang="en-US" sz="1350" dirty="0"/>
          </a:p>
        </p:txBody>
      </p:sp>
      <p:sp>
        <p:nvSpPr>
          <p:cNvPr id="77" name="Text 66"/>
          <p:cNvSpPr/>
          <p:nvPr/>
        </p:nvSpPr>
        <p:spPr>
          <a:xfrm>
            <a:off x="754007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238125" y="3228975"/>
            <a:ext cx="8801100" cy="102870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23812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3448050"/>
            <a:ext cx="285750" cy="28575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4772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2175" dirty="0"/>
          </a:p>
        </p:txBody>
      </p:sp>
      <p:sp>
        <p:nvSpPr>
          <p:cNvPr id="82" name="Text 70"/>
          <p:cNvSpPr/>
          <p:nvPr/>
        </p:nvSpPr>
        <p:spPr>
          <a:xfrm>
            <a:off x="847725" y="3810702"/>
            <a:ext cx="25702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仅表示业务接受；实体离站尚无可靠反馈。</a:t>
            </a:r>
            <a:endParaRPr lang="en-US" sz="1050" dirty="0"/>
          </a:p>
        </p:txBody>
      </p:sp>
      <p:sp>
        <p:nvSpPr>
          <p:cNvPr id="83" name="Text 71"/>
          <p:cNvSpPr/>
          <p:nvPr/>
        </p:nvSpPr>
        <p:spPr>
          <a:xfrm>
            <a:off x="8527554" y="3395472"/>
            <a:ext cx="357747" cy="33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100" dirty="0"/>
          </a:p>
        </p:txBody>
      </p:sp>
      <p:sp>
        <p:nvSpPr>
          <p:cNvPr id="84" name="Text 72"/>
          <p:cNvSpPr/>
          <p:nvPr/>
        </p:nvSpPr>
        <p:spPr>
          <a:xfrm>
            <a:off x="8172152" y="375742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85" name="Text 73"/>
          <p:cNvSpPr/>
          <p:nvPr/>
        </p:nvSpPr>
        <p:spPr>
          <a:xfrm>
            <a:off x="42862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86" name="Text 74"/>
          <p:cNvSpPr/>
          <p:nvPr/>
        </p:nvSpPr>
        <p:spPr>
          <a:xfrm>
            <a:off x="700980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CAM0 · 14:31:58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42862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2025" dirty="0"/>
          </a:p>
        </p:txBody>
      </p:sp>
      <p:sp>
        <p:nvSpPr>
          <p:cNvPr id="88" name="Shape 76"/>
          <p:cNvSpPr/>
          <p:nvPr/>
        </p:nvSpPr>
        <p:spPr>
          <a:xfrm>
            <a:off x="828675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828675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828675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28675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9632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01050" y="4588669"/>
            <a:ext cx="190500" cy="190500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42862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95" name="Text 82"/>
          <p:cNvSpPr/>
          <p:nvPr/>
        </p:nvSpPr>
        <p:spPr>
          <a:xfrm>
            <a:off x="42862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WMS-K29401</a:t>
            </a:r>
            <a:endParaRPr lang="en-US" sz="1200" dirty="0"/>
          </a:p>
        </p:txBody>
      </p:sp>
      <p:sp>
        <p:nvSpPr>
          <p:cNvPr id="96" name="Text 83"/>
          <p:cNvSpPr/>
          <p:nvPr/>
        </p:nvSpPr>
        <p:spPr>
          <a:xfrm>
            <a:off x="360045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3600450" y="5343335"/>
            <a:ext cx="1045928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12345500988</a:t>
            </a:r>
            <a:endParaRPr lang="en-US" sz="1200" dirty="0"/>
          </a:p>
        </p:txBody>
      </p:sp>
      <p:sp>
        <p:nvSpPr>
          <p:cNvPr id="98" name="Text 85"/>
          <p:cNvSpPr/>
          <p:nvPr/>
        </p:nvSpPr>
        <p:spPr>
          <a:xfrm>
            <a:off x="677227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99" name="Text 86"/>
          <p:cNvSpPr/>
          <p:nvPr/>
        </p:nvSpPr>
        <p:spPr>
          <a:xfrm>
            <a:off x="6772275" y="5276660"/>
            <a:ext cx="483953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029</a:t>
            </a:r>
            <a:endParaRPr lang="en-US" sz="1950" dirty="0"/>
          </a:p>
        </p:txBody>
      </p:sp>
      <p:sp>
        <p:nvSpPr>
          <p:cNvPr id="100" name="Text 87"/>
          <p:cNvSpPr/>
          <p:nvPr/>
        </p:nvSpPr>
        <p:spPr>
          <a:xfrm>
            <a:off x="42862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01" name="Text 88"/>
          <p:cNvSpPr/>
          <p:nvPr/>
        </p:nvSpPr>
        <p:spPr>
          <a:xfrm>
            <a:off x="124420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42862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42862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42862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4286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6" name="Shape 93"/>
          <p:cNvSpPr/>
          <p:nvPr/>
        </p:nvSpPr>
        <p:spPr>
          <a:xfrm>
            <a:off x="869632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7" name="Shape 94"/>
          <p:cNvSpPr/>
          <p:nvPr/>
        </p:nvSpPr>
        <p:spPr>
          <a:xfrm>
            <a:off x="318135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59055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09" name="Text 96"/>
          <p:cNvSpPr/>
          <p:nvPr/>
        </p:nvSpPr>
        <p:spPr>
          <a:xfrm>
            <a:off x="59055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0" name="Text 97"/>
          <p:cNvSpPr/>
          <p:nvPr/>
        </p:nvSpPr>
        <p:spPr>
          <a:xfrm>
            <a:off x="10127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1" name="Shape 98"/>
          <p:cNvSpPr/>
          <p:nvPr/>
        </p:nvSpPr>
        <p:spPr>
          <a:xfrm>
            <a:off x="593407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12" name="Text 99"/>
          <p:cNvSpPr/>
          <p:nvPr/>
        </p:nvSpPr>
        <p:spPr>
          <a:xfrm>
            <a:off x="334327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13" name="Text 100"/>
          <p:cNvSpPr/>
          <p:nvPr/>
        </p:nvSpPr>
        <p:spPr>
          <a:xfrm>
            <a:off x="3343275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4" name="Text 101"/>
          <p:cNvSpPr/>
          <p:nvPr/>
        </p:nvSpPr>
        <p:spPr>
          <a:xfrm>
            <a:off x="376550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5" name="Shape 102"/>
          <p:cNvSpPr/>
          <p:nvPr/>
        </p:nvSpPr>
        <p:spPr>
          <a:xfrm>
            <a:off x="5943600" y="5929313"/>
            <a:ext cx="2752725" cy="773311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09600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17" name="Text 104"/>
          <p:cNvSpPr/>
          <p:nvPr/>
        </p:nvSpPr>
        <p:spPr>
          <a:xfrm>
            <a:off x="6096000" y="6267260"/>
            <a:ext cx="3921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325" dirty="0"/>
          </a:p>
        </p:txBody>
      </p:sp>
      <p:sp>
        <p:nvSpPr>
          <p:cNvPr id="118" name="Text 105"/>
          <p:cNvSpPr/>
          <p:nvPr/>
        </p:nvSpPr>
        <p:spPr>
          <a:xfrm>
            <a:off x="65182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19" name="Shape 106"/>
          <p:cNvSpPr/>
          <p:nvPr/>
        </p:nvSpPr>
        <p:spPr>
          <a:xfrm>
            <a:off x="23812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3812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428625" y="7179725"/>
            <a:ext cx="97002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当前作业已接受</a:t>
            </a:r>
            <a:endParaRPr lang="en-US" sz="1050" dirty="0"/>
          </a:p>
        </p:txBody>
      </p:sp>
      <p:sp>
        <p:nvSpPr>
          <p:cNvPr id="122" name="Text 109"/>
          <p:cNvSpPr/>
          <p:nvPr/>
        </p:nvSpPr>
        <p:spPr>
          <a:xfrm>
            <a:off x="428625" y="7383470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等待现场复位；本次不可再次发车。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07707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07707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707707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707707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7" name="Shape 114"/>
          <p:cNvSpPr/>
          <p:nvPr/>
        </p:nvSpPr>
        <p:spPr>
          <a:xfrm>
            <a:off x="883920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28" name="Text 115"/>
          <p:cNvSpPr/>
          <p:nvPr/>
        </p:nvSpPr>
        <p:spPr>
          <a:xfrm>
            <a:off x="747712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查看作业详情</a:t>
            </a:r>
            <a:endParaRPr lang="en-US" sz="1275" dirty="0"/>
          </a:p>
        </p:txBody>
      </p:sp>
      <p:sp>
        <p:nvSpPr>
          <p:cNvPr id="129" name="Shape 116"/>
          <p:cNvSpPr/>
          <p:nvPr/>
        </p:nvSpPr>
        <p:spPr>
          <a:xfrm>
            <a:off x="9239250" y="2705100"/>
            <a:ext cx="8820150" cy="5086350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7"/>
          <p:cNvSpPr/>
          <p:nvPr/>
        </p:nvSpPr>
        <p:spPr>
          <a:xfrm>
            <a:off x="9239250" y="2705100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1" name="Shape 118"/>
          <p:cNvSpPr/>
          <p:nvPr/>
        </p:nvSpPr>
        <p:spPr>
          <a:xfrm>
            <a:off x="9239250" y="7781925"/>
            <a:ext cx="88201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2" name="Shape 119"/>
          <p:cNvSpPr/>
          <p:nvPr/>
        </p:nvSpPr>
        <p:spPr>
          <a:xfrm>
            <a:off x="9239250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3" name="Shape 120"/>
          <p:cNvSpPr/>
          <p:nvPr/>
        </p:nvSpPr>
        <p:spPr>
          <a:xfrm>
            <a:off x="18049875" y="2705100"/>
            <a:ext cx="9525" cy="50863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4" name="Shape 121"/>
          <p:cNvSpPr/>
          <p:nvPr/>
        </p:nvSpPr>
        <p:spPr>
          <a:xfrm>
            <a:off x="9248775" y="32194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9439275" y="2828925"/>
            <a:ext cx="335905" cy="276225"/>
          </a:xfrm>
          <a:prstGeom prst="roundRect">
            <a:avLst>
              <a:gd name="adj" fmla="val 17241"/>
            </a:avLst>
          </a:prstGeom>
          <a:solidFill>
            <a:srgbClr val="EDF1F5"/>
          </a:solidFill>
          <a:ln w="12700">
            <a:solidFill>
              <a:srgbClr val="EDF1F5">
                <a:alpha val="0"/>
              </a:srgbClr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9515475" y="2881122"/>
            <a:ext cx="22008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7" name="Text 124"/>
          <p:cNvSpPr/>
          <p:nvPr/>
        </p:nvSpPr>
        <p:spPr>
          <a:xfrm>
            <a:off x="9889480" y="2843022"/>
            <a:ext cx="12700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 · 右通道</a:t>
            </a:r>
            <a:endParaRPr lang="en-US" sz="1350" dirty="0"/>
          </a:p>
        </p:txBody>
      </p:sp>
      <p:sp>
        <p:nvSpPr>
          <p:cNvPr id="138" name="Text 125"/>
          <p:cNvSpPr/>
          <p:nvPr/>
        </p:nvSpPr>
        <p:spPr>
          <a:xfrm>
            <a:off x="16550729" y="2885885"/>
            <a:ext cx="1345222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相机自动识别 · 只读结果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9248775" y="3228975"/>
            <a:ext cx="8801100" cy="1028700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140" name="Shape 127"/>
          <p:cNvSpPr/>
          <p:nvPr/>
        </p:nvSpPr>
        <p:spPr>
          <a:xfrm>
            <a:off x="9248775" y="4248150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39275" y="3448050"/>
            <a:ext cx="285750" cy="285750"/>
          </a:xfrm>
          <a:prstGeom prst="rect">
            <a:avLst/>
          </a:prstGeom>
        </p:spPr>
      </p:pic>
      <p:sp>
        <p:nvSpPr>
          <p:cNvPr id="142" name="Text 128"/>
          <p:cNvSpPr/>
          <p:nvPr/>
        </p:nvSpPr>
        <p:spPr>
          <a:xfrm>
            <a:off x="9858375" y="3385947"/>
            <a:ext cx="1462201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WCS已拒绝</a:t>
            </a:r>
            <a:endParaRPr lang="en-US" sz="2175" dirty="0"/>
          </a:p>
        </p:txBody>
      </p:sp>
      <p:sp>
        <p:nvSpPr>
          <p:cNvPr id="143" name="Text 129"/>
          <p:cNvSpPr/>
          <p:nvPr/>
        </p:nvSpPr>
        <p:spPr>
          <a:xfrm>
            <a:off x="9858375" y="3810702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目标格口禁用</a:t>
            </a:r>
            <a:endParaRPr lang="en-US" sz="1050" dirty="0"/>
          </a:p>
        </p:txBody>
      </p:sp>
      <p:sp>
        <p:nvSpPr>
          <p:cNvPr id="144" name="Text 130"/>
          <p:cNvSpPr/>
          <p:nvPr/>
        </p:nvSpPr>
        <p:spPr>
          <a:xfrm>
            <a:off x="9439275" y="4395597"/>
            <a:ext cx="5879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1050" dirty="0"/>
          </a:p>
        </p:txBody>
      </p:sp>
      <p:sp>
        <p:nvSpPr>
          <p:cNvPr id="145" name="Text 131"/>
          <p:cNvSpPr/>
          <p:nvPr/>
        </p:nvSpPr>
        <p:spPr>
          <a:xfrm>
            <a:off x="16020455" y="4409885"/>
            <a:ext cx="11992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CAM1 · 14:32:05</a:t>
            </a:r>
            <a:endParaRPr lang="en-US" sz="900" dirty="0"/>
          </a:p>
        </p:txBody>
      </p:sp>
      <p:sp>
        <p:nvSpPr>
          <p:cNvPr id="146" name="Text 132"/>
          <p:cNvSpPr/>
          <p:nvPr/>
        </p:nvSpPr>
        <p:spPr>
          <a:xfrm>
            <a:off x="9439275" y="4633722"/>
            <a:ext cx="2270933" cy="31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2025" dirty="0"/>
          </a:p>
        </p:txBody>
      </p:sp>
      <p:sp>
        <p:nvSpPr>
          <p:cNvPr id="147" name="Shape 133"/>
          <p:cNvSpPr/>
          <p:nvPr/>
        </p:nvSpPr>
        <p:spPr>
          <a:xfrm>
            <a:off x="17297400" y="4474369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17297400" y="4474369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17297400" y="4883944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17297400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17706975" y="4474369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1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11700" y="4588669"/>
            <a:ext cx="190500" cy="190500"/>
          </a:xfrm>
          <a:prstGeom prst="rect">
            <a:avLst/>
          </a:prstGeom>
        </p:spPr>
      </p:pic>
      <p:sp>
        <p:nvSpPr>
          <p:cNvPr id="153" name="Text 138"/>
          <p:cNvSpPr/>
          <p:nvPr/>
        </p:nvSpPr>
        <p:spPr>
          <a:xfrm>
            <a:off x="9439275" y="5076635"/>
            <a:ext cx="29643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1050" dirty="0"/>
          </a:p>
        </p:txBody>
      </p:sp>
      <p:sp>
        <p:nvSpPr>
          <p:cNvPr id="154" name="Text 139"/>
          <p:cNvSpPr/>
          <p:nvPr/>
        </p:nvSpPr>
        <p:spPr>
          <a:xfrm>
            <a:off x="9439275" y="5343335"/>
            <a:ext cx="954101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WMS-B04510</a:t>
            </a:r>
            <a:endParaRPr lang="en-US" sz="1200" dirty="0"/>
          </a:p>
        </p:txBody>
      </p:sp>
      <p:sp>
        <p:nvSpPr>
          <p:cNvPr id="155" name="Text 140"/>
          <p:cNvSpPr/>
          <p:nvPr/>
        </p:nvSpPr>
        <p:spPr>
          <a:xfrm>
            <a:off x="12611100" y="5076635"/>
            <a:ext cx="7007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分拨任务ID</a:t>
            </a:r>
            <a:endParaRPr lang="en-US" sz="1050" dirty="0"/>
          </a:p>
        </p:txBody>
      </p:sp>
      <p:sp>
        <p:nvSpPr>
          <p:cNvPr id="156" name="Text 141"/>
          <p:cNvSpPr/>
          <p:nvPr/>
        </p:nvSpPr>
        <p:spPr>
          <a:xfrm>
            <a:off x="12611100" y="5343335"/>
            <a:ext cx="12840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57" name="Text 142"/>
          <p:cNvSpPr/>
          <p:nvPr/>
        </p:nvSpPr>
        <p:spPr>
          <a:xfrm>
            <a:off x="15782925" y="5076635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1050" dirty="0"/>
          </a:p>
        </p:txBody>
      </p:sp>
      <p:sp>
        <p:nvSpPr>
          <p:cNvPr id="158" name="Text 143"/>
          <p:cNvSpPr/>
          <p:nvPr/>
        </p:nvSpPr>
        <p:spPr>
          <a:xfrm>
            <a:off x="15782925" y="5276660"/>
            <a:ext cx="18570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5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50" dirty="0"/>
          </a:p>
        </p:txBody>
      </p:sp>
      <p:sp>
        <p:nvSpPr>
          <p:cNvPr id="159" name="Text 144"/>
          <p:cNvSpPr/>
          <p:nvPr/>
        </p:nvSpPr>
        <p:spPr>
          <a:xfrm>
            <a:off x="9439275" y="5657660"/>
            <a:ext cx="7378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Item关联波次</a:t>
            </a:r>
            <a:endParaRPr lang="en-US" sz="900" dirty="0"/>
          </a:p>
        </p:txBody>
      </p:sp>
      <p:sp>
        <p:nvSpPr>
          <p:cNvPr id="160" name="Text 145"/>
          <p:cNvSpPr/>
          <p:nvPr/>
        </p:nvSpPr>
        <p:spPr>
          <a:xfrm>
            <a:off x="10254853" y="5676710"/>
            <a:ext cx="12065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CNESP182301123400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9439275" y="5919788"/>
            <a:ext cx="8277225" cy="792361"/>
          </a:xfrm>
          <a:prstGeom prst="roundRect">
            <a:avLst>
              <a:gd name="adj" fmla="val 9617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439275" y="5919788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9439275" y="6702623"/>
            <a:ext cx="8277225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94392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17706975" y="5919788"/>
            <a:ext cx="9525" cy="79236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12192000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9601200" y="6019610"/>
            <a:ext cx="9631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包装内SKU数量</a:t>
            </a:r>
            <a:endParaRPr lang="en-US" sz="1050" dirty="0"/>
          </a:p>
        </p:txBody>
      </p:sp>
      <p:sp>
        <p:nvSpPr>
          <p:cNvPr id="168" name="Text 153"/>
          <p:cNvSpPr/>
          <p:nvPr/>
        </p:nvSpPr>
        <p:spPr>
          <a:xfrm>
            <a:off x="9601200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69" name="Text 154"/>
          <p:cNvSpPr/>
          <p:nvPr/>
        </p:nvSpPr>
        <p:spPr>
          <a:xfrm>
            <a:off x="984572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14944725" y="5929313"/>
            <a:ext cx="9525" cy="77331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12353925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剩余需求数量</a:t>
            </a:r>
            <a:endParaRPr lang="en-US" sz="1050" dirty="0"/>
          </a:p>
        </p:txBody>
      </p:sp>
      <p:sp>
        <p:nvSpPr>
          <p:cNvPr id="172" name="Text 157"/>
          <p:cNvSpPr/>
          <p:nvPr/>
        </p:nvSpPr>
        <p:spPr>
          <a:xfrm>
            <a:off x="12353925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73" name="Text 158"/>
          <p:cNvSpPr/>
          <p:nvPr/>
        </p:nvSpPr>
        <p:spPr>
          <a:xfrm>
            <a:off x="12598450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4" name="Text 159"/>
          <p:cNvSpPr/>
          <p:nvPr/>
        </p:nvSpPr>
        <p:spPr>
          <a:xfrm>
            <a:off x="15106650" y="60196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本次供给数量</a:t>
            </a:r>
            <a:endParaRPr lang="en-US" sz="1050" dirty="0"/>
          </a:p>
        </p:txBody>
      </p:sp>
      <p:sp>
        <p:nvSpPr>
          <p:cNvPr id="175" name="Text 160"/>
          <p:cNvSpPr/>
          <p:nvPr/>
        </p:nvSpPr>
        <p:spPr>
          <a:xfrm>
            <a:off x="15106650" y="6267260"/>
            <a:ext cx="21442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25" b="1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325" dirty="0"/>
          </a:p>
        </p:txBody>
      </p:sp>
      <p:sp>
        <p:nvSpPr>
          <p:cNvPr id="176" name="Text 161"/>
          <p:cNvSpPr/>
          <p:nvPr/>
        </p:nvSpPr>
        <p:spPr>
          <a:xfrm>
            <a:off x="15351175" y="6400610"/>
            <a:ext cx="16055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975" dirty="0"/>
          </a:p>
        </p:txBody>
      </p:sp>
      <p:sp>
        <p:nvSpPr>
          <p:cNvPr id="177" name="Shape 162"/>
          <p:cNvSpPr/>
          <p:nvPr/>
        </p:nvSpPr>
        <p:spPr>
          <a:xfrm>
            <a:off x="9248775" y="6924675"/>
            <a:ext cx="8801100" cy="85725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78" name="Shape 163"/>
          <p:cNvSpPr/>
          <p:nvPr/>
        </p:nvSpPr>
        <p:spPr>
          <a:xfrm>
            <a:off x="9248775" y="6924675"/>
            <a:ext cx="8801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79" name="Text 164"/>
          <p:cNvSpPr/>
          <p:nvPr/>
        </p:nvSpPr>
        <p:spPr>
          <a:xfrm>
            <a:off x="9439275" y="7179725"/>
            <a:ext cx="13700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按原因纠正后重新识别</a:t>
            </a:r>
            <a:endParaRPr lang="en-US" sz="1050" dirty="0"/>
          </a:p>
        </p:txBody>
      </p:sp>
      <p:sp>
        <p:nvSpPr>
          <p:cNvPr id="180" name="Text 165"/>
          <p:cNvSpPr/>
          <p:nvPr/>
        </p:nvSpPr>
        <p:spPr>
          <a:xfrm>
            <a:off x="9439275" y="7383470"/>
            <a:ext cx="1636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不提供强制放行或无条件重试。</a:t>
            </a:r>
            <a:endParaRPr lang="en-US" sz="900" dirty="0"/>
          </a:p>
        </p:txBody>
      </p:sp>
      <p:sp>
        <p:nvSpPr>
          <p:cNvPr id="181" name="Shape 166"/>
          <p:cNvSpPr/>
          <p:nvPr/>
        </p:nvSpPr>
        <p:spPr>
          <a:xfrm>
            <a:off x="16087725" y="7110413"/>
            <a:ext cx="177165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16087725" y="7110413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16087725" y="7596187"/>
            <a:ext cx="17716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16087725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17849850" y="7110413"/>
            <a:ext cx="9525" cy="4953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6" name="Text 171"/>
          <p:cNvSpPr/>
          <p:nvPr/>
        </p:nvSpPr>
        <p:spPr>
          <a:xfrm>
            <a:off x="16487775" y="7241191"/>
            <a:ext cx="1008126" cy="2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查看拒绝详情</a:t>
            </a:r>
            <a:endParaRPr lang="en-US" sz="1275" dirty="0"/>
          </a:p>
        </p:txBody>
      </p:sp>
      <p:sp>
        <p:nvSpPr>
          <p:cNvPr id="187" name="Shape 172"/>
          <p:cNvSpPr/>
          <p:nvPr/>
        </p:nvSpPr>
        <p:spPr>
          <a:xfrm>
            <a:off x="228600" y="7905750"/>
            <a:ext cx="17830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73"/>
          <p:cNvSpPr/>
          <p:nvPr/>
        </p:nvSpPr>
        <p:spPr>
          <a:xfrm>
            <a:off x="228600" y="7905750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228600" y="9515475"/>
            <a:ext cx="178308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228600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18049875" y="7905750"/>
            <a:ext cx="9525" cy="161925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2" name="Shape 177"/>
          <p:cNvSpPr/>
          <p:nvPr/>
        </p:nvSpPr>
        <p:spPr>
          <a:xfrm>
            <a:off x="238125" y="8343900"/>
            <a:ext cx="17811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3" name="Text 178"/>
          <p:cNvSpPr/>
          <p:nvPr/>
        </p:nvSpPr>
        <p:spPr>
          <a:xfrm>
            <a:off x="371475" y="8034147"/>
            <a:ext cx="5699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最近作业</a:t>
            </a:r>
            <a:endParaRPr lang="en-US" sz="1050" dirty="0"/>
          </a:p>
        </p:txBody>
      </p:sp>
      <p:sp>
        <p:nvSpPr>
          <p:cNvPr id="194" name="Text 179"/>
          <p:cNvSpPr/>
          <p:nvPr/>
        </p:nvSpPr>
        <p:spPr>
          <a:xfrm>
            <a:off x="1019175" y="8048435"/>
            <a:ext cx="1865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一次作业一条记录；发送尝试见详情</a:t>
            </a:r>
            <a:endParaRPr lang="en-US" sz="900" dirty="0"/>
          </a:p>
        </p:txBody>
      </p:sp>
      <p:pic>
        <p:nvPicPr>
          <p:cNvPr id="19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96593" y="8034338"/>
            <a:ext cx="190500" cy="190500"/>
          </a:xfrm>
          <a:prstGeom prst="rect">
            <a:avLst/>
          </a:prstGeom>
        </p:spPr>
      </p:pic>
      <p:sp>
        <p:nvSpPr>
          <p:cNvPr id="196" name="Text 180"/>
          <p:cNvSpPr/>
          <p:nvPr/>
        </p:nvSpPr>
        <p:spPr>
          <a:xfrm>
            <a:off x="17063293" y="8041291"/>
            <a:ext cx="785033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查看全部 5 条</a:t>
            </a:r>
            <a:endParaRPr lang="en-US" sz="975" dirty="0"/>
          </a:p>
        </p:txBody>
      </p:sp>
      <p:sp>
        <p:nvSpPr>
          <p:cNvPr id="197" name="Shape 181"/>
          <p:cNvSpPr/>
          <p:nvPr/>
        </p:nvSpPr>
        <p:spPr>
          <a:xfrm>
            <a:off x="238125" y="8353425"/>
            <a:ext cx="244866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198" name="Shape 182"/>
          <p:cNvSpPr/>
          <p:nvPr/>
        </p:nvSpPr>
        <p:spPr>
          <a:xfrm>
            <a:off x="238125" y="8653463"/>
            <a:ext cx="244866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199" name="Text 183"/>
          <p:cNvSpPr/>
          <p:nvPr/>
        </p:nvSpPr>
        <p:spPr>
          <a:xfrm>
            <a:off x="371475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900" dirty="0"/>
          </a:p>
        </p:txBody>
      </p:sp>
      <p:sp>
        <p:nvSpPr>
          <p:cNvPr id="200" name="Shape 184"/>
          <p:cNvSpPr/>
          <p:nvPr/>
        </p:nvSpPr>
        <p:spPr>
          <a:xfrm>
            <a:off x="2686794" y="8353425"/>
            <a:ext cx="167476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1" name="Shape 185"/>
          <p:cNvSpPr/>
          <p:nvPr/>
        </p:nvSpPr>
        <p:spPr>
          <a:xfrm>
            <a:off x="2686794" y="8653463"/>
            <a:ext cx="167476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2" name="Text 186"/>
          <p:cNvSpPr/>
          <p:nvPr/>
        </p:nvSpPr>
        <p:spPr>
          <a:xfrm>
            <a:off x="2820144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</a:t>
            </a:r>
            <a:endParaRPr lang="en-US" sz="900" dirty="0"/>
          </a:p>
        </p:txBody>
      </p:sp>
      <p:sp>
        <p:nvSpPr>
          <p:cNvPr id="203" name="Shape 187"/>
          <p:cNvSpPr/>
          <p:nvPr/>
        </p:nvSpPr>
        <p:spPr>
          <a:xfrm>
            <a:off x="4361557" y="8353425"/>
            <a:ext cx="3717429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4" name="Shape 188"/>
          <p:cNvSpPr/>
          <p:nvPr/>
        </p:nvSpPr>
        <p:spPr>
          <a:xfrm>
            <a:off x="4361557" y="8653463"/>
            <a:ext cx="3717429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5" name="Text 189"/>
          <p:cNvSpPr/>
          <p:nvPr/>
        </p:nvSpPr>
        <p:spPr>
          <a:xfrm>
            <a:off x="4494907" y="8424672"/>
            <a:ext cx="509254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Item条码</a:t>
            </a:r>
            <a:endParaRPr lang="en-US" sz="900" dirty="0"/>
          </a:p>
        </p:txBody>
      </p:sp>
      <p:sp>
        <p:nvSpPr>
          <p:cNvPr id="206" name="Shape 190"/>
          <p:cNvSpPr/>
          <p:nvPr/>
        </p:nvSpPr>
        <p:spPr>
          <a:xfrm>
            <a:off x="8078986" y="8353425"/>
            <a:ext cx="2053977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07" name="Shape 191"/>
          <p:cNvSpPr/>
          <p:nvPr/>
        </p:nvSpPr>
        <p:spPr>
          <a:xfrm>
            <a:off x="8078986" y="8653463"/>
            <a:ext cx="2053977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08" name="Text 192"/>
          <p:cNvSpPr/>
          <p:nvPr/>
        </p:nvSpPr>
        <p:spPr>
          <a:xfrm>
            <a:off x="8212336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目标格口</a:t>
            </a:r>
            <a:endParaRPr lang="en-US" sz="900" dirty="0"/>
          </a:p>
        </p:txBody>
      </p:sp>
      <p:sp>
        <p:nvSpPr>
          <p:cNvPr id="209" name="Shape 193"/>
          <p:cNvSpPr/>
          <p:nvPr/>
        </p:nvSpPr>
        <p:spPr>
          <a:xfrm>
            <a:off x="10132963" y="8353425"/>
            <a:ext cx="2675781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0" name="Shape 194"/>
          <p:cNvSpPr/>
          <p:nvPr/>
        </p:nvSpPr>
        <p:spPr>
          <a:xfrm>
            <a:off x="10132963" y="8653463"/>
            <a:ext cx="2675781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1" name="Text 195"/>
          <p:cNvSpPr/>
          <p:nvPr/>
        </p:nvSpPr>
        <p:spPr>
          <a:xfrm>
            <a:off x="10266313" y="8424672"/>
            <a:ext cx="713149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WCS接受 / 件</a:t>
            </a:r>
            <a:endParaRPr lang="en-US" sz="900" dirty="0"/>
          </a:p>
        </p:txBody>
      </p:sp>
      <p:sp>
        <p:nvSpPr>
          <p:cNvPr id="212" name="Shape 196"/>
          <p:cNvSpPr/>
          <p:nvPr/>
        </p:nvSpPr>
        <p:spPr>
          <a:xfrm>
            <a:off x="12808744" y="8353425"/>
            <a:ext cx="3186708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3" name="Shape 197"/>
          <p:cNvSpPr/>
          <p:nvPr/>
        </p:nvSpPr>
        <p:spPr>
          <a:xfrm>
            <a:off x="12808744" y="8653463"/>
            <a:ext cx="3186708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4" name="Text 198"/>
          <p:cNvSpPr/>
          <p:nvPr/>
        </p:nvSpPr>
        <p:spPr>
          <a:xfrm>
            <a:off x="12942094" y="8424672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00" dirty="0"/>
          </a:p>
        </p:txBody>
      </p:sp>
      <p:sp>
        <p:nvSpPr>
          <p:cNvPr id="215" name="Shape 199"/>
          <p:cNvSpPr/>
          <p:nvPr/>
        </p:nvSpPr>
        <p:spPr>
          <a:xfrm>
            <a:off x="15995452" y="8353425"/>
            <a:ext cx="2054423" cy="309563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216" name="Shape 200"/>
          <p:cNvSpPr/>
          <p:nvPr/>
        </p:nvSpPr>
        <p:spPr>
          <a:xfrm>
            <a:off x="15995452" y="8653463"/>
            <a:ext cx="2054423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17" name="Text 201"/>
          <p:cNvSpPr/>
          <p:nvPr/>
        </p:nvSpPr>
        <p:spPr>
          <a:xfrm>
            <a:off x="16128802" y="8424672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900" dirty="0"/>
          </a:p>
        </p:txBody>
      </p:sp>
      <p:sp>
        <p:nvSpPr>
          <p:cNvPr id="218" name="Shape 202"/>
          <p:cNvSpPr/>
          <p:nvPr/>
        </p:nvSpPr>
        <p:spPr>
          <a:xfrm>
            <a:off x="238125" y="9082088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19" name="Text 203"/>
          <p:cNvSpPr/>
          <p:nvPr/>
        </p:nvSpPr>
        <p:spPr>
          <a:xfrm>
            <a:off x="371475" y="8808053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14:32:08</a:t>
            </a:r>
            <a:endParaRPr lang="en-US" sz="975" dirty="0"/>
          </a:p>
        </p:txBody>
      </p:sp>
      <p:sp>
        <p:nvSpPr>
          <p:cNvPr id="220" name="Shape 204"/>
          <p:cNvSpPr/>
          <p:nvPr/>
        </p:nvSpPr>
        <p:spPr>
          <a:xfrm>
            <a:off x="2686794" y="9082088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1" name="Text 205"/>
          <p:cNvSpPr/>
          <p:nvPr/>
        </p:nvSpPr>
        <p:spPr>
          <a:xfrm>
            <a:off x="2820144" y="8789003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</a:t>
            </a:r>
            <a:endParaRPr lang="en-US" sz="975" dirty="0"/>
          </a:p>
        </p:txBody>
      </p:sp>
      <p:sp>
        <p:nvSpPr>
          <p:cNvPr id="222" name="Shape 206"/>
          <p:cNvSpPr/>
          <p:nvPr/>
        </p:nvSpPr>
        <p:spPr>
          <a:xfrm>
            <a:off x="4361557" y="9082088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3" name="Text 207"/>
          <p:cNvSpPr/>
          <p:nvPr/>
        </p:nvSpPr>
        <p:spPr>
          <a:xfrm>
            <a:off x="4494907" y="8808053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06903114001254</a:t>
            </a:r>
            <a:endParaRPr lang="en-US" sz="975" dirty="0"/>
          </a:p>
        </p:txBody>
      </p:sp>
      <p:sp>
        <p:nvSpPr>
          <p:cNvPr id="224" name="Shape 208"/>
          <p:cNvSpPr/>
          <p:nvPr/>
        </p:nvSpPr>
        <p:spPr>
          <a:xfrm>
            <a:off x="8078986" y="9082088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5" name="Text 209"/>
          <p:cNvSpPr/>
          <p:nvPr/>
        </p:nvSpPr>
        <p:spPr>
          <a:xfrm>
            <a:off x="8212336" y="8789003"/>
            <a:ext cx="147304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75" dirty="0"/>
          </a:p>
        </p:txBody>
      </p:sp>
      <p:sp>
        <p:nvSpPr>
          <p:cNvPr id="226" name="Shape 210"/>
          <p:cNvSpPr/>
          <p:nvPr/>
        </p:nvSpPr>
        <p:spPr>
          <a:xfrm>
            <a:off x="10132963" y="9082088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7" name="Text 211"/>
          <p:cNvSpPr/>
          <p:nvPr/>
        </p:nvSpPr>
        <p:spPr>
          <a:xfrm>
            <a:off x="12600831" y="8808053"/>
            <a:ext cx="11113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75" dirty="0"/>
          </a:p>
        </p:txBody>
      </p:sp>
      <p:sp>
        <p:nvSpPr>
          <p:cNvPr id="228" name="Shape 212"/>
          <p:cNvSpPr/>
          <p:nvPr/>
        </p:nvSpPr>
        <p:spPr>
          <a:xfrm>
            <a:off x="12808744" y="9082088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9" name="Shape 213"/>
          <p:cNvSpPr/>
          <p:nvPr/>
        </p:nvSpPr>
        <p:spPr>
          <a:xfrm>
            <a:off x="12942094" y="8774906"/>
            <a:ext cx="609749" cy="209550"/>
          </a:xfrm>
          <a:prstGeom prst="roundRect">
            <a:avLst>
              <a:gd name="adj" fmla="val 22727"/>
            </a:avLst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230" name="Shape 214"/>
          <p:cNvSpPr/>
          <p:nvPr/>
        </p:nvSpPr>
        <p:spPr>
          <a:xfrm>
            <a:off x="13008769" y="8846344"/>
            <a:ext cx="66675" cy="66675"/>
          </a:xfrm>
          <a:prstGeom prst="roundRect">
            <a:avLst>
              <a:gd name="adj" fmla="val 714286"/>
            </a:avLst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231" name="Text 215"/>
          <p:cNvSpPr/>
          <p:nvPr/>
        </p:nvSpPr>
        <p:spPr>
          <a:xfrm>
            <a:off x="13142119" y="8798528"/>
            <a:ext cx="3796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已拒绝</a:t>
            </a:r>
            <a:endParaRPr lang="en-US" sz="900" dirty="0"/>
          </a:p>
        </p:txBody>
      </p:sp>
      <p:sp>
        <p:nvSpPr>
          <p:cNvPr id="232" name="Shape 216"/>
          <p:cNvSpPr/>
          <p:nvPr/>
        </p:nvSpPr>
        <p:spPr>
          <a:xfrm>
            <a:off x="15995452" y="9082088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3" name="Text 217"/>
          <p:cNvSpPr/>
          <p:nvPr/>
        </p:nvSpPr>
        <p:spPr>
          <a:xfrm>
            <a:off x="16233577" y="878900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34" name="Shape 218"/>
          <p:cNvSpPr/>
          <p:nvPr/>
        </p:nvSpPr>
        <p:spPr>
          <a:xfrm>
            <a:off x="238125" y="9510713"/>
            <a:ext cx="244866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5" name="Text 219"/>
          <p:cNvSpPr/>
          <p:nvPr/>
        </p:nvSpPr>
        <p:spPr>
          <a:xfrm>
            <a:off x="371475" y="9236678"/>
            <a:ext cx="633079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975" dirty="0"/>
          </a:p>
        </p:txBody>
      </p:sp>
      <p:sp>
        <p:nvSpPr>
          <p:cNvPr id="236" name="Shape 220"/>
          <p:cNvSpPr/>
          <p:nvPr/>
        </p:nvSpPr>
        <p:spPr>
          <a:xfrm>
            <a:off x="2686794" y="9510713"/>
            <a:ext cx="167476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7" name="Text 221"/>
          <p:cNvSpPr/>
          <p:nvPr/>
        </p:nvSpPr>
        <p:spPr>
          <a:xfrm>
            <a:off x="2820144" y="9217628"/>
            <a:ext cx="360277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CAM0</a:t>
            </a:r>
            <a:endParaRPr lang="en-US" sz="975" dirty="0"/>
          </a:p>
        </p:txBody>
      </p:sp>
      <p:sp>
        <p:nvSpPr>
          <p:cNvPr id="238" name="Shape 222"/>
          <p:cNvSpPr/>
          <p:nvPr/>
        </p:nvSpPr>
        <p:spPr>
          <a:xfrm>
            <a:off x="4361557" y="9510713"/>
            <a:ext cx="3717429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9" name="Text 223"/>
          <p:cNvSpPr/>
          <p:nvPr/>
        </p:nvSpPr>
        <p:spPr>
          <a:xfrm>
            <a:off x="4494907" y="9236678"/>
            <a:ext cx="108030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06901068034919</a:t>
            </a:r>
            <a:endParaRPr lang="en-US" sz="975" dirty="0"/>
          </a:p>
        </p:txBody>
      </p:sp>
      <p:sp>
        <p:nvSpPr>
          <p:cNvPr id="240" name="Shape 224"/>
          <p:cNvSpPr/>
          <p:nvPr/>
        </p:nvSpPr>
        <p:spPr>
          <a:xfrm>
            <a:off x="8078986" y="9510713"/>
            <a:ext cx="2053977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1" name="Text 225"/>
          <p:cNvSpPr/>
          <p:nvPr/>
        </p:nvSpPr>
        <p:spPr>
          <a:xfrm>
            <a:off x="8212336" y="9217628"/>
            <a:ext cx="24285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029</a:t>
            </a:r>
            <a:endParaRPr lang="en-US" sz="975" dirty="0"/>
          </a:p>
        </p:txBody>
      </p:sp>
      <p:sp>
        <p:nvSpPr>
          <p:cNvPr id="242" name="Shape 226"/>
          <p:cNvSpPr/>
          <p:nvPr/>
        </p:nvSpPr>
        <p:spPr>
          <a:xfrm>
            <a:off x="10132963" y="9510713"/>
            <a:ext cx="2675781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3" name="Text 227"/>
          <p:cNvSpPr/>
          <p:nvPr/>
        </p:nvSpPr>
        <p:spPr>
          <a:xfrm>
            <a:off x="12526268" y="9236678"/>
            <a:ext cx="18570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1927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75" dirty="0"/>
          </a:p>
        </p:txBody>
      </p:sp>
      <p:sp>
        <p:nvSpPr>
          <p:cNvPr id="244" name="Shape 228"/>
          <p:cNvSpPr/>
          <p:nvPr/>
        </p:nvSpPr>
        <p:spPr>
          <a:xfrm>
            <a:off x="12808744" y="9510713"/>
            <a:ext cx="3186708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5" name="Shape 229"/>
          <p:cNvSpPr/>
          <p:nvPr/>
        </p:nvSpPr>
        <p:spPr>
          <a:xfrm>
            <a:off x="12942094" y="9203531"/>
            <a:ext cx="856655" cy="209550"/>
          </a:xfrm>
          <a:prstGeom prst="roundRect">
            <a:avLst>
              <a:gd name="adj" fmla="val 22727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246" name="Shape 230"/>
          <p:cNvSpPr/>
          <p:nvPr/>
        </p:nvSpPr>
        <p:spPr>
          <a:xfrm>
            <a:off x="13008769" y="9274969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247" name="Text 231"/>
          <p:cNvSpPr/>
          <p:nvPr/>
        </p:nvSpPr>
        <p:spPr>
          <a:xfrm>
            <a:off x="13142119" y="9227153"/>
            <a:ext cx="62653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WCS已接受</a:t>
            </a:r>
            <a:endParaRPr lang="en-US" sz="900" dirty="0"/>
          </a:p>
        </p:txBody>
      </p:sp>
      <p:sp>
        <p:nvSpPr>
          <p:cNvPr id="248" name="Shape 232"/>
          <p:cNvSpPr/>
          <p:nvPr/>
        </p:nvSpPr>
        <p:spPr>
          <a:xfrm>
            <a:off x="15995452" y="9510713"/>
            <a:ext cx="2054423" cy="9525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49" name="Text 233"/>
          <p:cNvSpPr/>
          <p:nvPr/>
        </p:nvSpPr>
        <p:spPr>
          <a:xfrm>
            <a:off x="16233577" y="9217628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975" dirty="0"/>
          </a:p>
        </p:txBody>
      </p:sp>
      <p:sp>
        <p:nvSpPr>
          <p:cNvPr id="250" name="Text 234"/>
          <p:cNvSpPr/>
          <p:nvPr/>
        </p:nvSpPr>
        <p:spPr>
          <a:xfrm>
            <a:off x="247650" y="9660541"/>
            <a:ext cx="82819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明细保留：3个月</a:t>
            </a:r>
            <a:endParaRPr lang="en-US" sz="825" dirty="0"/>
          </a:p>
        </p:txBody>
      </p:sp>
      <p:sp>
        <p:nvSpPr>
          <p:cNvPr id="251" name="Text 235"/>
          <p:cNvSpPr/>
          <p:nvPr/>
        </p:nvSpPr>
        <p:spPr>
          <a:xfrm>
            <a:off x="1210717" y="9660541"/>
            <a:ext cx="77000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图片存储：关闭</a:t>
            </a:r>
            <a:endParaRPr lang="en-US" sz="825" dirty="0"/>
          </a:p>
        </p:txBody>
      </p:sp>
      <p:sp>
        <p:nvSpPr>
          <p:cNvPr id="252" name="Text 236"/>
          <p:cNvSpPr/>
          <p:nvPr/>
        </p:nvSpPr>
        <p:spPr>
          <a:xfrm>
            <a:off x="2115592" y="9660541"/>
            <a:ext cx="7469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当前未决：0 项</a:t>
            </a:r>
            <a:endParaRPr lang="en-US" sz="825" dirty="0"/>
          </a:p>
        </p:txBody>
      </p:sp>
      <p:sp>
        <p:nvSpPr>
          <p:cNvPr id="253" name="Text 237"/>
          <p:cNvSpPr/>
          <p:nvPr/>
        </p:nvSpPr>
        <p:spPr>
          <a:xfrm>
            <a:off x="15683359" y="9660541"/>
            <a:ext cx="239356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2026-10-15 14:32:08 · 演示 UTC+08:00 · UI v1.1</a:t>
            </a:r>
            <a:endParaRPr lang="en-US" sz="825" dirty="0"/>
          </a:p>
        </p:txBody>
      </p:sp>
      <p:sp>
        <p:nvSpPr>
          <p:cNvPr id="254" name="Shape 238"/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F3043"/>
          </a:solidFill>
          <a:ln w="12700">
            <a:solidFill>
              <a:srgbClr val="1F3043">
                <a:alpha val="0"/>
              </a:srgbClr>
            </a:solidFill>
            <a:prstDash val="solid"/>
          </a:ln>
        </p:spPr>
      </p:sp>
      <p:sp>
        <p:nvSpPr>
          <p:cNvPr id="255" name="Text 239"/>
          <p:cNvSpPr/>
          <p:nvPr/>
        </p:nvSpPr>
        <p:spPr>
          <a:xfrm>
            <a:off x="228600" y="9996297"/>
            <a:ext cx="634121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▷ 交互评审</a:t>
            </a:r>
            <a:endParaRPr lang="en-US" sz="900" dirty="0"/>
          </a:p>
        </p:txBody>
      </p:sp>
      <p:sp>
        <p:nvSpPr>
          <p:cNvPr id="256" name="Text 240"/>
          <p:cNvSpPr/>
          <p:nvPr/>
        </p:nvSpPr>
        <p:spPr>
          <a:xfrm>
            <a:off x="940445" y="9996297"/>
            <a:ext cx="2653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900" dirty="0"/>
          </a:p>
        </p:txBody>
      </p:sp>
      <p:sp>
        <p:nvSpPr>
          <p:cNvPr id="257" name="Shape 241"/>
          <p:cNvSpPr/>
          <p:nvPr/>
        </p:nvSpPr>
        <p:spPr>
          <a:xfrm>
            <a:off x="1283494" y="9925050"/>
            <a:ext cx="2324100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58" name="Shape 242"/>
          <p:cNvSpPr/>
          <p:nvPr/>
        </p:nvSpPr>
        <p:spPr>
          <a:xfrm>
            <a:off x="1283494" y="9925050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59" name="Shape 243"/>
          <p:cNvSpPr/>
          <p:nvPr/>
        </p:nvSpPr>
        <p:spPr>
          <a:xfrm>
            <a:off x="1283494" y="10220325"/>
            <a:ext cx="2324100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0" name="Shape 244"/>
          <p:cNvSpPr/>
          <p:nvPr/>
        </p:nvSpPr>
        <p:spPr>
          <a:xfrm>
            <a:off x="12834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1" name="Shape 245"/>
          <p:cNvSpPr/>
          <p:nvPr/>
        </p:nvSpPr>
        <p:spPr>
          <a:xfrm>
            <a:off x="3598069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2" name="Text 246"/>
          <p:cNvSpPr/>
          <p:nvPr/>
        </p:nvSpPr>
        <p:spPr>
          <a:xfrm>
            <a:off x="1397794" y="10007727"/>
            <a:ext cx="2151126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报警与处置</a:t>
            </a:r>
            <a:endParaRPr lang="en-US" sz="900" dirty="0"/>
          </a:p>
        </p:txBody>
      </p:sp>
      <p:sp>
        <p:nvSpPr>
          <p:cNvPr id="263" name="Shape 247"/>
          <p:cNvSpPr/>
          <p:nvPr/>
        </p:nvSpPr>
        <p:spPr>
          <a:xfrm>
            <a:off x="3721894" y="9925050"/>
            <a:ext cx="8954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64" name="Shape 248"/>
          <p:cNvSpPr/>
          <p:nvPr/>
        </p:nvSpPr>
        <p:spPr>
          <a:xfrm>
            <a:off x="3721894" y="9925050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5" name="Shape 249"/>
          <p:cNvSpPr/>
          <p:nvPr/>
        </p:nvSpPr>
        <p:spPr>
          <a:xfrm>
            <a:off x="3721894" y="10220325"/>
            <a:ext cx="8954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6" name="Shape 250"/>
          <p:cNvSpPr/>
          <p:nvPr/>
        </p:nvSpPr>
        <p:spPr>
          <a:xfrm>
            <a:off x="3721894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7" name="Shape 251"/>
          <p:cNvSpPr/>
          <p:nvPr/>
        </p:nvSpPr>
        <p:spPr>
          <a:xfrm>
            <a:off x="4607868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68" name="Text 252"/>
          <p:cNvSpPr/>
          <p:nvPr/>
        </p:nvSpPr>
        <p:spPr>
          <a:xfrm>
            <a:off x="3826669" y="9996297"/>
            <a:ext cx="7225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模拟相机读码</a:t>
            </a:r>
            <a:endParaRPr lang="en-US" sz="900" dirty="0"/>
          </a:p>
        </p:txBody>
      </p:sp>
      <p:sp>
        <p:nvSpPr>
          <p:cNvPr id="269" name="Shape 253"/>
          <p:cNvSpPr/>
          <p:nvPr/>
        </p:nvSpPr>
        <p:spPr>
          <a:xfrm>
            <a:off x="4731693" y="9925050"/>
            <a:ext cx="666899" cy="304800"/>
          </a:xfrm>
          <a:prstGeom prst="roundRect">
            <a:avLst>
              <a:gd name="adj" fmla="val 21875"/>
            </a:avLst>
          </a:prstGeom>
          <a:solidFill>
            <a:srgbClr val="34485E"/>
          </a:solidFill>
          <a:ln w="12700">
            <a:solidFill>
              <a:srgbClr val="34485E">
                <a:alpha val="0"/>
              </a:srgbClr>
            </a:solidFill>
            <a:prstDash val="solid"/>
          </a:ln>
        </p:spPr>
      </p:sp>
      <p:sp>
        <p:nvSpPr>
          <p:cNvPr id="270" name="Shape 254"/>
          <p:cNvSpPr/>
          <p:nvPr/>
        </p:nvSpPr>
        <p:spPr>
          <a:xfrm>
            <a:off x="4731693" y="9925050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1" name="Shape 255"/>
          <p:cNvSpPr/>
          <p:nvPr/>
        </p:nvSpPr>
        <p:spPr>
          <a:xfrm>
            <a:off x="4731693" y="10220325"/>
            <a:ext cx="666899" cy="9525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2" name="Shape 256"/>
          <p:cNvSpPr/>
          <p:nvPr/>
        </p:nvSpPr>
        <p:spPr>
          <a:xfrm>
            <a:off x="4731693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3" name="Shape 257"/>
          <p:cNvSpPr/>
          <p:nvPr/>
        </p:nvSpPr>
        <p:spPr>
          <a:xfrm>
            <a:off x="5389066" y="9925050"/>
            <a:ext cx="9525" cy="304800"/>
          </a:xfrm>
          <a:prstGeom prst="rect">
            <a:avLst/>
          </a:prstGeom>
          <a:solidFill>
            <a:srgbClr val="526377"/>
          </a:solidFill>
          <a:ln w="12700">
            <a:solidFill>
              <a:srgbClr val="526377">
                <a:alpha val="0"/>
              </a:srgbClr>
            </a:solidFill>
            <a:prstDash val="solid"/>
          </a:ln>
        </p:spPr>
      </p:sp>
      <p:sp>
        <p:nvSpPr>
          <p:cNvPr id="274" name="Text 258"/>
          <p:cNvSpPr/>
          <p:nvPr/>
        </p:nvSpPr>
        <p:spPr>
          <a:xfrm>
            <a:off x="4836468" y="9996297"/>
            <a:ext cx="493925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重置场景</a:t>
            </a:r>
            <a:endParaRPr lang="en-US" sz="900" dirty="0"/>
          </a:p>
        </p:txBody>
      </p:sp>
      <p:sp>
        <p:nvSpPr>
          <p:cNvPr id="275" name="Text 259"/>
          <p:cNvSpPr/>
          <p:nvPr/>
        </p:nvSpPr>
        <p:spPr>
          <a:xfrm>
            <a:off x="15978336" y="9996297"/>
            <a:ext cx="2117640" cy="18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8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未连接相机 / WCS / 实体设备</a:t>
            </a:r>
            <a:endParaRPr lang="en-US" sz="900" dirty="0"/>
          </a:p>
        </p:txBody>
      </p:sp>
      <p:sp>
        <p:nvSpPr>
          <p:cNvPr id="276" name="Shape 260"/>
          <p:cNvSpPr/>
          <p:nvPr/>
        </p:nvSpPr>
        <p:spPr>
          <a:xfrm>
            <a:off x="0" y="0"/>
            <a:ext cx="18288000" cy="9867900"/>
          </a:xfrm>
          <a:prstGeom prst="rect">
            <a:avLst/>
          </a:prstGeom>
          <a:solidFill>
            <a:srgbClr val="132233">
              <a:alpha val="35000"/>
            </a:srgbClr>
          </a:solidFill>
          <a:ln w="12700">
            <a:solidFill>
              <a:srgbClr val="132233">
                <a:alpha val="0"/>
              </a:srgbClr>
            </a:solidFill>
            <a:prstDash val="solid"/>
          </a:ln>
        </p:spPr>
      </p:sp>
      <p:sp>
        <p:nvSpPr>
          <p:cNvPr id="277" name="Shape 261"/>
          <p:cNvSpPr/>
          <p:nvPr/>
        </p:nvSpPr>
        <p:spPr>
          <a:xfrm>
            <a:off x="11239500" y="0"/>
            <a:ext cx="7048500" cy="9867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62"/>
          <p:cNvSpPr/>
          <p:nvPr/>
        </p:nvSpPr>
        <p:spPr>
          <a:xfrm>
            <a:off x="11239500" y="942975"/>
            <a:ext cx="7048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79" name="Text 263"/>
          <p:cNvSpPr/>
          <p:nvPr/>
        </p:nvSpPr>
        <p:spPr>
          <a:xfrm>
            <a:off x="11487150" y="214122"/>
            <a:ext cx="1131951" cy="34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报警与处置</a:t>
            </a:r>
            <a:endParaRPr lang="en-US" sz="1725" dirty="0"/>
          </a:p>
        </p:txBody>
      </p:sp>
      <p:sp>
        <p:nvSpPr>
          <p:cNvPr id="280" name="Text 264"/>
          <p:cNvSpPr/>
          <p:nvPr/>
        </p:nvSpPr>
        <p:spPr>
          <a:xfrm>
            <a:off x="11487150" y="571310"/>
            <a:ext cx="2433602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PAGE-07 · 来源、作用域、已读与恢复分开</a:t>
            </a:r>
            <a:endParaRPr lang="en-US" sz="975" dirty="0"/>
          </a:p>
        </p:txBody>
      </p:sp>
      <p:sp>
        <p:nvSpPr>
          <p:cNvPr id="281" name="Shape 265"/>
          <p:cNvSpPr/>
          <p:nvPr/>
        </p:nvSpPr>
        <p:spPr>
          <a:xfrm>
            <a:off x="17621250" y="271463"/>
            <a:ext cx="419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66"/>
          <p:cNvSpPr/>
          <p:nvPr/>
        </p:nvSpPr>
        <p:spPr>
          <a:xfrm>
            <a:off x="17621250" y="271463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3" name="Shape 267"/>
          <p:cNvSpPr/>
          <p:nvPr/>
        </p:nvSpPr>
        <p:spPr>
          <a:xfrm>
            <a:off x="17621250" y="681038"/>
            <a:ext cx="4191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4" name="Shape 268"/>
          <p:cNvSpPr/>
          <p:nvPr/>
        </p:nvSpPr>
        <p:spPr>
          <a:xfrm>
            <a:off x="17621250" y="27146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85" name="Shape 269"/>
          <p:cNvSpPr/>
          <p:nvPr/>
        </p:nvSpPr>
        <p:spPr>
          <a:xfrm>
            <a:off x="18030825" y="271463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28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7735550" y="385763"/>
            <a:ext cx="190500" cy="190500"/>
          </a:xfrm>
          <a:prstGeom prst="rect">
            <a:avLst/>
          </a:prstGeom>
        </p:spPr>
      </p:pic>
      <p:sp>
        <p:nvSpPr>
          <p:cNvPr id="287" name="Shape 270"/>
          <p:cNvSpPr/>
          <p:nvPr/>
        </p:nvSpPr>
        <p:spPr>
          <a:xfrm>
            <a:off x="11487150" y="1181100"/>
            <a:ext cx="6553200" cy="460921"/>
          </a:xfrm>
          <a:prstGeom prst="roundRect">
            <a:avLst>
              <a:gd name="adj" fmla="val 14466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288" name="Shape 271"/>
          <p:cNvSpPr/>
          <p:nvPr/>
        </p:nvSpPr>
        <p:spPr>
          <a:xfrm>
            <a:off x="11487150" y="1181100"/>
            <a:ext cx="6553200" cy="9525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289" name="Shape 272"/>
          <p:cNvSpPr/>
          <p:nvPr/>
        </p:nvSpPr>
        <p:spPr>
          <a:xfrm>
            <a:off x="11487150" y="1632496"/>
            <a:ext cx="6553200" cy="9525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290" name="Shape 273"/>
          <p:cNvSpPr/>
          <p:nvPr/>
        </p:nvSpPr>
        <p:spPr>
          <a:xfrm>
            <a:off x="11487150" y="1181100"/>
            <a:ext cx="9525" cy="460921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291" name="Shape 274"/>
          <p:cNvSpPr/>
          <p:nvPr/>
        </p:nvSpPr>
        <p:spPr>
          <a:xfrm>
            <a:off x="18030825" y="1181100"/>
            <a:ext cx="9525" cy="460921"/>
          </a:xfrm>
          <a:prstGeom prst="rect">
            <a:avLst/>
          </a:prstGeom>
          <a:solidFill>
            <a:srgbClr val="E5C88F"/>
          </a:solidFill>
          <a:ln w="12700">
            <a:solidFill>
              <a:srgbClr val="E5C88F">
                <a:alpha val="0"/>
              </a:srgbClr>
            </a:solidFill>
            <a:prstDash val="solid"/>
          </a:ln>
        </p:spPr>
      </p:sp>
      <p:sp>
        <p:nvSpPr>
          <p:cNvPr id="292" name="Text 275"/>
          <p:cNvSpPr/>
          <p:nvPr/>
        </p:nvSpPr>
        <p:spPr>
          <a:xfrm>
            <a:off x="11630025" y="1319022"/>
            <a:ext cx="385461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5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已读不等于恢复。不提供AGV强制发车、PLC复位或格口重分配。</a:t>
            </a:r>
            <a:endParaRPr lang="en-US" sz="1050" dirty="0"/>
          </a:p>
        </p:txBody>
      </p:sp>
      <p:sp>
        <p:nvSpPr>
          <p:cNvPr id="293" name="Shape 276"/>
          <p:cNvSpPr/>
          <p:nvPr/>
        </p:nvSpPr>
        <p:spPr>
          <a:xfrm>
            <a:off x="11487150" y="2213521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4" name="Shape 277"/>
          <p:cNvSpPr/>
          <p:nvPr/>
        </p:nvSpPr>
        <p:spPr>
          <a:xfrm>
            <a:off x="11487150" y="2184946"/>
            <a:ext cx="1148953" cy="28575"/>
          </a:xfrm>
          <a:prstGeom prst="rect">
            <a:avLst/>
          </a:prstGeom>
          <a:solidFill>
            <a:srgbClr val="205FCE"/>
          </a:solidFill>
          <a:ln w="12700">
            <a:solidFill>
              <a:srgbClr val="205FCE">
                <a:alpha val="0"/>
              </a:srgbClr>
            </a:solidFill>
            <a:prstDash val="solid"/>
          </a:ln>
        </p:spPr>
      </p:sp>
      <p:sp>
        <p:nvSpPr>
          <p:cNvPr id="295" name="Text 278"/>
          <p:cNvSpPr/>
          <p:nvPr/>
        </p:nvSpPr>
        <p:spPr>
          <a:xfrm>
            <a:off x="11658600" y="1894243"/>
            <a:ext cx="84262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5F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活动报警 · 1</a:t>
            </a:r>
            <a:endParaRPr lang="en-US" sz="1050" dirty="0"/>
          </a:p>
        </p:txBody>
      </p:sp>
      <p:sp>
        <p:nvSpPr>
          <p:cNvPr id="296" name="Text 279"/>
          <p:cNvSpPr/>
          <p:nvPr/>
        </p:nvSpPr>
        <p:spPr>
          <a:xfrm>
            <a:off x="12998053" y="1908530"/>
            <a:ext cx="70927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已恢复 · 1</a:t>
            </a:r>
            <a:endParaRPr lang="en-US" sz="1050" dirty="0"/>
          </a:p>
        </p:txBody>
      </p:sp>
      <p:sp>
        <p:nvSpPr>
          <p:cNvPr id="297" name="Shape 280"/>
          <p:cNvSpPr/>
          <p:nvPr/>
        </p:nvSpPr>
        <p:spPr>
          <a:xfrm>
            <a:off x="11487150" y="4432846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298" name="Shape 281"/>
          <p:cNvSpPr/>
          <p:nvPr/>
        </p:nvSpPr>
        <p:spPr>
          <a:xfrm>
            <a:off x="11487150" y="2413546"/>
            <a:ext cx="1086743" cy="280988"/>
          </a:xfrm>
          <a:prstGeom prst="roundRect">
            <a:avLst>
              <a:gd name="adj" fmla="val 16949"/>
            </a:avLst>
          </a:prstGeom>
          <a:solidFill>
            <a:srgbClr val="FDF0F0"/>
          </a:solidFill>
          <a:ln w="12700">
            <a:solidFill>
              <a:srgbClr val="FDF0F0">
                <a:alpha val="0"/>
              </a:srgbClr>
            </a:solidFill>
            <a:prstDash val="solid"/>
          </a:ln>
        </p:spPr>
      </p:sp>
      <p:sp>
        <p:nvSpPr>
          <p:cNvPr id="299" name="Shape 282"/>
          <p:cNvSpPr/>
          <p:nvPr/>
        </p:nvSpPr>
        <p:spPr>
          <a:xfrm>
            <a:off x="11582400" y="2520702"/>
            <a:ext cx="66675" cy="66675"/>
          </a:xfrm>
          <a:prstGeom prst="roundRect">
            <a:avLst>
              <a:gd name="adj" fmla="val 714286"/>
            </a:avLst>
          </a:prstGeom>
          <a:solidFill>
            <a:srgbClr val="B52F38"/>
          </a:solidFill>
          <a:ln w="12700">
            <a:solidFill>
              <a:srgbClr val="B52F38">
                <a:alpha val="0"/>
              </a:srgbClr>
            </a:solidFill>
            <a:prstDash val="solid"/>
          </a:ln>
        </p:spPr>
      </p:sp>
      <p:sp>
        <p:nvSpPr>
          <p:cNvPr id="300" name="Text 283"/>
          <p:cNvSpPr/>
          <p:nvPr/>
        </p:nvSpPr>
        <p:spPr>
          <a:xfrm>
            <a:off x="11715750" y="2465743"/>
            <a:ext cx="79946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B5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WCS业务状态</a:t>
            </a:r>
            <a:endParaRPr lang="en-US" sz="975" dirty="0"/>
          </a:p>
        </p:txBody>
      </p:sp>
      <p:sp>
        <p:nvSpPr>
          <p:cNvPr id="301" name="Shape 284"/>
          <p:cNvSpPr/>
          <p:nvPr/>
        </p:nvSpPr>
        <p:spPr>
          <a:xfrm>
            <a:off x="17468701" y="2413546"/>
            <a:ext cx="571649" cy="280988"/>
          </a:xfrm>
          <a:prstGeom prst="roundRect">
            <a:avLst>
              <a:gd name="adj" fmla="val 16949"/>
            </a:avLst>
          </a:prstGeom>
          <a:solidFill>
            <a:srgbClr val="FFF5DF"/>
          </a:solidFill>
          <a:ln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02" name="Shape 285"/>
          <p:cNvSpPr/>
          <p:nvPr/>
        </p:nvSpPr>
        <p:spPr>
          <a:xfrm>
            <a:off x="17563951" y="2520702"/>
            <a:ext cx="66675" cy="66675"/>
          </a:xfrm>
          <a:prstGeom prst="roundRect">
            <a:avLst>
              <a:gd name="adj" fmla="val 714286"/>
            </a:avLst>
          </a:prstGeom>
          <a:solidFill>
            <a:srgbClr val="895509"/>
          </a:solidFill>
          <a:ln w="12700">
            <a:solidFill>
              <a:srgbClr val="895509">
                <a:alpha val="0"/>
              </a:srgbClr>
            </a:solidFill>
            <a:prstDash val="solid"/>
          </a:ln>
        </p:spPr>
      </p:sp>
      <p:sp>
        <p:nvSpPr>
          <p:cNvPr id="303" name="Text 286"/>
          <p:cNvSpPr/>
          <p:nvPr/>
        </p:nvSpPr>
        <p:spPr>
          <a:xfrm>
            <a:off x="17697301" y="2465743"/>
            <a:ext cx="28437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8955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未读</a:t>
            </a:r>
            <a:endParaRPr lang="en-US" sz="975" dirty="0"/>
          </a:p>
        </p:txBody>
      </p:sp>
      <p:sp>
        <p:nvSpPr>
          <p:cNvPr id="304" name="Text 287"/>
          <p:cNvSpPr/>
          <p:nvPr/>
        </p:nvSpPr>
        <p:spPr>
          <a:xfrm>
            <a:off x="11487150" y="2813405"/>
            <a:ext cx="82313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WCS已拒绝</a:t>
            </a:r>
            <a:endParaRPr lang="en-US" sz="1200" dirty="0"/>
          </a:p>
        </p:txBody>
      </p:sp>
      <p:sp>
        <p:nvSpPr>
          <p:cNvPr id="305" name="Text 288"/>
          <p:cNvSpPr/>
          <p:nvPr/>
        </p:nvSpPr>
        <p:spPr>
          <a:xfrm>
            <a:off x="11487150" y="3175355"/>
            <a:ext cx="131858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CAM1：目标格口禁用</a:t>
            </a:r>
            <a:endParaRPr lang="en-US" sz="1050" dirty="0"/>
          </a:p>
        </p:txBody>
      </p:sp>
      <p:sp>
        <p:nvSpPr>
          <p:cNvPr id="306" name="Text 289"/>
          <p:cNvSpPr/>
          <p:nvPr/>
        </p:nvSpPr>
        <p:spPr>
          <a:xfrm>
            <a:off x="11487150" y="3508730"/>
            <a:ext cx="3204829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来源：模拟WCS业务状态 · 首次14:32:02 · AL-DEMO-01</a:t>
            </a:r>
            <a:endParaRPr lang="en-US" sz="975" dirty="0"/>
          </a:p>
        </p:txBody>
      </p:sp>
      <p:sp>
        <p:nvSpPr>
          <p:cNvPr id="307" name="Shape 290"/>
          <p:cNvSpPr/>
          <p:nvPr/>
        </p:nvSpPr>
        <p:spPr>
          <a:xfrm>
            <a:off x="11487150" y="3823246"/>
            <a:ext cx="104775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291"/>
          <p:cNvSpPr/>
          <p:nvPr/>
        </p:nvSpPr>
        <p:spPr>
          <a:xfrm>
            <a:off x="11487150" y="3823246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09" name="Shape 292"/>
          <p:cNvSpPr/>
          <p:nvPr/>
        </p:nvSpPr>
        <p:spPr>
          <a:xfrm>
            <a:off x="11487150" y="4232821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0" name="Shape 293"/>
          <p:cNvSpPr/>
          <p:nvPr/>
        </p:nvSpPr>
        <p:spPr>
          <a:xfrm>
            <a:off x="11487150" y="3823246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1" name="Shape 294"/>
          <p:cNvSpPr/>
          <p:nvPr/>
        </p:nvSpPr>
        <p:spPr>
          <a:xfrm>
            <a:off x="12525375" y="3823246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2" name="Text 295"/>
          <p:cNvSpPr/>
          <p:nvPr/>
        </p:nvSpPr>
        <p:spPr>
          <a:xfrm>
            <a:off x="11610975" y="3937355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标为本地已读</a:t>
            </a:r>
            <a:endParaRPr lang="en-US" sz="1050" dirty="0"/>
          </a:p>
        </p:txBody>
      </p:sp>
      <p:sp>
        <p:nvSpPr>
          <p:cNvPr id="313" name="Shape 296"/>
          <p:cNvSpPr/>
          <p:nvPr/>
        </p:nvSpPr>
        <p:spPr>
          <a:xfrm>
            <a:off x="12649200" y="3823246"/>
            <a:ext cx="104775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297"/>
          <p:cNvSpPr/>
          <p:nvPr/>
        </p:nvSpPr>
        <p:spPr>
          <a:xfrm>
            <a:off x="12649200" y="3823246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5" name="Shape 298"/>
          <p:cNvSpPr/>
          <p:nvPr/>
        </p:nvSpPr>
        <p:spPr>
          <a:xfrm>
            <a:off x="12649200" y="4232821"/>
            <a:ext cx="10477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6" name="Shape 299"/>
          <p:cNvSpPr/>
          <p:nvPr/>
        </p:nvSpPr>
        <p:spPr>
          <a:xfrm>
            <a:off x="12649200" y="3823246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7" name="Shape 300"/>
          <p:cNvSpPr/>
          <p:nvPr/>
        </p:nvSpPr>
        <p:spPr>
          <a:xfrm>
            <a:off x="13687425" y="3823246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18" name="Text 301"/>
          <p:cNvSpPr/>
          <p:nvPr/>
        </p:nvSpPr>
        <p:spPr>
          <a:xfrm>
            <a:off x="12773025" y="3937355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查看关联作业</a:t>
            </a:r>
            <a:endParaRPr lang="en-US" sz="1050" dirty="0"/>
          </a:p>
        </p:txBody>
      </p:sp>
      <p:sp>
        <p:nvSpPr>
          <p:cNvPr id="319" name="Shape 302"/>
          <p:cNvSpPr/>
          <p:nvPr/>
        </p:nvSpPr>
        <p:spPr>
          <a:xfrm>
            <a:off x="11487150" y="6149727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20" name="Shape 303"/>
          <p:cNvSpPr/>
          <p:nvPr/>
        </p:nvSpPr>
        <p:spPr>
          <a:xfrm>
            <a:off x="11487150" y="4640014"/>
            <a:ext cx="695474" cy="280988"/>
          </a:xfrm>
          <a:prstGeom prst="roundRect">
            <a:avLst>
              <a:gd name="adj" fmla="val 16949"/>
            </a:avLst>
          </a:prstGeom>
          <a:solidFill>
            <a:srgbClr val="EDF7F1"/>
          </a:solidFill>
          <a:ln w="12700">
            <a:solidFill>
              <a:srgbClr val="EDF7F1">
                <a:alpha val="0"/>
              </a:srgbClr>
            </a:solidFill>
            <a:prstDash val="solid"/>
          </a:ln>
        </p:spPr>
      </p:sp>
      <p:sp>
        <p:nvSpPr>
          <p:cNvPr id="321" name="Shape 304"/>
          <p:cNvSpPr/>
          <p:nvPr/>
        </p:nvSpPr>
        <p:spPr>
          <a:xfrm>
            <a:off x="11582400" y="4747171"/>
            <a:ext cx="66675" cy="66675"/>
          </a:xfrm>
          <a:prstGeom prst="roundRect">
            <a:avLst>
              <a:gd name="adj" fmla="val 714286"/>
            </a:avLst>
          </a:prstGeom>
          <a:solidFill>
            <a:srgbClr val="147450"/>
          </a:solidFill>
          <a:ln w="12700">
            <a:solidFill>
              <a:srgbClr val="147450">
                <a:alpha val="0"/>
              </a:srgbClr>
            </a:solidFill>
            <a:prstDash val="solid"/>
          </a:ln>
        </p:spPr>
      </p:sp>
      <p:sp>
        <p:nvSpPr>
          <p:cNvPr id="322" name="Text 305"/>
          <p:cNvSpPr/>
          <p:nvPr/>
        </p:nvSpPr>
        <p:spPr>
          <a:xfrm>
            <a:off x="11715750" y="4692211"/>
            <a:ext cx="4082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147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已恢复</a:t>
            </a:r>
            <a:endParaRPr lang="en-US" sz="975" dirty="0"/>
          </a:p>
        </p:txBody>
      </p:sp>
      <p:sp>
        <p:nvSpPr>
          <p:cNvPr id="323" name="Text 306"/>
          <p:cNvSpPr/>
          <p:nvPr/>
        </p:nvSpPr>
        <p:spPr>
          <a:xfrm>
            <a:off x="11487150" y="5039874"/>
            <a:ext cx="13685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CAM1连接短暂中断</a:t>
            </a:r>
            <a:endParaRPr lang="en-US" sz="1200" dirty="0"/>
          </a:p>
        </p:txBody>
      </p:sp>
      <p:sp>
        <p:nvSpPr>
          <p:cNvPr id="324" name="Text 307"/>
          <p:cNvSpPr/>
          <p:nvPr/>
        </p:nvSpPr>
        <p:spPr>
          <a:xfrm>
            <a:off x="11487150" y="5401824"/>
            <a:ext cx="40370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历史模拟事件，设备重新确认就绪；连接恢复不等于旧请求已接受。</a:t>
            </a:r>
            <a:endParaRPr lang="en-US" sz="1050" dirty="0"/>
          </a:p>
        </p:txBody>
      </p:sp>
      <p:sp>
        <p:nvSpPr>
          <p:cNvPr id="325" name="Text 308"/>
          <p:cNvSpPr/>
          <p:nvPr/>
        </p:nvSpPr>
        <p:spPr>
          <a:xfrm>
            <a:off x="11487150" y="5773299"/>
            <a:ext cx="1673685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发生14:20:11 · 恢复14:20:19</a:t>
            </a:r>
            <a:endParaRPr lang="en-US" sz="975" dirty="0"/>
          </a:p>
        </p:txBody>
      </p:sp>
      <p:sp>
        <p:nvSpPr>
          <p:cNvPr id="326" name="Text 309"/>
          <p:cNvSpPr/>
          <p:nvPr/>
        </p:nvSpPr>
        <p:spPr>
          <a:xfrm>
            <a:off x="11487150" y="6373374"/>
            <a:ext cx="608225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处置原则</a:t>
            </a:r>
            <a:endParaRPr lang="en-US" sz="1125" dirty="0"/>
          </a:p>
        </p:txBody>
      </p:sp>
      <p:sp>
        <p:nvSpPr>
          <p:cNvPr id="327" name="Shape 310"/>
          <p:cNvSpPr/>
          <p:nvPr/>
        </p:nvSpPr>
        <p:spPr>
          <a:xfrm>
            <a:off x="11487150" y="6697414"/>
            <a:ext cx="6553200" cy="460921"/>
          </a:xfrm>
          <a:prstGeom prst="roundRect">
            <a:avLst>
              <a:gd name="adj" fmla="val 14466"/>
            </a:avLst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328" name="Shape 311"/>
          <p:cNvSpPr/>
          <p:nvPr/>
        </p:nvSpPr>
        <p:spPr>
          <a:xfrm>
            <a:off x="11487150" y="6697414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29" name="Shape 312"/>
          <p:cNvSpPr/>
          <p:nvPr/>
        </p:nvSpPr>
        <p:spPr>
          <a:xfrm>
            <a:off x="11487150" y="7148810"/>
            <a:ext cx="65532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0" name="Shape 313"/>
          <p:cNvSpPr/>
          <p:nvPr/>
        </p:nvSpPr>
        <p:spPr>
          <a:xfrm>
            <a:off x="11487150" y="6697414"/>
            <a:ext cx="9525" cy="46092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1" name="Shape 314"/>
          <p:cNvSpPr/>
          <p:nvPr/>
        </p:nvSpPr>
        <p:spPr>
          <a:xfrm>
            <a:off x="18030825" y="6697414"/>
            <a:ext cx="9525" cy="460921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2" name="Text 315"/>
          <p:cNvSpPr/>
          <p:nvPr/>
        </p:nvSpPr>
        <p:spPr>
          <a:xfrm>
            <a:off x="11630025" y="6835336"/>
            <a:ext cx="56552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先判断影响范围，再核对箱与Item。缺少权威状态时暂停新入场；报警原因与下一步持续显示。</a:t>
            </a:r>
            <a:endParaRPr lang="en-US" sz="1050" dirty="0"/>
          </a:p>
        </p:txBody>
      </p:sp>
      <p:sp>
        <p:nvSpPr>
          <p:cNvPr id="333" name="Shape 316"/>
          <p:cNvSpPr/>
          <p:nvPr/>
        </p:nvSpPr>
        <p:spPr>
          <a:xfrm>
            <a:off x="11239500" y="9134475"/>
            <a:ext cx="704850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4" name="Text 317"/>
          <p:cNvSpPr/>
          <p:nvPr/>
        </p:nvSpPr>
        <p:spPr>
          <a:xfrm>
            <a:off x="11487150" y="9417653"/>
            <a:ext cx="1894100" cy="19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导出不含凭据、图片或无关文件。</a:t>
            </a:r>
            <a:endParaRPr lang="en-US" sz="975" dirty="0"/>
          </a:p>
        </p:txBody>
      </p:sp>
      <p:sp>
        <p:nvSpPr>
          <p:cNvPr id="335" name="Shape 318"/>
          <p:cNvSpPr/>
          <p:nvPr/>
        </p:nvSpPr>
        <p:spPr>
          <a:xfrm>
            <a:off x="16725900" y="9296400"/>
            <a:ext cx="131445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19"/>
          <p:cNvSpPr/>
          <p:nvPr/>
        </p:nvSpPr>
        <p:spPr>
          <a:xfrm>
            <a:off x="16725900" y="9296400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7" name="Shape 320"/>
          <p:cNvSpPr/>
          <p:nvPr/>
        </p:nvSpPr>
        <p:spPr>
          <a:xfrm>
            <a:off x="16725900" y="9705975"/>
            <a:ext cx="1314450" cy="9525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8" name="Shape 321"/>
          <p:cNvSpPr/>
          <p:nvPr/>
        </p:nvSpPr>
        <p:spPr>
          <a:xfrm>
            <a:off x="16725900" y="9296400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sp>
        <p:nvSpPr>
          <p:cNvPr id="339" name="Shape 322"/>
          <p:cNvSpPr/>
          <p:nvPr/>
        </p:nvSpPr>
        <p:spPr>
          <a:xfrm>
            <a:off x="18030825" y="9296400"/>
            <a:ext cx="9525" cy="419100"/>
          </a:xfrm>
          <a:prstGeom prst="rect">
            <a:avLst/>
          </a:prstGeom>
          <a:solidFill>
            <a:srgbClr val="D8E0E7"/>
          </a:solidFill>
          <a:ln w="12700">
            <a:solidFill>
              <a:srgbClr val="D8E0E7">
                <a:alpha val="0"/>
              </a:srgbClr>
            </a:solidFill>
            <a:prstDash val="solid"/>
          </a:ln>
        </p:spPr>
      </p:sp>
      <p:pic>
        <p:nvPicPr>
          <p:cNvPr id="340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6849725" y="9410700"/>
            <a:ext cx="190500" cy="190500"/>
          </a:xfrm>
          <a:prstGeom prst="rect">
            <a:avLst/>
          </a:prstGeom>
        </p:spPr>
      </p:pic>
      <p:sp>
        <p:nvSpPr>
          <p:cNvPr id="341" name="Text 323"/>
          <p:cNvSpPr/>
          <p:nvPr/>
        </p:nvSpPr>
        <p:spPr>
          <a:xfrm>
            <a:off x="17116425" y="9410510"/>
            <a:ext cx="83667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27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导出诊断摘要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供包工作站｜高保真可编辑UI v1.1</dc:title>
  <dc:subject>SS-UI-VIS-001；所有业务数据为示例，D-03/04/05/06待确认</dc:subject>
  <dc:creator>Supply Station UI Design</dc:creator>
  <cp:lastModifiedBy>Supply Station UI Design</cp:lastModifiedBy>
  <cp:revision>1</cp:revision>
  <dcterms:created xsi:type="dcterms:W3CDTF">2026-10-15T15:45:47Z</dcterms:created>
  <dcterms:modified xsi:type="dcterms:W3CDTF">2026-10-15T15:45:47Z</dcterms:modified>
</cp:coreProperties>
</file>